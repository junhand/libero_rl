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1 回の成功エピソードでの、価値 V の変化（イメージ）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価値 V（成功に近いほど 0）</c:v>
                </c:pt>
              </c:strCache>
            </c:strRef>
          </c:tx>
          <c:spPr>
            <a:ln w="38100">
              <a:solidFill>
                <a:srgbClr val="0B66C3"/>
              </a:solidFill>
            </a:ln>
          </c:spPr>
          <c:marker>
            <c:spPr>
              <a:solidFill>
                <a:srgbClr val="0B66C3"/>
              </a:solidFill>
            </c:spPr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-0.9</c:v>
                </c:pt>
                <c:pt idx="1">
                  <c:v>-0.8</c:v>
                </c:pt>
                <c:pt idx="2">
                  <c:v>-0.7</c:v>
                </c:pt>
                <c:pt idx="3">
                  <c:v>-0.6</c:v>
                </c:pt>
                <c:pt idx="4">
                  <c:v>-0.65</c:v>
                </c:pt>
                <c:pt idx="5">
                  <c:v>-0.75</c:v>
                </c:pt>
                <c:pt idx="6">
                  <c:v>-0.6</c:v>
                </c:pt>
                <c:pt idx="7">
                  <c:v>-0.4</c:v>
                </c:pt>
                <c:pt idx="8">
                  <c:v>-0.2</c:v>
                </c:pt>
                <c:pt idx="9">
                  <c:v>-0.1</c:v>
                </c:pt>
                <c:pt idx="10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0"/>
          <c:min val="-1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  <c:majorUnit val="0.25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critic の学習中の精度（学習データ上）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ln w="31750">
              <a:solidFill>
                <a:srgbClr val="6B8BB3"/>
              </a:solidFill>
            </a:ln>
          </c:spPr>
          <c:marker>
            <c:spPr>
              <a:solidFill>
                <a:srgbClr val="6B8BB3"/>
              </a:solidFill>
            </c:spPr>
          </c:marker>
          <c:cat>
            <c:strRef>
              <c:f>Sheet1!$A$2:$A$10</c:f>
              <c:strCache>
                <c:ptCount val="9"/>
                <c:pt idx="0">
                  <c:v>500-600</c:v>
                </c:pt>
                <c:pt idx="1">
                  <c:v>600-700</c:v>
                </c:pt>
                <c:pt idx="2">
                  <c:v>700-800</c:v>
                </c:pt>
                <c:pt idx="3">
                  <c:v>800-1000</c:v>
                </c:pt>
                <c:pt idx="4">
                  <c:v>1000-1200</c:v>
                </c:pt>
                <c:pt idx="5">
                  <c:v>1200-1400</c:v>
                </c:pt>
                <c:pt idx="6">
                  <c:v>1400-1600</c:v>
                </c:pt>
                <c:pt idx="7">
                  <c:v>1600-1800</c:v>
                </c:pt>
                <c:pt idx="8">
                  <c:v>1800-2000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0.277</c:v>
                </c:pt>
                <c:pt idx="1">
                  <c:v>0.295</c:v>
                </c:pt>
                <c:pt idx="2">
                  <c:v>0.295</c:v>
                </c:pt>
                <c:pt idx="3">
                  <c:v>0.297</c:v>
                </c:pt>
                <c:pt idx="4">
                  <c:v>0.316</c:v>
                </c:pt>
                <c:pt idx="5">
                  <c:v>0.333</c:v>
                </c:pt>
                <c:pt idx="6">
                  <c:v>0.348</c:v>
                </c:pt>
                <c:pt idx="7">
                  <c:v>0.345</c:v>
                </c:pt>
                <c:pt idx="8">
                  <c:v>0.353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accuracy（隣接ビンを含む）</c:v>
                </c:pt>
              </c:strCache>
            </c:strRef>
          </c:tx>
          <c:spPr>
            <a:ln w="31750">
              <a:solidFill>
                <a:srgbClr val="0B66C3"/>
              </a:solidFill>
            </a:ln>
          </c:spPr>
          <c:marker>
            <c:spPr>
              <a:solidFill>
                <a:srgbClr val="0B66C3"/>
              </a:solidFill>
            </c:spPr>
          </c:marker>
          <c:cat>
            <c:strRef>
              <c:f>Sheet1!$A$2:$A$10</c:f>
              <c:strCache>
                <c:ptCount val="9"/>
                <c:pt idx="0">
                  <c:v>500-600</c:v>
                </c:pt>
                <c:pt idx="1">
                  <c:v>600-700</c:v>
                </c:pt>
                <c:pt idx="2">
                  <c:v>700-800</c:v>
                </c:pt>
                <c:pt idx="3">
                  <c:v>800-1000</c:v>
                </c:pt>
                <c:pt idx="4">
                  <c:v>1000-1200</c:v>
                </c:pt>
                <c:pt idx="5">
                  <c:v>1200-1400</c:v>
                </c:pt>
                <c:pt idx="6">
                  <c:v>1400-1600</c:v>
                </c:pt>
                <c:pt idx="7">
                  <c:v>1600-1800</c:v>
                </c:pt>
                <c:pt idx="8">
                  <c:v>1800-2000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0.375</c:v>
                </c:pt>
                <c:pt idx="1">
                  <c:v>0.405</c:v>
                </c:pt>
                <c:pt idx="2">
                  <c:v>0.416</c:v>
                </c:pt>
                <c:pt idx="3">
                  <c:v>0.432</c:v>
                </c:pt>
                <c:pt idx="4">
                  <c:v>0.471</c:v>
                </c:pt>
                <c:pt idx="5">
                  <c:v>0.504</c:v>
                </c:pt>
                <c:pt idx="6">
                  <c:v>0.531</c:v>
                </c:pt>
                <c:pt idx="7">
                  <c:v>0.539</c:v>
                </c:pt>
                <c:pt idx="8">
                  <c:v>0.569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65"/>
          <c:min val="0.2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  <c:majorUnit val="0.1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RL Token（smolVLA）の success_once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success_once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0B66C3"/>
              </a:solidFill>
            </c:spPr>
          </c:dPt>
          <c:dPt>
            <c:idx val="3"/>
            <c:spPr>
              <a:solidFill>
                <a:srgbClr val="2E8B57"/>
              </a:solidFill>
            </c:spPr>
          </c:dPt>
          <c:cat>
            <c:strRef>
              <c:f>Sheet1!$A$2:$A$5</c:f>
              <c:strCache>
                <c:ptCount val="4"/>
                <c:pt idx="0">
                  <c:v>VLA のみ</c:v>
                </c:pt>
                <c:pt idx="1">
                  <c:v>1 つ目を
RL</c:v>
                </c:pt>
                <c:pt idx="2">
                  <c:v>2 局面
ゲート</c:v>
                </c:pt>
                <c:pt idx="3">
                  <c:v>+ 2 つ目専用
+ 空振り罰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0.46</c:v>
                </c:pt>
                <c:pt idx="1">
                  <c:v>0.62</c:v>
                </c:pt>
                <c:pt idx="2">
                  <c:v>0.66</c:v>
                </c:pt>
                <c:pt idx="3">
                  <c:v>0.68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0.2"/>
      </c:valAx>
    </c:plotArea>
    <c:dispBlanksAs val="gap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68.0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論文の書誌。本資料の日本語訳は docs/ にある（機械翻訳）。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手法は『RL をどこに入れるか』が違う、という整理が主題。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数値は説明用の模式図で、実験の値ではない。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と評価（Step9）。名称は私たちのパイプラインの番号。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グラフは学習中の指標（学習データ上）。検証データの値は左の箇条書き。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グラフの 0.46 は、この RL プロトコルでの VLA のみの評価（50 エピソード）。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次の作業: Step4 の本学習、critic の精度、評価の統計的な信頼性。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chart" Target="../charts/char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05156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smolVLA × LIBERO-10 Task 0 での実験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RLinf / libero_RL プロジェクト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2026/10/04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0.68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手法は、RL が作用する場所が違う（方策の学習目標 / advantage の推定器 / 行動の洗練）。成功で打ち切る収集設計が、価値の信号に重要だった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262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実装基盤: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RLinf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（強化学習の学習基盤。RECAP / STEAM のパイプラインと、RL Token 用の actor-critic を使用）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ベースモデル: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（lerobot/smolvla_libero、約 4.5 億パラメータ）。参考値として、RLinf のチュートリアルにある π₀.₅ の RECAP 結果も使う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論文の内容（引用）と、私たちの実験（smolVLA）を、スライド上で区別して示す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9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9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9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手法は、RL を入れる場所が違う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が作用する場所: 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価値関数から advantage を作り、「良い行動」の指標を方策に入力して学習する（advantage 条件付き SFT）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が作用する場所: advantage の推定器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時間オフセットを自己教師ありで学習した critic のアンサンブルで、フレームごとの advantage を作る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が作用する場所: 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が、VLA の行動チャンクを改善する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は「方策の学習目標」、STEAM は「評価者」、RL Token は「行動の洗練」に RL を入れる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5156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7955279" y="1033271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956815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7955279" y="1938527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862072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7955279" y="2843784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767327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7955279" y="3749039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672583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7955279" y="4654296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は「やってみて、結果の良し悪しから、良い行動を増やす」学習。RECAP・STEAM は advantage を使う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価値と advantage のイメージ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005840"/>
          <a:ext cx="658368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846320"/>
            <a:ext cx="6583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ステップ（時間）。途中の 4→5 で物を落とし、価値が下がっている</a:t>
            </a:r>
          </a:p>
        </p:txBody>
      </p:sp>
      <p:sp>
        <p:nvSpPr>
          <p:cNvPr id="6" name="value"/>
          <p:cNvSpPr/>
          <p:nvPr/>
        </p:nvSpPr>
        <p:spPr>
          <a:xfrm>
            <a:off x="7498079" y="1051560"/>
            <a:ext cx="4114800" cy="12344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 V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「成功まであとどれくらいか」を数値で予想したもの。0 に近いほど成功に近い</a:t>
            </a:r>
          </a:p>
        </p:txBody>
      </p:sp>
      <p:sp>
        <p:nvSpPr>
          <p:cNvPr id="7" name="advantage"/>
          <p:cNvSpPr/>
          <p:nvPr/>
        </p:nvSpPr>
        <p:spPr>
          <a:xfrm>
            <a:off x="7498079" y="2423160"/>
            <a:ext cx="4114800" cy="12344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 A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行動の前後で V がどう変わったか。上がれば A &gt; 0（良い行動）、下がれば A &lt; 0（悪い行動）</a:t>
            </a:r>
          </a:p>
        </p:txBody>
      </p:sp>
      <p:sp>
        <p:nvSpPr>
          <p:cNvPr id="8" name="use"/>
          <p:cNvSpPr/>
          <p:nvPr/>
        </p:nvSpPr>
        <p:spPr>
          <a:xfrm>
            <a:off x="7498079" y="3794760"/>
            <a:ext cx="4114800" cy="12344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使い道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0 の行動を「良い」とみなして、方策に学習させる（RECAP・STEAM）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advantage = 行動の前後で、成功への近さがどれだけ変わったか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41.0%）。成功した時点で打ち切る設定で再収集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旧データは、成功後も 520 ステップ続けたため、return が「時間」と「成否」だけで決まっていた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−819 で割り、[−1, 0] にそろえる（0 が成功、−1 が最悪）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−159 → −0.19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−719 → −0.88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−1、失敗は終端で −300）を正規化し、ビンにしたもの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Step9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成功した時点で打ち切る設定で再収集した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旧データでは、成功後も 520 ステップ続けていたため、価値が「フレーム番号と成否」でほぼ決まっていた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状況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Step4 は途中段階（2,000 step 前後。計画は 30,000 step）。step 2,000 の評価は 0.44〜0.50（環境数・乱数・プロンプトで変動）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価値モデルの信号は、データの作り方（成功で打ち切るか）に強く依存した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48640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SigLIP so400m + Gemma3-270M。k = 32 ステップ先との時間オフセットを、32 ビンの分布で予測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4）と、成功ロールアウト。2,000 step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ロールアウトは上位 30%、デモは上位 80% を positive（アンサンブルのメンバー数は 1）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学習データ上の精度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（step 500 → 2,000）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accuracy 0.277 → 0.353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隣接ビンを含む accuracy 0.375 → 0.569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未知のロールアウト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（eval 64 本、step 600）: accuracy 0.106、隣接 0.189。失敗エピソードを含むため、学習時より低い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 の結果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0.52（正例のみで学習、step 1,450、プロンプトなし）。プロンプトありは 0.42、両側タグは 0.36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217920" y="1005840"/>
          <a:ext cx="5486400" cy="4480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は学習データ上では改善したが、未知のロールアウトでの精度は低い（今後の課題）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6692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の prefix の隠れ状態（241 × 960）から、RL token を作る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の対象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タスクの局面ごとの actor-critic（1 つ目の把持 → 2 つ目の把持の「2 局面ゲート」）。それ以外は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オンライン学習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3 環境で、更新/データ比 5、探索ノイズ σ = 0.05。約 5 時間（400 エポック）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失敗の分析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 つ目の把持は確立。残る失敗は、2 つ目の把持が最大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→ 2 つ目専用の actor と、空振り（何も挟まずに閉じる）への罰 −0.2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の重み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約 5 MB と、軽量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0" y="1005840"/>
          <a:ext cx="5303520" cy="4480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0.68 に向上した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68.0%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+28.0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の最良値。どちらも advantage プロンプトなしの評価（STEAM は、正例のみで学習した step 1,450）。プロンプトありは、RECAP 0.48、STEAM 0.42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68%）。RECAP・STEAM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2377440"/>
                <a:gridCol w="2011680"/>
                <a:gridCol w="2743200"/>
                <a:gridCol w="274320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必要なもの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今回の経験での課題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価値関数、ロールアウト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勾配不要。flow matching VLA に使える。異種データを使える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価値の信号がデータの作り方に依存。SFT が重い（30,000 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の推定器（critic）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デモ（自己教師あり）、critic のアンサンブル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報酬ラベル不要。保守的なアンサンブルで過大評価を抑える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未知データでの critic の精度が低い。advantage の計算に約 2.5 時間/15.5 万フレーム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オンラインの環境と報酬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軽量（約 5 MB）で、約 5 時間で学習。success_once 0.46 → 0.68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局面の設計（ゲート）が必要。シミュレータ（実機）が必要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RECAP・STEAM は「良い行動」を学び、RL Token は「行動の直し方」を学ぶ。目的は補完的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まとめと今後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手法は、VLA の経験からの改善を、異なる場所で実現する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0.68）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成功で打ち切る収集設計が、価値・critic の信号に重要</a:t>
            </a:r>
          </a:p>
        </p:txBody>
      </p:sp>
      <p:sp>
        <p:nvSpPr>
          <p:cNvPr id="6" name="future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を、本学習（30,000 step）まで進める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のアンサンブルを増やし、未知データでの精度を上げる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評価を 100 エピソード以上にして、標準誤差を縮める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を、LIBERO-10 の他のタスクに広げる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0.68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Token（0.68）。RECAP・STEAM は、学習を進めて、同じ条件で再評価する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
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Critic（価値モデル）の出力: 各ビンの確率（例。実際は 201 個）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14"/>
          <c:w val="0.89"/>
          <c:h val="0.6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 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one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は、価値関数の出力を『良い/悪い』の条件として方策に条件付けるのが核心。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Step2。Critic（価値モデル）だけを更新する。VLA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Step3。モデルの更新はなく、データに条件（positive）を付ける処理。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Step4。条件（positive）を付けたデータで VLA を学習する。実行時は『良い』の条件を付ける。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モデルの更新はなく、データに条件（positive）を付ける処理。smolVLA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は条件付き SFT、続く 450 step は positive のフレームだけで学習したモデルを、advantage プロンプトなしで評価した値。条件付き SFT（プロンプトあり）の評価は 0.42、両側タグ（negative にも条件を付ける）は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の概要図より。左: VLA が RL token を出す。右: RL token を入力に、小さな actor と critic がオンラインで学習する。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6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7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9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つの強化学習手法を理解し、同じ設定（smolVLA、LIBERO-⁠10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から「良い」の条件（positive）を作って方策を学習し、Critic（advantage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条件付き学習とデータ処理: π₀.₅ 用の条件付き SFT（"Advantage: positive"）を smolVLA 向けに移植（negative は条件なし）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−⁠1）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従来の報酬・価値モデルは、手作りの報酬や人のラベルが必要でスケールしにくく、デモにない状態では、誤って高い advantage を付けることがある（STEAM）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を作り、「良い」の条件（positive）を付けて方策を学習する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を作り、同じ条件付きの学習で方策を学習する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LIBERO-⁠10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うまくいった行動に「良い」の条件（positive）を付けて学習し、実行時は「良い」の条件を付けて動かす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良い行動に「良い」の条件（positive）を付けて、VLA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条件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「良い」条件付きで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「良い行動」を選んで学習するための条件（positive）を、価値関数から作る。それが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なら「良い」。この条件を、VLA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画像・指示文・条件から、行動を出す。離散化した行動と、action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価値関数が作った「良い/悪い」の条件を、VLA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−⁠300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正規化（Critic 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 −⁠819 で割り、[−⁠1, 0] にそろえる（0 が成功、−⁠1 が最悪）。Critic（価値モデル）は、この値を当てる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−⁠159 → −⁠0.19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−⁠719 → −⁠0.88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−⁠300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xlabel 0"/>
          <p:cNvSpPr txBox="1"/>
          <p:nvPr/>
        </p:nvSpPr>
        <p:spPr>
          <a:xfrm>
            <a:off x="88442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−⁠1.0</a:t>
            </a:r>
          </a:p>
        </p:txBody>
      </p:sp>
      <p:sp>
        <p:nvSpPr>
          <p:cNvPr id="6" name="xlabel 4"/>
          <p:cNvSpPr txBox="1"/>
          <p:nvPr/>
        </p:nvSpPr>
        <p:spPr>
          <a:xfrm>
            <a:off x="195400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−⁠0.8</a:t>
            </a:r>
          </a:p>
        </p:txBody>
      </p:sp>
      <p:sp>
        <p:nvSpPr>
          <p:cNvPr id="7" name="xlabel 8"/>
          <p:cNvSpPr txBox="1"/>
          <p:nvPr/>
        </p:nvSpPr>
        <p:spPr>
          <a:xfrm>
            <a:off x="302359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−⁠0.6</a:t>
            </a:r>
          </a:p>
        </p:txBody>
      </p:sp>
      <p:sp>
        <p:nvSpPr>
          <p:cNvPr id="8" name="xlabel 12"/>
          <p:cNvSpPr txBox="1"/>
          <p:nvPr/>
        </p:nvSpPr>
        <p:spPr>
          <a:xfrm>
            <a:off x="409318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−⁠0.4</a:t>
            </a:r>
          </a:p>
        </p:txBody>
      </p:sp>
      <p:sp>
        <p:nvSpPr>
          <p:cNvPr id="9" name="xlabel 16"/>
          <p:cNvSpPr txBox="1"/>
          <p:nvPr/>
        </p:nvSpPr>
        <p:spPr>
          <a:xfrm>
            <a:off x="516276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−⁠0.2</a:t>
            </a:r>
          </a:p>
        </p:txBody>
      </p:sp>
      <p:sp>
        <p:nvSpPr>
          <p:cNvPr id="10" name="xlabel 20"/>
          <p:cNvSpPr txBox="1"/>
          <p:nvPr/>
        </p:nvSpPr>
        <p:spPr>
          <a:xfrm>
            <a:off x="623235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ビンの値（−⁠1 = 最悪、0 = 成功）。縦軸: そのビンの確率</a:t>
            </a:r>
          </a:p>
        </p:txBody>
      </p:sp>
      <p:sp>
        <p:nvSpPr>
          <p:cNvPr id="12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画像と指示文を、Critic（価値モデル）に入れる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13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14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−⁠0.30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Critic（価値モデル）の学習（入力・出力・更新）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−⁠0.12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V（−⁠1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−⁠1、失敗は終端で −⁠300）を正規化し、ビンにしたもの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交差エントロピーを小さくするよう、Critic（価値モデル）のパラメータを更新（VLA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Critic（価値モデル）は、画像を見て「成功まであとどれくらいか」を当てる問題として学習する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の計算と「良い/悪い」の条件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negative（条件なし）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−⁠0.50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−⁠0.45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−⁠0.01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−⁠0.01 − 0.45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 が上がったか（成功に近づいたか）で、「良い」の条件（positive）を付けるフレームを決める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条件「Advantage: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のフレームには条件を付け、10% の確率で条件を外す（条件なしの方策も一緒に学習）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条件「Advantage: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「良い」の条件を付けたので、良い行動が出やすい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学習では「良い条件付き」のデータを多く見せ、実行時に「良い」の条件を付けて、良い行動を引き出す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「良い」の条件付きと、条件なしの両方で、データの行動を再現する（I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条件を「良い」に固定して行動を生成する。β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方策は「条件あり」と「条件なし」の両方を表現できるので、改善確率を明示的に推定しなくてよい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−⁠1、失敗は終端で −⁠300。return を [−⁠1, 0] に正規化（元の範囲は [−⁠819, 0]）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Critic（価値モデル。SigLIP2 + Gemma3-⁠270M）が、201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Critic（価値モデル）の学習 → advantage の計算 → 条件付き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スコアの高いフレームに条件（positive）を付けて学習（RECAP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−⁠3（後退）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Advantage を付け、CFGRL（条件付き学習）で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の評価で「前進」と判断したフレームにだけ、「良い」の条件（positive）を付ける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Gemma3-⁠270M）が、時間差の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条件付き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全体像（論文の図）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_overview.png" descr="fig_rl_token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6309360" cy="38134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46739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Intelligence）の概要図より</a:t>
            </a:r>
          </a:p>
        </p:txBody>
      </p:sp>
      <p:sp>
        <p:nvSpPr>
          <p:cNvPr id="6" name="no 1"/>
          <p:cNvSpPr/>
          <p:nvPr/>
        </p:nvSpPr>
        <p:spPr>
          <a:xfrm>
            <a:off x="7132320" y="1051560"/>
            <a:ext cx="457200" cy="12801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635240" y="1051560"/>
            <a:ext cx="3977640" cy="12801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左: RL token を持つ VLA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が、カメラ画像と指示文（lang）から、行動（action expert）と、RL token（encoder → decoder で圧縮）を出す</a:t>
            </a:r>
          </a:p>
        </p:txBody>
      </p:sp>
      <p:sp>
        <p:nvSpPr>
          <p:cNvPr id="8" name="no 2"/>
          <p:cNvSpPr/>
          <p:nvPr/>
        </p:nvSpPr>
        <p:spPr>
          <a:xfrm>
            <a:off x="7132320" y="2404872"/>
            <a:ext cx="457200" cy="12801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635240" y="2404872"/>
            <a:ext cx="3977640" cy="12801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右: オンライン RL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と、VLA の行動（action chunk）を入力に、actor が最終の行動を出し、critic が Q(s, a) を予測する</a:t>
            </a:r>
          </a:p>
        </p:txBody>
      </p:sp>
      <p:sp>
        <p:nvSpPr>
          <p:cNvPr id="10" name="no 3"/>
          <p:cNvSpPr/>
          <p:nvPr/>
        </p:nvSpPr>
        <p:spPr>
          <a:xfrm>
            <a:off x="7132320" y="3758183"/>
            <a:ext cx="457200" cy="12801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635240" y="3758183"/>
            <a:ext cx="3977640" cy="12801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流れ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ロボットが動く → 結果を集める → actor と critic を更新する、を繰り返す（図の緑の矢印）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は固定したまま、RL token を入力に、小さな actor と critic だけをオンラインで学習する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−⁠0.2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は、指示文の後に改行して、条件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条件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RECAP（条件: positive）</a:t>
            </a:r>
          </a:p>
        </p:txBody>
      </p:sp>
      <p:pic>
        <p:nvPicPr>
          <p:cNvPr id="10" name="video RECAP（条件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条件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は、指示文の後に改行して、条件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条件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STEAM（条件: positive）</a:t>
            </a:r>
          </a:p>
        </p:txBody>
      </p:sp>
      <p:pic>
        <p:nvPicPr>
          <p:cNvPr id="10" name="video STEAM（条件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条件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651760"/>
                <a:gridCol w="2103120"/>
                <a:gridCol w="731520"/>
                <a:gridCol w="274320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Critic（価値モデル）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1645920"/>
                <a:gridCol w="1645920"/>
                <a:gridCol w="1828800"/>
                <a:gridCol w="3566160"/>
                <a:gridCol w="146304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報酬や手作りのラベルが不要。エピソード長で正規化した時間の進みを直接予測するため、遅さが advantage に出る（RECAP は遅いフレームを除けなかったと、論文が報告）。アンサンブルの最小値で、過大評価を抑える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
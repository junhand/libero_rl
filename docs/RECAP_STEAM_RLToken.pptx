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300" b="1"/>
              <a:t>フレームごとの return（例）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成功（260 フレームで終了）</c:v>
                </c:pt>
              </c:strCache>
            </c:strRef>
          </c:tx>
          <c:spPr>
            <a:ln w="38100">
              <a:solidFill>
                <a:srgbClr val="2E8B57"/>
              </a:solidFill>
            </a:ln>
          </c:spPr>
          <c:marker>
            <c:symbol val="none"/>
          </c:marker>
          <c:xVal>
            <c:numRef>
              <c:f>Sheet1!$A$2:$A$3</c:f>
              <c:numCache>
                <c:formatCode>General</c:formatCode>
                <c:ptCount val="2"/>
                <c:pt idx="0">
                  <c:v>0</c:v>
                </c:pt>
                <c:pt idx="1">
                  <c:v>259</c:v>
                </c:pt>
              </c:numCache>
            </c:numRef>
          </c:xVal>
          <c:yVal>
            <c:numRef>
              <c:f>Sheet1!$B$2:$B$3</c:f>
              <c:numCache>
                <c:formatCode>General</c:formatCode>
                <c:ptCount val="2"/>
                <c:pt idx="0">
                  <c:v>-259</c:v>
                </c:pt>
                <c:pt idx="1">
                  <c:v>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Sheet1!$B$5</c:f>
              <c:strCache>
                <c:ptCount val="1"/>
                <c:pt idx="0">
                  <c:v>失敗（520 フレーム、最後に −300）</c:v>
                </c:pt>
              </c:strCache>
            </c:strRef>
          </c:tx>
          <c:spPr>
            <a:ln w="38100">
              <a:solidFill>
                <a:srgbClr val="D96B2B"/>
              </a:solidFill>
            </a:ln>
          </c:spPr>
          <c:marker>
            <c:symbol val="none"/>
          </c:marker>
          <c:xVal>
            <c:numRef>
              <c:f>Sheet1!$A$6:$A$7</c:f>
              <c:numCache>
                <c:formatCode>General</c:formatCode>
                <c:ptCount val="2"/>
                <c:pt idx="0">
                  <c:v>0</c:v>
                </c:pt>
                <c:pt idx="1">
                  <c:v>519</c:v>
                </c:pt>
              </c:numCache>
            </c:numRef>
          </c:xVal>
          <c:yVal>
            <c:numRef>
              <c:f>Sheet1!$B$6:$B$7</c:f>
              <c:numCache>
                <c:formatCode>General</c:formatCode>
                <c:ptCount val="2"/>
                <c:pt idx="0">
                  <c:v>-819</c:v>
                </c:pt>
                <c:pt idx="1">
                  <c:v>-300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540.0"/>
          <c:min val="0.0"/>
        </c:scaling>
        <c:delete val="0"/>
        <c:axPos val="b"/>
        <c:numFmt formatCode="General" sourceLinked="1"/>
        <c:majorTickMark val="out"/>
        <c:minorTickMark val="none"/>
        <c:tickLblPos val="low"/>
        <c:txPr>
          <a:bodyPr/>
          <a:lstStyle/>
          <a:p>
            <a:pPr>
              <a:defRPr sz="1200"/>
            </a:pPr>
          </a:p>
        </c:txPr>
        <c:crossAx val="-2129643912"/>
        <c:crosses val="autoZero"/>
        <c:crossBetween val="midCat"/>
        <c:majorUnit val="100.0"/>
      </c:valAx>
      <c:valAx>
        <c:axId val="-2129643912"/>
        <c:scaling>
          <c:orientation val="minMax"/>
          <c:max val="0.0"/>
          <c:min val="-90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28940872"/>
        <c:crosses val="autoZero"/>
        <c:crossBetween val="midCat"/>
        <c:majorUnit val="300.0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A1A1A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/>
              <a:t>価値モデルの出力: 各ビンの確率（例。実際は 201 個）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確率</c:v>
                </c:pt>
              </c:strCache>
            </c:strRef>
          </c:tx>
          <c:spPr>
            <a:solidFill>
              <a:srgbClr val="0B66C3"/>
            </a:solidFill>
          </c:spPr>
          <c:cat>
            <c:strRef>
              <c:f>Sheet1!$A$2:$A$22</c:f>
              <c:strCache>
                <c:ptCount val="21"/>
                <c:pt idx="0">
                  <c:v>-1.00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-0.80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-0.60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-0.40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-0.20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0.00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6.808423909362727e-09</c:v>
                </c:pt>
                <c:pt idx="1">
                  <c:v>7.09454062840909e-08</c:v>
                </c:pt>
                <c:pt idx="2">
                  <c:v>6.214463256178822e-07</c:v>
                </c:pt>
                <c:pt idx="3">
                  <c:v>4.575985307847839e-06</c:v>
                </c:pt>
                <c:pt idx="4">
                  <c:v>2.8324827306608757e-05</c:v>
                </c:pt>
                <c:pt idx="5">
                  <c:v>0.00014738441855667697</c:v>
                </c:pt>
                <c:pt idx="6">
                  <c:v>0.0006446700980406772</c:v>
                </c:pt>
                <c:pt idx="7">
                  <c:v>0.002370419074959102</c:v>
                </c:pt>
                <c:pt idx="8">
                  <c:v>0.007326800938643134</c:v>
                </c:pt>
                <c:pt idx="9">
                  <c:v>0.01903729781339387</c:v>
                </c:pt>
                <c:pt idx="10">
                  <c:v>0.041581281319753305</c:v>
                </c:pt>
                <c:pt idx="11">
                  <c:v>0.07634701896864554</c:v>
                </c:pt>
                <c:pt idx="12">
                  <c:v>0.1178387028524943</c:v>
                </c:pt>
                <c:pt idx="13">
                  <c:v>0.15289225093757114</c:v>
                </c:pt>
                <c:pt idx="14">
                  <c:v>0.1667572207346709</c:v>
                </c:pt>
                <c:pt idx="15">
                  <c:v>0.15289225093757114</c:v>
                </c:pt>
                <c:pt idx="16">
                  <c:v>0.1178387028524942</c:v>
                </c:pt>
                <c:pt idx="17">
                  <c:v>0.07634701896864544</c:v>
                </c:pt>
                <c:pt idx="18">
                  <c:v>0.041581281319753305</c:v>
                </c:pt>
                <c:pt idx="19">
                  <c:v>0.01903729781339387</c:v>
                </c:pt>
                <c:pt idx="20">
                  <c:v>0.007326800938643134</c:v>
                </c:pt>
              </c:numCache>
            </c:numRef>
          </c:val>
        </c:ser>
        <c:gapWidth val="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A1A1A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成功率 (%)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</c:spPr>
          </c:dPt>
          <c:dPt>
            <c:idx val="1"/>
            <c:spPr>
              <a:solidFill>
                <a:srgbClr val="6B8BB3"/>
              </a:solidFill>
            </c:spPr>
          </c:dPt>
          <c:dPt>
            <c:idx val="2"/>
            <c:spPr>
              <a:solidFill>
                <a:srgbClr val="BFBFBF"/>
              </a:solidFill>
            </c:spPr>
          </c:dPt>
          <c:dPt>
            <c:idx val="3"/>
            <c:spPr>
              <a:solidFill>
                <a:srgbClr val="6B8BB3"/>
              </a:solidFill>
            </c:spPr>
          </c:dPt>
          <c:dPt>
            <c:idx val="4"/>
            <c:spPr>
              <a:solidFill>
                <a:srgbClr val="6B8BB3"/>
              </a:solidFill>
            </c:spPr>
          </c:dPt>
          <c:dPt>
            <c:idx val="5"/>
            <c:spPr>
              <a:solidFill>
                <a:srgbClr val="2E8B57"/>
              </a:solidFill>
            </c:spPr>
          </c:dPt>
          <c:cat>
            <c:strRef>
              <c:f>Sheet1!$A$2:$A$7</c:f>
              <c:strCache>
                <c:ptCount val="6"/>
                <c:pt idx="0">
                  <c:v>π₀.₅
SFT</c:v>
                </c:pt>
                <c:pt idx="1">
                  <c:v>π₀.₅
RECAP</c:v>
                </c:pt>
                <c:pt idx="2">
                  <c:v>smolVLA
ベース</c:v>
                </c:pt>
                <c:pt idx="3">
                  <c:v>smolVLA
RECAP</c:v>
                </c:pt>
                <c:pt idx="4">
                  <c:v>smolVLA
STEAM</c:v>
                </c:pt>
                <c:pt idx="5">
                  <c:v>smolVLA
RL Token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48.8</c:v>
                </c:pt>
                <c:pt idx="1">
                  <c:v>66.5</c:v>
                </c:pt>
                <c:pt idx="2">
                  <c:v>40.0</c:v>
                </c:pt>
                <c:pt idx="3">
                  <c:v>50.0</c:v>
                </c:pt>
                <c:pt idx="4">
                  <c:v>52.0</c:v>
                </c:pt>
                <c:pt idx="5">
                  <c:v>74.0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2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100">
          <a:solidFill>
            <a:srgbClr val="1A1A1A"/>
          </a:solidFill>
          <a:latin typeface="Yu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RECAP、STEAM、RL Token の 3 手法を紹介し、smolVLA (LIBERO-10 Task 0) での実験結果を比較します。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発表全体の要約。結果の数値は、「実験結果」のスライドの表を参照。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論文の書誌と、実装基盤 RLinf への変更。本資料の日本語訳は docs/ にある（機械翻訳）。RLinf への変更は patches/rlinf/*.patch にまとめている（RLinf のファイルは直接編集していない）。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強化学習を知らない人向けの前提。『やってみて、結果から、良い行動を増やす』が一言。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と STEAM は Critic（advantage の作り方）だけが違う。RL Token は、オンラインで行動を洗練する、という整理が主題。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評価は 50 エピソード。標準誤差が大きいことを最初に断っておく。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は、価値関数の出力を『良い/悪い』の札として方策に条件付けるのが核心。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論文 π*0.6 の図 3 より。下が価値関数、上が VLA。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Step1。実データ 368 エピソード（r1_m0）で、この式と一致することを確認済み。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数値は説明用の例で、実験の値ではない。ビンの値は、正規化した return の範囲 [−1, 0] を 201 個に等分したもの（実装: v_min = −1、v_max = 0、num_bins = 201）。V は、各ビンの確率の期待値。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Step2。価値モデルだけを更新する。VLA はまだ触らない。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Step3。モデルの更新はなく、データに札を付ける処理。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Step4。札を付けたデータで VLA を学習する。実行時は『良い』の札を付ける。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式(1)(3) の記号は論文のもの。式の意味は、直前の 3 枚の図と対応。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Step1〜4 と評価（Step5）。名称は私たちのパイプラインの番号。【発表者向け】0.50 は、advantage プロンプトなしで評価した最良値。プロンプトあり（Advantage: positive）では 0.48。Step4 は途中段階（2,000 step）。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報酬ラベル不要で、専門家デモだけから advantage を作る点が特徴。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論文 STEAM の図 1 より。左から、ラベル付け、予測器の学習、方策の改善。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デモだけで学習する。報酬は使わない。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モデルの更新はなく、データに札を付ける処理。smolVLA の実験では、critic は 1 個（M = 1）。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表は論文 Table 1 の成功率（Succ.）のみ。RECAP は同じ CFGRL の骨格で 1 反復。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Step1〜4 と評価（Step5）。RECAP の実装スライドと同じ形式。Step 名は私たちのパイプラインの番号。【発表者向け】0.52 は、最初の 1,000 step は札付き SFT、続く 450 step は positive のフレームだけで学習したモデルを、advantage プロンプトなしで評価した値。札付き SFT（プロンプトあり）の評価は 0.42、両側タグ（negative にも札を付ける）は 0.36。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VLA を凍結して、RL token という小さな状態表現の上で RL をする。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論文 RL Token の図 2 より。VLA の内部の埋め込みを、1 本の RL token に圧縮する。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実行時と学習データの収集で、同じ流れ。灰色は凍結、オレンジは更新する部品。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更新されるのは、小さな actor と critic だけ（actor の重みは約 5 MB）。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式の番号は論文のもの。式の意味は、直前の 2 枚の図と対応。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Step1〜4 と評価（Step5）。RECAP・STEAM の実装スライドと同じ形式。Step 名は私たちのパイプラインの番号。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π₀.₅ は RLinf のチュートリアルの値。smolVLA は私たちの実験（各 50 エピソード）。【発表者向け】RECAP 0.50 と STEAM 0.52 は、advantage プロンプトなしで評価した最良値。プロンプトあり（Advantage: positive）では RECAP 0.48、STEAM 0.42。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初期状態 14 での比較。ベースと RL Token の動画は wandb: https://wandb.ai/junhand/libero_RL/runs/w3vkksd0（run 名 demo-init14-base-fail-vs-rlt-success）。RECAP の動画は wandb: https://wandb.ai/junhand/libero_RL/runs/30cagwmg（run 名 recap-noprompt-vs-base-init14）。RL Token の動画は H（1 つ目は G の actor、2 つ目は専用 actor）。RECAP の動画は global_step_2000（advantage プロンプトなしで評価、success_once 0.50）。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初期状態 8 での比較（STEAM）。wandb: https://wandb.ai/junhand/libero_RL/runs/kydvjtsn（run 名 demo-init8-base-fail-vs-steamP-success）。STEAM の動画は実験 P（positive のフレームだけで学習、advantage プロンプトなしで評価、success_once 0.52）。画面の reward / termination の文字は、評価の画面表示。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実測値（TensorBoard と実行ログ）。GPU は、RECAP が RTX 6000 Ada、それ以外が RTX A5000。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表は定性的な比較。smolVLA での経験に基づく。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残された課題: Step4 の学習量、critic の精度。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chart" Target="../charts/char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5.png"/><Relationship Id="rId6" Type="http://schemas.microsoft.com/office/2007/relationships/media" Target="../media/media2.mp4"/><Relationship Id="rId7" Type="http://schemas.openxmlformats.org/officeDocument/2006/relationships/video" Target="../media/media2.mp4"/><Relationship Id="rId8" Type="http://schemas.openxmlformats.org/officeDocument/2006/relationships/image" Target="../media/image6.png"/><Relationship Id="rId9" Type="http://schemas.microsoft.com/office/2007/relationships/media" Target="../media/media3.mp4"/><Relationship Id="rId10" Type="http://schemas.openxmlformats.org/officeDocument/2006/relationships/video" Target="../media/media3.mp4"/><Relationship Id="rId11" Type="http://schemas.openxmlformats.org/officeDocument/2006/relationships/image" Target="../media/image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microsoft.com/office/2007/relationships/media" Target="../media/media4.mp4"/><Relationship Id="rId4" Type="http://schemas.openxmlformats.org/officeDocument/2006/relationships/video" Target="../media/media4.mp4"/><Relationship Id="rId5" Type="http://schemas.openxmlformats.org/officeDocument/2006/relationships/image" Target="../media/image8.png"/><Relationship Id="rId6" Type="http://schemas.microsoft.com/office/2007/relationships/media" Target="../media/media5.mp4"/><Relationship Id="rId7" Type="http://schemas.openxmlformats.org/officeDocument/2006/relationships/video" Target="../media/media5.mp4"/><Relationship Id="rId8" Type="http://schemas.openxmlformats.org/officeDocument/2006/relationships/image" Target="../media/image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blue mesh)" descr="title_bg_blue_me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 band"/>
          <p:cNvSpPr/>
          <p:nvPr/>
        </p:nvSpPr>
        <p:spPr>
          <a:xfrm>
            <a:off x="0" y="0"/>
            <a:ext cx="12191695" cy="2185416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ries logo"/>
          <p:cNvSpPr txBox="1"/>
          <p:nvPr/>
        </p:nvSpPr>
        <p:spPr>
          <a:xfrm>
            <a:off x="182880" y="502920"/>
            <a:ext cx="2761488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800" b="0">
                <a:solidFill>
                  <a:srgbClr val="E94C3F"/>
                </a:solidFill>
                <a:latin typeface="Impact"/>
                <a:ea typeface="Impact"/>
                <a:cs typeface="Impact"/>
              </a:rPr>
              <a:t>D</a:t>
            </a:r>
            <a:r>
              <a:rPr sz="2800" b="0">
                <a:solidFill>
                  <a:srgbClr val="FFFFFF"/>
                </a:solidFill>
                <a:latin typeface="Impact"/>
                <a:ea typeface="Impact"/>
                <a:cs typeface="Impact"/>
              </a:rPr>
              <a:t>EEP </a:t>
            </a:r>
            <a:r>
              <a:rPr sz="2800" b="0">
                <a:solidFill>
                  <a:srgbClr val="C8CC41"/>
                </a:solidFill>
                <a:latin typeface="Impact"/>
                <a:ea typeface="Impact"/>
                <a:cs typeface="Impact"/>
              </a:rPr>
              <a:t>L</a:t>
            </a:r>
            <a:r>
              <a:rPr sz="2800" b="0">
                <a:solidFill>
                  <a:srgbClr val="FFFFFF"/>
                </a:solidFill>
                <a:latin typeface="Impact"/>
                <a:ea typeface="Impact"/>
                <a:cs typeface="Impact"/>
              </a:rPr>
              <a:t>EARNING </a:t>
            </a:r>
            <a:r>
              <a:rPr sz="2800" b="0">
                <a:solidFill>
                  <a:srgbClr val="4897F6"/>
                </a:solidFill>
                <a:latin typeface="Impact"/>
                <a:ea typeface="Impact"/>
                <a:cs typeface="Impact"/>
              </a:rPr>
              <a:t>JP</a:t>
            </a:r>
          </a:p>
          <a:p>
            <a:pPr algn="ctr"/>
            <a:r>
              <a:rPr sz="2800" b="0">
                <a:solidFill>
                  <a:srgbClr val="FFFFFF"/>
                </a:solidFill>
                <a:latin typeface="Impact"/>
                <a:ea typeface="Impact"/>
                <a:cs typeface="Impact"/>
              </a:rPr>
              <a:t>[DL Papers]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44368" y="15544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RECAP, STEAM, and RL Token:</a:t>
            </a:r>
          </a:p>
          <a:p>
            <a:pPr algn="ctr"/>
            <a:r>
              <a:rPr sz="26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Reinforcement Learning for Vision-Language-Action Models</a:t>
            </a:r>
          </a:p>
        </p:txBody>
      </p:sp>
      <p:sp>
        <p:nvSpPr>
          <p:cNvPr id="6" name="presenter block"/>
          <p:cNvSpPr txBox="1"/>
          <p:nvPr/>
        </p:nvSpPr>
        <p:spPr>
          <a:xfrm>
            <a:off x="3904487" y="1188720"/>
            <a:ext cx="7863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2026/10/05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Jun Kawagoshi</a:t>
            </a:r>
          </a:p>
        </p:txBody>
      </p:sp>
      <p:sp>
        <p:nvSpPr>
          <p:cNvPr id="7" name="url"/>
          <p:cNvSpPr txBox="1"/>
          <p:nvPr/>
        </p:nvSpPr>
        <p:spPr>
          <a:xfrm>
            <a:off x="9537192" y="6053328"/>
            <a:ext cx="26609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http://deeplearning.jp/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概要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4" name="label 目的"/>
          <p:cNvSpPr/>
          <p:nvPr/>
        </p:nvSpPr>
        <p:spPr>
          <a:xfrm>
            <a:off x="548640" y="1051560"/>
            <a:ext cx="1371600" cy="71323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5" name="text 目的"/>
          <p:cNvSpPr txBox="1"/>
          <p:nvPr/>
        </p:nvSpPr>
        <p:spPr>
          <a:xfrm>
            <a:off x="2103120" y="1033271"/>
            <a:ext cx="95097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実環境の経験（ロールアウト）から VLA を改善する 3 つの強化学習手法を理解し、同じ設定（smolVLA、LIBERO-10 Task 0）で比較する</a:t>
            </a:r>
          </a:p>
        </p:txBody>
      </p:sp>
      <p:sp>
        <p:nvSpPr>
          <p:cNvPr id="6" name="label 背景"/>
          <p:cNvSpPr/>
          <p:nvPr/>
        </p:nvSpPr>
        <p:spPr>
          <a:xfrm>
            <a:off x="548640" y="1874519"/>
            <a:ext cx="1371600" cy="71323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背景</a:t>
            </a:r>
          </a:p>
        </p:txBody>
      </p:sp>
      <p:sp>
        <p:nvSpPr>
          <p:cNvPr id="7" name="text 背景"/>
          <p:cNvSpPr txBox="1"/>
          <p:nvPr/>
        </p:nvSpPr>
        <p:spPr>
          <a:xfrm>
            <a:off x="2103120" y="1856231"/>
            <a:ext cx="95097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模倣学習（SFT）だけでは、精度・速度・失敗からの回復に限界がある。10 億パラメータ級の VLA 全体を RL で更新するのは高コスト</a:t>
            </a:r>
          </a:p>
        </p:txBody>
      </p:sp>
      <p:sp>
        <p:nvSpPr>
          <p:cNvPr id="8" name="label 手法"/>
          <p:cNvSpPr/>
          <p:nvPr/>
        </p:nvSpPr>
        <p:spPr>
          <a:xfrm>
            <a:off x="548640" y="2697479"/>
            <a:ext cx="1371600" cy="71323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手法</a:t>
            </a:r>
          </a:p>
        </p:txBody>
      </p:sp>
      <p:sp>
        <p:nvSpPr>
          <p:cNvPr id="9" name="text 手法"/>
          <p:cNvSpPr txBox="1"/>
          <p:nvPr/>
        </p:nvSpPr>
        <p:spPr>
          <a:xfrm>
            <a:off x="2103120" y="2679191"/>
            <a:ext cx="95097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RECAP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価値関数から advantage を作り、方策に条件付けて学習　</a:t>
            </a: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STEAM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時間オフセットの自己教師ありアンサンブルで advantage を推定　</a:t>
            </a: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RL Token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凍結した VLA の読み出しトークンの上で、軽量な actor-critic をオンライン学習</a:t>
            </a:r>
          </a:p>
        </p:txBody>
      </p:sp>
      <p:sp>
        <p:nvSpPr>
          <p:cNvPr id="10" name="label 実験"/>
          <p:cNvSpPr/>
          <p:nvPr/>
        </p:nvSpPr>
        <p:spPr>
          <a:xfrm>
            <a:off x="548640" y="3520439"/>
            <a:ext cx="1371600" cy="71323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実験</a:t>
            </a:r>
          </a:p>
        </p:txBody>
      </p:sp>
      <p:sp>
        <p:nvSpPr>
          <p:cNvPr id="11" name="text 実験"/>
          <p:cNvSpPr txBox="1"/>
          <p:nvPr/>
        </p:nvSpPr>
        <p:spPr>
          <a:xfrm>
            <a:off x="2103120" y="3502151"/>
            <a:ext cx="95097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smolVLA（lerobot/smolvla_libero）で、Task 0（2 つの物体をカゴへ）の success_once を、固定の初期状態 50 個で測る。実装は RLinf</a:t>
            </a:r>
          </a:p>
        </p:txBody>
      </p:sp>
      <p:sp>
        <p:nvSpPr>
          <p:cNvPr id="12" name="label 結果"/>
          <p:cNvSpPr/>
          <p:nvPr/>
        </p:nvSpPr>
        <p:spPr>
          <a:xfrm>
            <a:off x="548640" y="4343400"/>
            <a:ext cx="1371600" cy="71323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結果</a:t>
            </a:r>
          </a:p>
        </p:txBody>
      </p:sp>
      <p:sp>
        <p:nvSpPr>
          <p:cNvPr id="13" name="text 結果"/>
          <p:cNvSpPr txBox="1"/>
          <p:nvPr/>
        </p:nvSpPr>
        <p:spPr>
          <a:xfrm>
            <a:off x="2103120" y="4325112"/>
            <a:ext cx="95097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ベース 0.40 に対し、</a:t>
            </a:r>
            <a:r>
              <a:rPr sz="15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RL Token が 0.74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、RECAP が 0.50、STEAM が 0.52（いずれも最良値）。RECAP と STEAM は学習の途中段階で、ベースとの差は、50 エピソードの評価では有意とは言えない</a:t>
            </a:r>
          </a:p>
        </p:txBody>
      </p:sp>
      <p:sp>
        <p:nvSpPr>
          <p:cNvPr id="14" name="label 結論"/>
          <p:cNvSpPr/>
          <p:nvPr/>
        </p:nvSpPr>
        <p:spPr>
          <a:xfrm>
            <a:off x="548640" y="5166360"/>
            <a:ext cx="1371600" cy="71323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結論</a:t>
            </a:r>
          </a:p>
        </p:txBody>
      </p:sp>
      <p:sp>
        <p:nvSpPr>
          <p:cNvPr id="15" name="text 結論"/>
          <p:cNvSpPr txBox="1"/>
          <p:nvPr/>
        </p:nvSpPr>
        <p:spPr>
          <a:xfrm>
            <a:off x="2103120" y="5148072"/>
            <a:ext cx="9509760" cy="7772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RECAP と STEAM は、どちらも advantage から「良い」の札を作って方策を学習し、Critic（advantage の作り方）だけが違う。RL Token は、オンライン RL で行動を洗練する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書誌情報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64240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88720"/>
                <a:gridCol w="3474720"/>
                <a:gridCol w="2194560"/>
                <a:gridCol w="2651760"/>
                <a:gridCol w="155448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手法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論文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所属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主な著者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arXiv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RECAP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π*0.6: a VLA That Learns From Experience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Physical Intelligence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Ali Amin, Sergey Levine ほか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2511.14759
（2025/11）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STEAM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STEAM: Self-Supervised Temporal Ensemble Advantage Modeling for Real-World Robot Learning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中国科学院自動化研究所、清華大学 ほか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Zhihao Liu, Qiuyi Gu ほか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2606.29834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RL Token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RL Token: Bootstrapping Online RL with Vision-Language-Action Models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Physical Intelligence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Charles Xu, Jost Tobias Springenberg, Sergey Levine, Liyiming Ke ほか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2604.23073
（2026/04）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47472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実装基盤 RLinf に、smolVLA（約 4.5 億パラメータ）で実験するための変更を加えた</a:t>
            </a:r>
          </a:p>
        </p:txBody>
      </p:sp>
      <p:sp>
        <p:nvSpPr>
          <p:cNvPr id="6" name="change tag 共通"/>
          <p:cNvSpPr/>
          <p:nvPr/>
        </p:nvSpPr>
        <p:spPr>
          <a:xfrm>
            <a:off x="548640" y="3931920"/>
            <a:ext cx="1554480" cy="53035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共通</a:t>
            </a:r>
          </a:p>
        </p:txBody>
      </p:sp>
      <p:sp>
        <p:nvSpPr>
          <p:cNvPr id="7" name="change 共通"/>
          <p:cNvSpPr/>
          <p:nvPr/>
        </p:nvSpPr>
        <p:spPr>
          <a:xfrm>
            <a:off x="2194560" y="3931920"/>
            <a:ext cx="9418320" cy="530352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smolVLA の組み込み: smolVLA を RLinf のモデルとして登録。LIBERO のロールアウト収集・評価の設定を追加</a:t>
            </a:r>
          </a:p>
        </p:txBody>
      </p:sp>
      <p:sp>
        <p:nvSpPr>
          <p:cNvPr id="8" name="change tag RECAP・STEAM"/>
          <p:cNvSpPr/>
          <p:nvPr/>
        </p:nvSpPr>
        <p:spPr>
          <a:xfrm>
            <a:off x="548640" y="4535424"/>
            <a:ext cx="1554480" cy="53035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RECAP・STEAM</a:t>
            </a:r>
          </a:p>
        </p:txBody>
      </p:sp>
      <p:sp>
        <p:nvSpPr>
          <p:cNvPr id="9" name="change RECAP・STEAM"/>
          <p:cNvSpPr/>
          <p:nvPr/>
        </p:nvSpPr>
        <p:spPr>
          <a:xfrm>
            <a:off x="2194560" y="4535424"/>
            <a:ext cx="9418320" cy="530352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札付き学習とデータ処理: π₀.₅ 用の札付き SFT（"Advantage: positive"）を smolVLA 向けに移植（negative は札なし）</a:t>
            </a:r>
          </a:p>
        </p:txBody>
      </p:sp>
      <p:sp>
        <p:nvSpPr>
          <p:cNvPr id="10" name="change tag RL Token"/>
          <p:cNvSpPr/>
          <p:nvPr/>
        </p:nvSpPr>
        <p:spPr>
          <a:xfrm>
            <a:off x="548640" y="5138928"/>
            <a:ext cx="1554480" cy="530352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</a:t>
            </a:r>
          </a:p>
        </p:txBody>
      </p:sp>
      <p:sp>
        <p:nvSpPr>
          <p:cNvPr id="11" name="change RL Token"/>
          <p:cNvSpPr/>
          <p:nvPr/>
        </p:nvSpPr>
        <p:spPr>
          <a:xfrm>
            <a:off x="2194560" y="5138928"/>
            <a:ext cx="9418320" cy="530352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RL の部品: 凍結した smolVLA と RL token の組み込み、LIBERO での把持の判定・報酬</a:t>
            </a:r>
          </a:p>
        </p:txBody>
      </p:sp>
      <p:sp>
        <p:nvSpPr>
          <p:cNvPr id="12" name="key point"/>
          <p:cNvSpPr/>
          <p:nvPr/>
        </p:nvSpPr>
        <p:spPr>
          <a:xfrm>
            <a:off x="548640" y="5833872"/>
            <a:ext cx="11064240" cy="530352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論文の内容（引用）と、SmolVLA による実験結果を紹介する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強化学習の基本用語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" name="agent"/>
          <p:cNvSpPr/>
          <p:nvPr/>
        </p:nvSpPr>
        <p:spPr>
          <a:xfrm>
            <a:off x="548640" y="1097280"/>
            <a:ext cx="2194560" cy="109728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エージェント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 π（= VLA）が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行動を決める</a:t>
            </a:r>
          </a:p>
        </p:txBody>
      </p:sp>
      <p:sp>
        <p:nvSpPr>
          <p:cNvPr id="5" name="env"/>
          <p:cNvSpPr/>
          <p:nvPr/>
        </p:nvSpPr>
        <p:spPr>
          <a:xfrm>
            <a:off x="3931920" y="1097280"/>
            <a:ext cx="201168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環境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シミュレータ / 実世界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1371600"/>
            <a:ext cx="118872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0" y="100584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行動 a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743200" y="1920240"/>
            <a:ext cx="118872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0" y="1965960"/>
            <a:ext cx="118872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観測 o
報酬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539496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観測 o = カメラ画像と関節の状態。これを何百ステップも繰り返す = 1 エピソード</a:t>
            </a:r>
          </a:p>
        </p:txBody>
      </p:sp>
      <p:sp>
        <p:nvSpPr>
          <p:cNvPr id="11" name="sft"/>
          <p:cNvSpPr/>
          <p:nvPr/>
        </p:nvSpPr>
        <p:spPr>
          <a:xfrm>
            <a:off x="548640" y="35661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模倣学習（SFT）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お手本の行動を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そのまま真似る</a:t>
            </a:r>
          </a:p>
        </p:txBody>
      </p:sp>
      <p:sp>
        <p:nvSpPr>
          <p:cNvPr id="12" name="rl"/>
          <p:cNvSpPr/>
          <p:nvPr/>
        </p:nvSpPr>
        <p:spPr>
          <a:xfrm>
            <a:off x="3337560" y="3566160"/>
            <a:ext cx="2606040" cy="14173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強化学習（RL）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結果（報酬）を見て、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良い行動を増やす</a:t>
            </a:r>
          </a:p>
        </p:txBody>
      </p:sp>
      <p:sp>
        <p:nvSpPr>
          <p:cNvPr id="13" name="term 方策 π"/>
          <p:cNvSpPr/>
          <p:nvPr/>
        </p:nvSpPr>
        <p:spPr>
          <a:xfrm>
            <a:off x="6309360" y="1005840"/>
            <a:ext cx="1737360" cy="676656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方策 π</a:t>
            </a:r>
          </a:p>
        </p:txBody>
      </p:sp>
      <p:sp>
        <p:nvSpPr>
          <p:cNvPr id="14" name="def 方策 π"/>
          <p:cNvSpPr txBox="1"/>
          <p:nvPr/>
        </p:nvSpPr>
        <p:spPr>
          <a:xfrm>
            <a:off x="8138160" y="987552"/>
            <a:ext cx="35661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観測から行動を決める関数。ここでは VLA（画像と指示文から、ロボットの動きを出力するモデル）</a:t>
            </a:r>
          </a:p>
        </p:txBody>
      </p:sp>
      <p:sp>
        <p:nvSpPr>
          <p:cNvPr id="15" name="term 報酬 r"/>
          <p:cNvSpPr/>
          <p:nvPr/>
        </p:nvSpPr>
        <p:spPr>
          <a:xfrm>
            <a:off x="6309360" y="1773936"/>
            <a:ext cx="1737360" cy="676656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報酬 r</a:t>
            </a:r>
          </a:p>
        </p:txBody>
      </p:sp>
      <p:sp>
        <p:nvSpPr>
          <p:cNvPr id="16" name="def 報酬 r"/>
          <p:cNvSpPr txBox="1"/>
          <p:nvPr/>
        </p:nvSpPr>
        <p:spPr>
          <a:xfrm>
            <a:off x="8138160" y="1755648"/>
            <a:ext cx="35661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行動の結果の良さを表す数値（例: 成功で +1、毎ステップ −1）</a:t>
            </a:r>
          </a:p>
        </p:txBody>
      </p:sp>
      <p:sp>
        <p:nvSpPr>
          <p:cNvPr id="17" name="term return"/>
          <p:cNvSpPr/>
          <p:nvPr/>
        </p:nvSpPr>
        <p:spPr>
          <a:xfrm>
            <a:off x="6309360" y="2542032"/>
            <a:ext cx="1737360" cy="676656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return</a:t>
            </a:r>
          </a:p>
        </p:txBody>
      </p:sp>
      <p:sp>
        <p:nvSpPr>
          <p:cNvPr id="18" name="def return"/>
          <p:cNvSpPr txBox="1"/>
          <p:nvPr/>
        </p:nvSpPr>
        <p:spPr>
          <a:xfrm>
            <a:off x="8138160" y="2523744"/>
            <a:ext cx="35661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これから先に得られる報酬の合計</a:t>
            </a:r>
          </a:p>
        </p:txBody>
      </p:sp>
      <p:sp>
        <p:nvSpPr>
          <p:cNvPr id="19" name="term 価値 V"/>
          <p:cNvSpPr/>
          <p:nvPr/>
        </p:nvSpPr>
        <p:spPr>
          <a:xfrm>
            <a:off x="6309360" y="3310128"/>
            <a:ext cx="1737360" cy="676656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価値 V</a:t>
            </a:r>
          </a:p>
        </p:txBody>
      </p:sp>
      <p:sp>
        <p:nvSpPr>
          <p:cNvPr id="20" name="def 価値 V"/>
          <p:cNvSpPr txBox="1"/>
          <p:nvPr/>
        </p:nvSpPr>
        <p:spPr>
          <a:xfrm>
            <a:off x="8138160" y="3291840"/>
            <a:ext cx="35661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いまの状態から、将来得られる return の予想</a:t>
            </a:r>
          </a:p>
        </p:txBody>
      </p:sp>
      <p:sp>
        <p:nvSpPr>
          <p:cNvPr id="21" name="term advantage A"/>
          <p:cNvSpPr/>
          <p:nvPr/>
        </p:nvSpPr>
        <p:spPr>
          <a:xfrm>
            <a:off x="6309360" y="4078224"/>
            <a:ext cx="1737360" cy="676656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advantage A</a:t>
            </a:r>
          </a:p>
        </p:txBody>
      </p:sp>
      <p:sp>
        <p:nvSpPr>
          <p:cNvPr id="22" name="def advantage A"/>
          <p:cNvSpPr txBox="1"/>
          <p:nvPr/>
        </p:nvSpPr>
        <p:spPr>
          <a:xfrm>
            <a:off x="8138160" y="4059936"/>
            <a:ext cx="35661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その行動で、予想よりどれだけ良くなったか（実際 − 予想）</a:t>
            </a:r>
          </a:p>
        </p:txBody>
      </p:sp>
      <p:sp>
        <p:nvSpPr>
          <p:cNvPr id="23" name="term Critic"/>
          <p:cNvSpPr/>
          <p:nvPr/>
        </p:nvSpPr>
        <p:spPr>
          <a:xfrm>
            <a:off x="6309360" y="4846320"/>
            <a:ext cx="1737360" cy="676656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Critic</a:t>
            </a:r>
          </a:p>
        </p:txBody>
      </p:sp>
      <p:sp>
        <p:nvSpPr>
          <p:cNvPr id="24" name="def Critic"/>
          <p:cNvSpPr txBox="1"/>
          <p:nvPr/>
        </p:nvSpPr>
        <p:spPr>
          <a:xfrm>
            <a:off x="8138160" y="4828032"/>
            <a:ext cx="3566160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状態や行動の良さを、数値で答えるモデル。RECAP は価値関数 V、STEAM は時間差を当てるモデル</a:t>
            </a:r>
          </a:p>
        </p:txBody>
      </p:sp>
      <p:sp>
        <p:nvSpPr>
          <p:cNvPr id="25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RL は、結果から良い行動を増やす学習。RECAP・STEAM は、Critic で advantage を作る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背景: なぜ VLA に強化学習か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21208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5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VLA は、模倣学習（SFT）で多様な技能を学べる</a:t>
            </a:r>
          </a:p>
          <a:p>
            <a:pPr algn="l" marL="585216" indent="-256032">
              <a:spcAft>
                <a:spcPts val="500"/>
              </a:spcAft>
              <a:buChar char="–"/>
            </a:pPr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しかし、精度・速度・失敗からの回復には限界がある（RECAP・RL Token）</a:t>
            </a:r>
          </a:p>
          <a:p>
            <a:pPr algn="l" marL="585216" indent="-256032">
              <a:spcAft>
                <a:spcPts val="500"/>
              </a:spcAft>
              <a:buChar char="–"/>
            </a:pPr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デモの収集は高コストで、品質も混在する（STEAM）</a:t>
            </a:r>
          </a:p>
          <a:p>
            <a:pPr algn="l" marL="274320" indent="-256032">
              <a:spcAft>
                <a:spcPts val="5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強化学習（RL）で、自分の経験から改善したい</a:t>
            </a:r>
          </a:p>
          <a:p>
            <a:pPr algn="l" marL="585216" indent="-256032">
              <a:spcAft>
                <a:spcPts val="500"/>
              </a:spcAft>
              <a:buChar char="–"/>
            </a:pPr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練習して熟達する。自律実行・人の介入の経験を使う（RECAP）</a:t>
            </a:r>
          </a:p>
          <a:p>
            <a:pPr algn="l" marL="274320" indent="-256032">
              <a:spcAft>
                <a:spcPts val="5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ただし、VLA への RL には課題がある</a:t>
            </a:r>
          </a:p>
          <a:p>
            <a:pPr algn="l" marL="585216" indent="-256032">
              <a:spcAft>
                <a:spcPts val="500"/>
              </a:spcAft>
              <a:buChar char="–"/>
            </a:pPr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VLA 全体の RL は、大規模なデータが必要で、オンライン適応に向かない。小さいモデルの RL は、VLA の汎化能力を失う（RL Token）</a:t>
            </a:r>
          </a:p>
          <a:p>
            <a:pPr algn="l" marL="585216" indent="-256032">
              <a:spcAft>
                <a:spcPts val="500"/>
              </a:spcAft>
              <a:buChar char="–"/>
            </a:pPr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方策勾配法は、flow matching の VLA に適用しにくい（RECAP）</a:t>
            </a:r>
          </a:p>
          <a:p>
            <a:pPr algn="l" marL="585216" indent="-256032">
              <a:spcAft>
                <a:spcPts val="500"/>
              </a:spcAft>
              <a:buChar char="–"/>
            </a:pPr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従来の報酬・価値モデルは、手作りの報酬や人のラベルが必要でスケールしにくく、デモにない状態では、誤って高い advantage を付けることがある（STEAM）</a:t>
            </a:r>
          </a:p>
        </p:txBody>
      </p:sp>
      <p:sp>
        <p:nvSpPr>
          <p:cNvPr id="5" name="card RECAP"/>
          <p:cNvSpPr/>
          <p:nvPr/>
        </p:nvSpPr>
        <p:spPr>
          <a:xfrm>
            <a:off x="5943600" y="100584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RECAP</a:t>
            </a:r>
          </a:p>
        </p:txBody>
      </p:sp>
      <p:sp>
        <p:nvSpPr>
          <p:cNvPr id="6" name="desc RECAP"/>
          <p:cNvSpPr/>
          <p:nvPr/>
        </p:nvSpPr>
        <p:spPr>
          <a:xfrm>
            <a:off x="7863840" y="1005840"/>
            <a:ext cx="374903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方策の学習目標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Critic は価値関数。成功への近さ V から advantage を作り、「良い」の札を付けて方策を学習する</a:t>
            </a:r>
          </a:p>
        </p:txBody>
      </p:sp>
      <p:sp>
        <p:nvSpPr>
          <p:cNvPr id="7" name="card STEAM"/>
          <p:cNvSpPr/>
          <p:nvPr/>
        </p:nvSpPr>
        <p:spPr>
          <a:xfrm>
            <a:off x="5943600" y="256032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STEAM</a:t>
            </a:r>
          </a:p>
        </p:txBody>
      </p:sp>
      <p:sp>
        <p:nvSpPr>
          <p:cNvPr id="8" name="desc STEAM"/>
          <p:cNvSpPr/>
          <p:nvPr/>
        </p:nvSpPr>
        <p:spPr>
          <a:xfrm>
            <a:off x="7863840" y="2560320"/>
            <a:ext cx="374903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方策の学習目標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Critic は、時間オフセットを当てるモデルのアンサンブル。advantage を作り、同じ札付きの学習で方策を学習する</a:t>
            </a:r>
          </a:p>
        </p:txBody>
      </p:sp>
      <p:sp>
        <p:nvSpPr>
          <p:cNvPr id="9" name="card RL Token"/>
          <p:cNvSpPr/>
          <p:nvPr/>
        </p:nvSpPr>
        <p:spPr>
          <a:xfrm>
            <a:off x="5943600" y="4114800"/>
            <a:ext cx="1828800" cy="137160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RL Token</a:t>
            </a:r>
          </a:p>
        </p:txBody>
      </p:sp>
      <p:sp>
        <p:nvSpPr>
          <p:cNvPr id="10" name="desc RL Token"/>
          <p:cNvSpPr/>
          <p:nvPr/>
        </p:nvSpPr>
        <p:spPr>
          <a:xfrm>
            <a:off x="7863840" y="4114800"/>
            <a:ext cx="3749039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行動の洗練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VLA は凍結。読み出しトークンの上の小さな actor-critic が、オンライン RL で VLA の行動を改善する</a:t>
            </a:r>
          </a:p>
        </p:txBody>
      </p:sp>
      <p:sp>
        <p:nvSpPr>
          <p:cNvPr id="11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RECAP と STEAM は Critic だけが違う。RL Token は、オンラインで行動を洗練する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実験設定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04088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タスク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LIBERO-10 の Task 0「put both the alphabet soup and the tomato sauce in the basket」（2 つの物体をカゴに入れる）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モデル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smolVLA（lerobot/smolvla_libero）。50 ステップの行動チャンクのうち 10 ステップを実行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評価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固定の初期状態 50 個を 1 回ずつ、最大 520 ステップ。指標は success_once（1 度でも成功）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ロールアウトの収集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自律ロールアウト 4,122 本（成功 41.0%）。成功した時点で打ち切る設定で収集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人のデモ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Task 0 の 3 本（836 フレーム）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実装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RLinf（RECAP / STEAM のパイプライン、RL Token の actor-critic）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GPU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RECAP は </a:t>
            </a: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RTX 6000 Ada（48GB）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、それ以外は </a:t>
            </a: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RTX A5000（24GB）</a:t>
            </a:r>
          </a:p>
        </p:txBody>
      </p:sp>
      <p:sp>
        <p:nvSpPr>
          <p:cNvPr id="5" name="stat 50"/>
          <p:cNvSpPr/>
          <p:nvPr/>
        </p:nvSpPr>
        <p:spPr>
          <a:xfrm>
            <a:off x="7955279" y="105156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0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50</a:t>
            </a:r>
          </a:p>
          <a:p>
            <a:pPr algn="ctr"/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初期状態（固定）</a:t>
            </a:r>
          </a:p>
        </p:txBody>
      </p:sp>
      <p:sp>
        <p:nvSpPr>
          <p:cNvPr id="6" name="stat 0.40"/>
          <p:cNvSpPr/>
          <p:nvPr/>
        </p:nvSpPr>
        <p:spPr>
          <a:xfrm>
            <a:off x="7955279" y="256032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0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0.40</a:t>
            </a:r>
          </a:p>
          <a:p>
            <a:pPr algn="ctr"/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ベースの success_once（20/50）</a:t>
            </a:r>
          </a:p>
        </p:txBody>
      </p:sp>
      <p:sp>
        <p:nvSpPr>
          <p:cNvPr id="7" name="stat 4,122"/>
          <p:cNvSpPr/>
          <p:nvPr/>
        </p:nvSpPr>
        <p:spPr>
          <a:xfrm>
            <a:off x="7955279" y="4069079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40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4,122</a:t>
            </a:r>
          </a:p>
          <a:p>
            <a:pPr algn="ctr"/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ロールアウト（成功 41.0%）</a:t>
            </a:r>
          </a:p>
        </p:txBody>
      </p:sp>
      <p:sp>
        <p:nvSpPr>
          <p:cNvPr id="8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評価は 50 エピソード。2 つの評価の差の誤差は約 ±0.1 なので、0.1 程度の差は有意とは言えない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RECAP: 提案（論文: π*0.6）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考え方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うまくいった行動に「良い」の札を付けて学習し、実行時は「良い」の札を付けて動かす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次の 3 ステップを繰り返す</a:t>
            </a:r>
          </a:p>
          <a:p>
            <a:pPr algn="l" marL="585216" indent="-256032">
              <a:spcAft>
                <a:spcPts val="600"/>
              </a:spcAft>
              <a:buChar char="–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① </a:t>
            </a:r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集める</a:t>
            </a: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ロボットを動かし、結果（成功/失敗）を記録する</a:t>
            </a:r>
          </a:p>
          <a:p>
            <a:pPr algn="l" marL="585216" indent="-256032">
              <a:spcAft>
                <a:spcPts val="600"/>
              </a:spcAft>
              <a:buChar char="–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② </a:t>
            </a:r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価値関数を学習する</a:t>
            </a: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「あとどれくらいで成功か」を予想するモデル</a:t>
            </a:r>
          </a:p>
          <a:p>
            <a:pPr algn="l" marL="585216" indent="-256032">
              <a:spcAft>
                <a:spcPts val="600"/>
              </a:spcAft>
              <a:buChar char="–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③ </a:t>
            </a:r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方策を学習する</a:t>
            </a: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良い行動に「良い」の札を付けて、VLA を学習する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利点</a:t>
            </a:r>
          </a:p>
          <a:p>
            <a:pPr algn="l" marL="585216" indent="-256032">
              <a:spcAft>
                <a:spcPts val="600"/>
              </a:spcAft>
              <a:buChar char="–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方策勾配が不要で、flow matching の VLA にもスケールする</a:t>
            </a:r>
          </a:p>
          <a:p>
            <a:pPr algn="l" marL="585216" indent="-256032">
              <a:spcAft>
                <a:spcPts val="600"/>
              </a:spcAft>
              <a:buChar char="–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デモ・自律ロールアウト・人の介入を、同じ枠組みで使える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論文の結果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洗濯物たたみ・エスプレッソ作り・箱の組み立てで、成功率とスループットが改善。難しいタスクでは、失敗率が 1/2 以下</a:t>
            </a:r>
          </a:p>
        </p:txBody>
      </p:sp>
      <p:sp>
        <p:nvSpPr>
          <p:cNvPr id="5" name="① 集める"/>
          <p:cNvSpPr/>
          <p:nvPr/>
        </p:nvSpPr>
        <p:spPr>
          <a:xfrm>
            <a:off x="7040880" y="10972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① 集める</a:t>
            </a:r>
          </a:p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（ロールアウト）</a:t>
            </a:r>
          </a:p>
        </p:txBody>
      </p:sp>
      <p:sp>
        <p:nvSpPr>
          <p:cNvPr id="6" name="② 価値関数 V を学習"/>
          <p:cNvSpPr/>
          <p:nvPr/>
        </p:nvSpPr>
        <p:spPr>
          <a:xfrm>
            <a:off x="7040880" y="251460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② 価値関数 V を学習</a:t>
            </a:r>
          </a:p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（成功への近さを予想）</a:t>
            </a:r>
          </a:p>
        </p:txBody>
      </p:sp>
      <p:sp>
        <p:nvSpPr>
          <p:cNvPr id="7" name="③ 「良い」札付きで"/>
          <p:cNvSpPr/>
          <p:nvPr/>
        </p:nvSpPr>
        <p:spPr>
          <a:xfrm>
            <a:off x="7040880" y="393192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③ 「良い」札付きで</a:t>
            </a:r>
          </a:p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方策を学習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0" y="2011680"/>
            <a:ext cx="0" cy="50292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0" y="3429000"/>
            <a:ext cx="0" cy="50292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332720" y="4389120"/>
            <a:ext cx="91440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247120" y="1554480"/>
            <a:ext cx="0" cy="283464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332720" y="1554480"/>
            <a:ext cx="91440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424160" y="4892040"/>
            <a:ext cx="14630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新しい方策で
再収集</a:t>
            </a:r>
          </a:p>
        </p:txBody>
      </p:sp>
      <p:sp>
        <p:nvSpPr>
          <p:cNvPr id="14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「良い行動」を選んで学習するための札を、価値関数から作る。それが RECAP の核心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RECAP: アーキテクチャ（論文の図）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pic>
        <p:nvPicPr>
          <p:cNvPr id="4" name="fig_recap.png" descr="fig_re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449" y="960120"/>
            <a:ext cx="5559421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22392"/>
            <a:ext cx="60350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図: π*0.6 論文（Physical Intelligence）図 3 より</a:t>
            </a:r>
          </a:p>
        </p:txBody>
      </p:sp>
      <p:sp>
        <p:nvSpPr>
          <p:cNvPr id="6" name="no 1"/>
          <p:cNvSpPr/>
          <p:nvPr/>
        </p:nvSpPr>
        <p:spPr>
          <a:xfrm>
            <a:off x="6766560" y="1005840"/>
            <a:ext cx="457200" cy="100584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note 1"/>
          <p:cNvSpPr/>
          <p:nvPr/>
        </p:nvSpPr>
        <p:spPr>
          <a:xfrm>
            <a:off x="7269480" y="1005840"/>
            <a:ext cx="4343400" cy="10058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価値関数（図の下）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画像と指示文から、価値 V を出す（SigLIP + Gemma 270M に、value head を付けたもの）</a:t>
            </a:r>
          </a:p>
        </p:txBody>
      </p:sp>
      <p:sp>
        <p:nvSpPr>
          <p:cNvPr id="8" name="no 2"/>
          <p:cNvSpPr/>
          <p:nvPr/>
        </p:nvSpPr>
        <p:spPr>
          <a:xfrm>
            <a:off x="6766560" y="2084832"/>
            <a:ext cx="457200" cy="100584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note 2"/>
          <p:cNvSpPr/>
          <p:nvPr/>
        </p:nvSpPr>
        <p:spPr>
          <a:xfrm>
            <a:off x="7269480" y="2084832"/>
            <a:ext cx="4343400" cy="10058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advantage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 = r + V(o_t+N) − V(o_t)。行動の前後で、成功に近づいたか</a:t>
            </a:r>
          </a:p>
        </p:txBody>
      </p:sp>
      <p:sp>
        <p:nvSpPr>
          <p:cNvPr id="10" name="no 3"/>
          <p:cNvSpPr/>
          <p:nvPr/>
        </p:nvSpPr>
        <p:spPr>
          <a:xfrm>
            <a:off x="6766560" y="3163824"/>
            <a:ext cx="457200" cy="100584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note 3"/>
          <p:cNvSpPr/>
          <p:nvPr/>
        </p:nvSpPr>
        <p:spPr>
          <a:xfrm>
            <a:off x="7269480" y="3163824"/>
            <a:ext cx="4343400" cy="10058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2 値化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 &gt; ε なら「良い」。この札（metadata）を、VLA の入力に加える</a:t>
            </a:r>
          </a:p>
        </p:txBody>
      </p:sp>
      <p:sp>
        <p:nvSpPr>
          <p:cNvPr id="12" name="no 4"/>
          <p:cNvSpPr/>
          <p:nvPr/>
        </p:nvSpPr>
        <p:spPr>
          <a:xfrm>
            <a:off x="6766560" y="4242816"/>
            <a:ext cx="457200" cy="100584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note 4"/>
          <p:cNvSpPr/>
          <p:nvPr/>
        </p:nvSpPr>
        <p:spPr>
          <a:xfrm>
            <a:off x="7269480" y="4242816"/>
            <a:ext cx="4343400" cy="10058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VLA（図の上）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画像・指示文・札から、行動を出す。離散化した行動と、action expert（860M）が出す連続の行動</a:t>
            </a:r>
          </a:p>
        </p:txBody>
      </p:sp>
      <p:sp>
        <p:nvSpPr>
          <p:cNvPr id="14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価値関数が作った「良い/悪い」の札を、VLA の入力に加えて学習する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RECAP: return の計算方法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① 1 ステップごとの報酬</a:t>
            </a:r>
          </a:p>
        </p:txBody>
      </p:sp>
      <p:sp>
        <p:nvSpPr>
          <p:cNvPr id="5" name="succ label"/>
          <p:cNvSpPr/>
          <p:nvPr/>
        </p:nvSpPr>
        <p:spPr>
          <a:xfrm>
            <a:off x="548640" y="137160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成功</a:t>
            </a:r>
          </a:p>
        </p:txBody>
      </p:sp>
      <p:sp>
        <p:nvSpPr>
          <p:cNvPr id="6" name="fail label"/>
          <p:cNvSpPr/>
          <p:nvPr/>
        </p:nvSpPr>
        <p:spPr>
          <a:xfrm>
            <a:off x="548640" y="192024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失敗</a:t>
            </a:r>
          </a:p>
        </p:txBody>
      </p:sp>
      <p:sp>
        <p:nvSpPr>
          <p:cNvPr id="7" name="s0"/>
          <p:cNvSpPr/>
          <p:nvPr/>
        </p:nvSpPr>
        <p:spPr>
          <a:xfrm>
            <a:off x="1463040" y="1371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−1</a:t>
            </a:r>
          </a:p>
        </p:txBody>
      </p:sp>
      <p:sp>
        <p:nvSpPr>
          <p:cNvPr id="8" name="f0"/>
          <p:cNvSpPr/>
          <p:nvPr/>
        </p:nvSpPr>
        <p:spPr>
          <a:xfrm>
            <a:off x="1463040" y="192024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−1</a:t>
            </a:r>
          </a:p>
        </p:txBody>
      </p:sp>
      <p:sp>
        <p:nvSpPr>
          <p:cNvPr id="9" name="s1"/>
          <p:cNvSpPr/>
          <p:nvPr/>
        </p:nvSpPr>
        <p:spPr>
          <a:xfrm>
            <a:off x="2194560" y="1371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−1</a:t>
            </a:r>
          </a:p>
        </p:txBody>
      </p:sp>
      <p:sp>
        <p:nvSpPr>
          <p:cNvPr id="10" name="f1"/>
          <p:cNvSpPr/>
          <p:nvPr/>
        </p:nvSpPr>
        <p:spPr>
          <a:xfrm>
            <a:off x="2194560" y="192024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−1</a:t>
            </a:r>
          </a:p>
        </p:txBody>
      </p:sp>
      <p:sp>
        <p:nvSpPr>
          <p:cNvPr id="11" name="s2"/>
          <p:cNvSpPr/>
          <p:nvPr/>
        </p:nvSpPr>
        <p:spPr>
          <a:xfrm>
            <a:off x="2926080" y="1371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−1</a:t>
            </a:r>
          </a:p>
        </p:txBody>
      </p:sp>
      <p:sp>
        <p:nvSpPr>
          <p:cNvPr id="12" name="f2"/>
          <p:cNvSpPr/>
          <p:nvPr/>
        </p:nvSpPr>
        <p:spPr>
          <a:xfrm>
            <a:off x="2926080" y="192024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−1</a:t>
            </a:r>
          </a:p>
        </p:txBody>
      </p:sp>
      <p:sp>
        <p:nvSpPr>
          <p:cNvPr id="13" name="s3"/>
          <p:cNvSpPr/>
          <p:nvPr/>
        </p:nvSpPr>
        <p:spPr>
          <a:xfrm>
            <a:off x="3657600" y="1371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14" name="f3"/>
          <p:cNvSpPr/>
          <p:nvPr/>
        </p:nvSpPr>
        <p:spPr>
          <a:xfrm>
            <a:off x="3657600" y="192024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15" name="s4"/>
          <p:cNvSpPr/>
          <p:nvPr/>
        </p:nvSpPr>
        <p:spPr>
          <a:xfrm>
            <a:off x="4389120" y="1371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−1</a:t>
            </a:r>
          </a:p>
        </p:txBody>
      </p:sp>
      <p:sp>
        <p:nvSpPr>
          <p:cNvPr id="16" name="f4"/>
          <p:cNvSpPr/>
          <p:nvPr/>
        </p:nvSpPr>
        <p:spPr>
          <a:xfrm>
            <a:off x="4389120" y="192024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−1</a:t>
            </a:r>
          </a:p>
        </p:txBody>
      </p:sp>
      <p:sp>
        <p:nvSpPr>
          <p:cNvPr id="17" name="s5"/>
          <p:cNvSpPr/>
          <p:nvPr/>
        </p:nvSpPr>
        <p:spPr>
          <a:xfrm>
            <a:off x="5120640" y="137160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</a:t>
            </a:r>
          </a:p>
        </p:txBody>
      </p:sp>
      <p:sp>
        <p:nvSpPr>
          <p:cNvPr id="18" name="f5"/>
          <p:cNvSpPr/>
          <p:nvPr/>
        </p:nvSpPr>
        <p:spPr>
          <a:xfrm>
            <a:off x="5120640" y="1920240"/>
            <a:ext cx="658368" cy="45720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−300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395728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フレーム 0 → 最後のフレーム（最後だけ、結果で値が違う）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432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② return = そのフレーム以降の報酬の合計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08960"/>
            <a:ext cx="5394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3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return_t = r_t + r_{t+1} + … + r_最後（割引なし）</a:t>
            </a:r>
          </a:p>
          <a:p>
            <a:pPr algn="l" marL="274320" indent="-256032">
              <a:spcAft>
                <a:spcPts val="3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早く成功するほど、return は 0 に近い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886200"/>
            <a:ext cx="53949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③ 正規化（価値モデルの正解にするため）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51960"/>
            <a:ext cx="539496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最大 520 フレームの失敗の最小値 −819 で割り、[−1, 0] にそろえる（0 が成功、−1 が最悪）。価値モデルは、この値を当てる</a:t>
            </a:r>
          </a:p>
        </p:txBody>
      </p:sp>
      <p:sp>
        <p:nvSpPr>
          <p:cNvPr id="24" name="ex succ"/>
          <p:cNvSpPr/>
          <p:nvPr/>
        </p:nvSpPr>
        <p:spPr>
          <a:xfrm>
            <a:off x="548640" y="484632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成功（260 フレーム）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100 フレーム目: −159 → −0.19</a:t>
            </a:r>
          </a:p>
        </p:txBody>
      </p:sp>
      <p:sp>
        <p:nvSpPr>
          <p:cNvPr id="25" name="ex fail"/>
          <p:cNvSpPr/>
          <p:nvPr/>
        </p:nvSpPr>
        <p:spPr>
          <a:xfrm>
            <a:off x="3337560" y="4846320"/>
            <a:ext cx="2606040" cy="77724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失敗（520 フレーム）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100 フレーム目: −719 → −0.88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6217920" y="914400"/>
          <a:ext cx="53949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217920" y="5029200"/>
            <a:ext cx="53949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横軸: フレーム番号。縦軸: return（正規化前）。傾きは 1 ステップあたり +1</a:t>
            </a:r>
          </a:p>
        </p:txBody>
      </p:sp>
      <p:sp>
        <p:nvSpPr>
          <p:cNvPr id="28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return は、「そのフレームから先の報酬の合計」。成功に近いほど 0、失敗は −300 の罰の分だけ低くなる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RECAP: 価値 V の算出方法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005840"/>
          <a:ext cx="63093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297680"/>
            <a:ext cx="63093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横軸: ビンの値（−1 = 最悪、0 = 成功）。縦軸: そのビンの確率</a:t>
            </a:r>
          </a:p>
        </p:txBody>
      </p:sp>
      <p:sp>
        <p:nvSpPr>
          <p:cNvPr id="6" name="step1"/>
          <p:cNvSpPr/>
          <p:nvPr/>
        </p:nvSpPr>
        <p:spPr>
          <a:xfrm>
            <a:off x="7132320" y="1005840"/>
            <a:ext cx="4480560" cy="118872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① 画像と指示文を、価値モデルに入れる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出力: 201 個のビンの確率（足して 1）</a:t>
            </a:r>
          </a:p>
        </p:txBody>
      </p:sp>
      <p:sp>
        <p:nvSpPr>
          <p:cNvPr id="7" name="step2"/>
          <p:cNvSpPr/>
          <p:nvPr/>
        </p:nvSpPr>
        <p:spPr>
          <a:xfrm>
            <a:off x="7132320" y="2331720"/>
            <a:ext cx="4480560" cy="12801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② 期待値をとる</a:t>
            </a:r>
          </a:p>
          <a:p>
            <a:pPr algn="l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 = Σ（ビンの値 × そのビンの確率）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確率の重みつきの平均</a:t>
            </a:r>
          </a:p>
        </p:txBody>
      </p:sp>
      <p:sp>
        <p:nvSpPr>
          <p:cNvPr id="8" name="step3"/>
          <p:cNvSpPr/>
          <p:nvPr/>
        </p:nvSpPr>
        <p:spPr>
          <a:xfrm>
            <a:off x="7132320" y="3749039"/>
            <a:ext cx="4480560" cy="86868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③ V は、「正規化した return の予想」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0 に近いほど成功に近い。例: V = −0.30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372600" y="2194560"/>
            <a:ext cx="0" cy="13716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372600" y="3611880"/>
            <a:ext cx="0" cy="137159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sage"/>
          <p:cNvSpPr/>
          <p:nvPr/>
        </p:nvSpPr>
        <p:spPr>
          <a:xfrm>
            <a:off x="548640" y="4754880"/>
            <a:ext cx="1106424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使い道: 2 つのフレームの V の差から advantage を作る（A = r + V(o_t+10) − V(o_t)）。V が上がれば、その行動は「良い」</a:t>
            </a:r>
          </a:p>
        </p:txBody>
      </p:sp>
      <p:sp>
        <p:nvSpPr>
          <p:cNvPr id="12" name="key point"/>
          <p:cNvSpPr/>
          <p:nvPr/>
        </p:nvSpPr>
        <p:spPr>
          <a:xfrm>
            <a:off x="548640" y="5760720"/>
            <a:ext cx="11064240" cy="566928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価値 V は、ビンの確率の期待値。「成功まであとどれくらいか」を、1 つの数値で表す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 ①: 価値関数の学習（入力・出力・更新）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更新する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55648" y="868680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凍結（更新しない）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94176" y="8686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入力・出力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8686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損失</a:t>
            </a:r>
          </a:p>
        </p:txBody>
      </p:sp>
      <p:sp>
        <p:nvSpPr>
          <p:cNvPr id="8" name="in"/>
          <p:cNvSpPr/>
          <p:nvPr/>
        </p:nvSpPr>
        <p:spPr>
          <a:xfrm>
            <a:off x="548640" y="128016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カメラ画像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指示文</a:t>
            </a:r>
          </a:p>
        </p:txBody>
      </p:sp>
      <p:sp>
        <p:nvSpPr>
          <p:cNvPr id="9" name="model"/>
          <p:cNvSpPr/>
          <p:nvPr/>
        </p:nvSpPr>
        <p:spPr>
          <a:xfrm>
            <a:off x="3383280" y="128016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価値モデル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SigLIP2 + Gemma3-270M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更新する</a:t>
            </a:r>
          </a:p>
        </p:txBody>
      </p:sp>
      <p:sp>
        <p:nvSpPr>
          <p:cNvPr id="10" name="out"/>
          <p:cNvSpPr/>
          <p:nvPr/>
        </p:nvSpPr>
        <p:spPr>
          <a:xfrm>
            <a:off x="6766560" y="1280160"/>
            <a:ext cx="2377440" cy="109728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出力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201 個のビンの確率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（成功への近さの分布）</a:t>
            </a:r>
          </a:p>
        </p:txBody>
      </p:sp>
      <p:sp>
        <p:nvSpPr>
          <p:cNvPr id="11" name="result"/>
          <p:cNvSpPr/>
          <p:nvPr/>
        </p:nvSpPr>
        <p:spPr>
          <a:xfrm>
            <a:off x="9692640" y="128016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V（価値）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確率の期待値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例: −0.12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182880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182880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182880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acher"/>
          <p:cNvSpPr/>
          <p:nvPr/>
        </p:nvSpPr>
        <p:spPr>
          <a:xfrm>
            <a:off x="548640" y="2834639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正解</a:t>
            </a:r>
          </a:p>
          <a:p>
            <a:pPr algn="ctr"/>
            <a:r>
              <a:rPr sz="11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その後の実際の return を</a:t>
            </a:r>
          </a:p>
          <a:p>
            <a:pPr algn="ctr"/>
            <a:r>
              <a:rPr sz="11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1 つのビンにしたもの</a:t>
            </a:r>
          </a:p>
        </p:txBody>
      </p:sp>
      <p:sp>
        <p:nvSpPr>
          <p:cNvPr id="16" name="loss"/>
          <p:cNvSpPr/>
          <p:nvPr/>
        </p:nvSpPr>
        <p:spPr>
          <a:xfrm>
            <a:off x="3383280" y="2834639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損失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予想の分布と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正解のズレ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3246120"/>
            <a:ext cx="27432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5279" y="2377439"/>
            <a:ext cx="0" cy="868681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217920" y="3246120"/>
            <a:ext cx="1737359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800600" y="2377439"/>
            <a:ext cx="0" cy="457200"/>
          </a:xfrm>
          <a:prstGeom prst="line">
            <a:avLst/>
          </a:prstGeom>
          <a:ln w="25400">
            <a:solidFill>
              <a:srgbClr val="D96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0" y="2395728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6B2B"/>
                </a:solidFill>
                <a:latin typeface="Yu Gothic"/>
                <a:ea typeface="Yu Gothic"/>
                <a:cs typeface="Yu Gothic"/>
              </a:rPr>
              <a:t>損失が小さくなるよう更新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3794760"/>
          <a:ext cx="11064240" cy="18836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96012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ロールアウトの 1 フレーム（カメラ画像、指示文）。成功・失敗の両方のデータを使う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出力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201 個のビンの確率。確率の期待値が、価値 V（−1 〜 0。0 が成功）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正解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そのフレームから先の return（1 ステップ −1、失敗は終端で −300）を正規化し、ビンにしたもの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損失 / 更新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交差エントロピーを小さくするよう、価値モデルのパラメータを更新（VLA は更新しない）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23" name="key point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価値モデルは、画像を見て「成功まであとどれくらいか」を当てる問題として学習する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 ②: advantage の計算と「良い/悪い」の札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4" name="v0"/>
          <p:cNvSpPr/>
          <p:nvPr/>
        </p:nvSpPr>
        <p:spPr>
          <a:xfrm>
            <a:off x="548640" y="105156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いまの価値 V(o_t)</a:t>
            </a:r>
          </a:p>
        </p:txBody>
      </p:sp>
      <p:sp>
        <p:nvSpPr>
          <p:cNvPr id="5" name="v1"/>
          <p:cNvSpPr/>
          <p:nvPr/>
        </p:nvSpPr>
        <p:spPr>
          <a:xfrm>
            <a:off x="548640" y="192024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10 ステップ後の価値 V(o_t+10)</a:t>
            </a:r>
          </a:p>
        </p:txBody>
      </p:sp>
      <p:sp>
        <p:nvSpPr>
          <p:cNvPr id="6" name="r"/>
          <p:cNvSpPr/>
          <p:nvPr/>
        </p:nvSpPr>
        <p:spPr>
          <a:xfrm>
            <a:off x="548640" y="2788920"/>
            <a:ext cx="3291840" cy="7315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その間の報酬の合計 r</a:t>
            </a:r>
          </a:p>
        </p:txBody>
      </p:sp>
      <p:sp>
        <p:nvSpPr>
          <p:cNvPr id="7" name="adv"/>
          <p:cNvSpPr/>
          <p:nvPr/>
        </p:nvSpPr>
        <p:spPr>
          <a:xfrm>
            <a:off x="4572000" y="1508760"/>
            <a:ext cx="2926080" cy="155448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advantage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 = r + V(o_t+10) − V(o_t)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（行動の前後の変化）</a:t>
            </a:r>
          </a:p>
        </p:txBody>
      </p:sp>
      <p:sp>
        <p:nvSpPr>
          <p:cNvPr id="8" name="pos"/>
          <p:cNvSpPr/>
          <p:nvPr/>
        </p:nvSpPr>
        <p:spPr>
          <a:xfrm>
            <a:off x="8229600" y="1051560"/>
            <a:ext cx="3383280" cy="105156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上位 30%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→ positive（良い）</a:t>
            </a:r>
          </a:p>
        </p:txBody>
      </p:sp>
      <p:sp>
        <p:nvSpPr>
          <p:cNvPr id="9" name="neg"/>
          <p:cNvSpPr/>
          <p:nvPr/>
        </p:nvSpPr>
        <p:spPr>
          <a:xfrm>
            <a:off x="8229600" y="2468880"/>
            <a:ext cx="3383280" cy="105156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それ以外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→ negative（札なし）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1417320"/>
            <a:ext cx="731520" cy="86868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40480" y="2286000"/>
            <a:ext cx="73152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840480" y="2286000"/>
            <a:ext cx="731520" cy="86868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98079" y="1554480"/>
            <a:ext cx="731521" cy="73152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2286000"/>
            <a:ext cx="731521" cy="64008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749039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例（数値は説明用）</a:t>
            </a:r>
          </a:p>
        </p:txBody>
      </p:sp>
      <p:sp>
        <p:nvSpPr>
          <p:cNvPr id="16" name="ex V(o_t)"/>
          <p:cNvSpPr/>
          <p:nvPr/>
        </p:nvSpPr>
        <p:spPr>
          <a:xfrm>
            <a:off x="548640" y="4114800"/>
            <a:ext cx="2011680" cy="8229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V(o_t) = −0.50</a:t>
            </a:r>
          </a:p>
        </p:txBody>
      </p:sp>
      <p:sp>
        <p:nvSpPr>
          <p:cNvPr id="17" name="ex V(o_t+"/>
          <p:cNvSpPr/>
          <p:nvPr/>
        </p:nvSpPr>
        <p:spPr>
          <a:xfrm>
            <a:off x="2697480" y="4114800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V(o_t+10) = −0.45</a:t>
            </a:r>
          </a:p>
        </p:txBody>
      </p:sp>
      <p:sp>
        <p:nvSpPr>
          <p:cNvPr id="18" name="ex r = −0"/>
          <p:cNvSpPr/>
          <p:nvPr/>
        </p:nvSpPr>
        <p:spPr>
          <a:xfrm>
            <a:off x="4937760" y="4114800"/>
            <a:ext cx="1783080" cy="8229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 = −0.01</a:t>
            </a:r>
          </a:p>
        </p:txBody>
      </p:sp>
      <p:sp>
        <p:nvSpPr>
          <p:cNvPr id="19" name="ex A = −0"/>
          <p:cNvSpPr/>
          <p:nvPr/>
        </p:nvSpPr>
        <p:spPr>
          <a:xfrm>
            <a:off x="6903720" y="4114800"/>
            <a:ext cx="260604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 = −0.01 − 0.45 + 0.50 = +0.04</a:t>
            </a:r>
          </a:p>
        </p:txBody>
      </p:sp>
      <p:sp>
        <p:nvSpPr>
          <p:cNvPr id="20" name="ex 閾値 0.0"/>
          <p:cNvSpPr/>
          <p:nvPr/>
        </p:nvSpPr>
        <p:spPr>
          <a:xfrm>
            <a:off x="9646920" y="4114800"/>
            <a:ext cx="1965960" cy="82296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閾値 0.02 より大きい → positive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074920"/>
            <a:ext cx="110642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閾値は、全データの advantage を並べて、上位 30% に入る値。人のデモは、全て positive にする</a:t>
            </a:r>
          </a:p>
        </p:txBody>
      </p:sp>
      <p:sp>
        <p:nvSpPr>
          <p:cNvPr id="22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行動の前後で、成功に近づいたか（V が上がったか）で、「良い」の札を付けるフレームを決める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 ③: 方策の学習（入力・出力・更新）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学習時</a:t>
            </a:r>
          </a:p>
        </p:txBody>
      </p:sp>
      <p:sp>
        <p:nvSpPr>
          <p:cNvPr id="5" name="in"/>
          <p:cNvSpPr/>
          <p:nvPr/>
        </p:nvSpPr>
        <p:spPr>
          <a:xfrm>
            <a:off x="548640" y="128016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カメラ画像・関節状態・指示文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+ 札「Advantage: positive」</a:t>
            </a:r>
          </a:p>
        </p:txBody>
      </p:sp>
      <p:sp>
        <p:nvSpPr>
          <p:cNvPr id="6" name="vla"/>
          <p:cNvSpPr/>
          <p:nvPr/>
        </p:nvSpPr>
        <p:spPr>
          <a:xfrm>
            <a:off x="4114800" y="128016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VLA（smolVLA）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更新する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（損失を小さく）</a:t>
            </a:r>
          </a:p>
        </p:txBody>
      </p:sp>
      <p:sp>
        <p:nvSpPr>
          <p:cNvPr id="7" name="pred"/>
          <p:cNvSpPr/>
          <p:nvPr/>
        </p:nvSpPr>
        <p:spPr>
          <a:xfrm>
            <a:off x="7040880" y="1280160"/>
            <a:ext cx="2011680" cy="11887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予測した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行動チャンク</a:t>
            </a:r>
          </a:p>
        </p:txBody>
      </p:sp>
      <p:sp>
        <p:nvSpPr>
          <p:cNvPr id="8" name="loss"/>
          <p:cNvSpPr/>
          <p:nvPr/>
        </p:nvSpPr>
        <p:spPr>
          <a:xfrm>
            <a:off x="9601200" y="1280160"/>
            <a:ext cx="2011680" cy="118872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損失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予測と実際の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行動のズレ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1874519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92240" y="1874519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52560" y="1874519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acher"/>
          <p:cNvSpPr/>
          <p:nvPr/>
        </p:nvSpPr>
        <p:spPr>
          <a:xfrm>
            <a:off x="7040880" y="2788920"/>
            <a:ext cx="4572000" cy="5029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正解: データの実際の行動チャンク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0607040" y="2468880"/>
            <a:ext cx="0" cy="32004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697480"/>
            <a:ext cx="6217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positive のフレームには札を付け、10% の確率で札を外す（札なしの方策も一緒に学習）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4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2E8B57"/>
                </a:solidFill>
                <a:latin typeface="Yu Gothic"/>
                <a:ea typeface="Yu Gothic"/>
                <a:cs typeface="Yu Gothic"/>
              </a:rPr>
              <a:t>実行時（評価）</a:t>
            </a:r>
          </a:p>
        </p:txBody>
      </p:sp>
      <p:sp>
        <p:nvSpPr>
          <p:cNvPr id="16" name="in2"/>
          <p:cNvSpPr/>
          <p:nvPr/>
        </p:nvSpPr>
        <p:spPr>
          <a:xfrm>
            <a:off x="548640" y="3886200"/>
            <a:ext cx="3017520" cy="118872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カメラ画像・関節状態・指示文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+ 札「Advantage: positive」</a:t>
            </a:r>
          </a:p>
        </p:txBody>
      </p:sp>
      <p:sp>
        <p:nvSpPr>
          <p:cNvPr id="17" name="vla2"/>
          <p:cNvSpPr/>
          <p:nvPr/>
        </p:nvSpPr>
        <p:spPr>
          <a:xfrm>
            <a:off x="4114800" y="3886200"/>
            <a:ext cx="2377440" cy="118872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VLA（学習済み）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更新しない</a:t>
            </a:r>
          </a:p>
        </p:txBody>
      </p:sp>
      <p:sp>
        <p:nvSpPr>
          <p:cNvPr id="18" name="out2"/>
          <p:cNvSpPr/>
          <p:nvPr/>
        </p:nvSpPr>
        <p:spPr>
          <a:xfrm>
            <a:off x="7040880" y="3886200"/>
            <a:ext cx="4572000" cy="118872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出力: 行動チャンク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「良い」の札を付けたので、良い行動が出やすい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66160" y="448056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92240" y="448056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52120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更新する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755648" y="5212080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凍結（更新しない）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94176" y="52120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入力・出力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01183" y="52120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損失</a:t>
            </a:r>
          </a:p>
        </p:txBody>
      </p:sp>
      <p:sp>
        <p:nvSpPr>
          <p:cNvPr id="25" name="key point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学習では「良い札付き」のデータを多く見せ、実行時に「良い」の札を付けて、良い行動を引き出す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RECAP: 式の補足（論文の式）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4" name="num 1"/>
          <p:cNvSpPr/>
          <p:nvPr/>
        </p:nvSpPr>
        <p:spPr>
          <a:xfrm>
            <a:off x="548640" y="950976"/>
            <a:ext cx="502920" cy="502920"/>
          </a:xfrm>
          <a:prstGeom prst="ellipse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desc 1"/>
          <p:cNvSpPr txBox="1"/>
          <p:nvPr/>
        </p:nvSpPr>
        <p:spPr>
          <a:xfrm>
            <a:off x="1234440" y="877824"/>
            <a:ext cx="104241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価値関数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「これから先の return が、どのビンに入るか」を、確率で答える。正解のビンとのズレ（交差エントロピー H）を小さくする</a:t>
            </a:r>
          </a:p>
        </p:txBody>
      </p:sp>
      <p:sp>
        <p:nvSpPr>
          <p:cNvPr id="6" name="equation 1"/>
          <p:cNvSpPr/>
          <p:nvPr/>
        </p:nvSpPr>
        <p:spPr>
          <a:xfrm>
            <a:off x="1234440" y="1517904"/>
            <a:ext cx="10378440" cy="5486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min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φ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 E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τ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[ Σ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H( R</a:t>
            </a:r>
            <a:r>
              <a:rPr sz="1800" b="0" i="0" baseline="30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B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(τ), p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φ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(V | o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, ℓ) ) ]　…(1)</a:t>
            </a:r>
          </a:p>
        </p:txBody>
      </p:sp>
      <p:sp>
        <p:nvSpPr>
          <p:cNvPr id="7" name="num 2"/>
          <p:cNvSpPr/>
          <p:nvPr/>
        </p:nvSpPr>
        <p:spPr>
          <a:xfrm>
            <a:off x="548640" y="2112264"/>
            <a:ext cx="502920" cy="502920"/>
          </a:xfrm>
          <a:prstGeom prst="ellipse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desc 2"/>
          <p:cNvSpPr txBox="1"/>
          <p:nvPr/>
        </p:nvSpPr>
        <p:spPr>
          <a:xfrm>
            <a:off x="1234440" y="2039112"/>
            <a:ext cx="104241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advantage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行動の前後で、成功への近さがどれだけ変わったか（N ステップ先まで見る）</a:t>
            </a:r>
          </a:p>
        </p:txBody>
      </p:sp>
      <p:sp>
        <p:nvSpPr>
          <p:cNvPr id="9" name="equation 2"/>
          <p:cNvSpPr/>
          <p:nvPr/>
        </p:nvSpPr>
        <p:spPr>
          <a:xfrm>
            <a:off x="1234440" y="2679192"/>
            <a:ext cx="10378440" cy="5486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A(o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, a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) = r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t:t+N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+ V(o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t+N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) − V(o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)</a:t>
            </a:r>
          </a:p>
        </p:txBody>
      </p:sp>
      <p:sp>
        <p:nvSpPr>
          <p:cNvPr id="10" name="num 3"/>
          <p:cNvSpPr/>
          <p:nvPr/>
        </p:nvSpPr>
        <p:spPr>
          <a:xfrm>
            <a:off x="548640" y="3273552"/>
            <a:ext cx="502920" cy="502920"/>
          </a:xfrm>
          <a:prstGeom prst="ellipse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desc 3"/>
          <p:cNvSpPr txBox="1"/>
          <p:nvPr/>
        </p:nvSpPr>
        <p:spPr>
          <a:xfrm>
            <a:off x="1234440" y="3200400"/>
            <a:ext cx="104241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方策の学習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「良い」の札付きと、札なしの両方で、データの行動を再現する（I = 1 が「良い」。ε_ℓ は閾値）</a:t>
            </a:r>
          </a:p>
        </p:txBody>
      </p:sp>
      <p:sp>
        <p:nvSpPr>
          <p:cNvPr id="12" name="equation 3"/>
          <p:cNvSpPr/>
          <p:nvPr/>
        </p:nvSpPr>
        <p:spPr>
          <a:xfrm>
            <a:off x="1234440" y="3840480"/>
            <a:ext cx="10378440" cy="5486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min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θ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 E[ − log π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θ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(a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| o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, ℓ) − α log π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θ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(a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| I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, o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, ℓ) ] ,　I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= 1[ A &gt; ε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ℓ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]　…(3)</a:t>
            </a:r>
          </a:p>
        </p:txBody>
      </p:sp>
      <p:sp>
        <p:nvSpPr>
          <p:cNvPr id="13" name="num 4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4" name="desc 4"/>
          <p:cNvSpPr txBox="1"/>
          <p:nvPr/>
        </p:nvSpPr>
        <p:spPr>
          <a:xfrm>
            <a:off x="1234440" y="4361688"/>
            <a:ext cx="104241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実行時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札を「良い」に固定して行動を生成する。β &gt; 1 にすると、「良い」の方向をさらに強調できる</a:t>
            </a:r>
          </a:p>
        </p:txBody>
      </p:sp>
      <p:sp>
        <p:nvSpPr>
          <p:cNvPr id="15" name="equation 4"/>
          <p:cNvSpPr/>
          <p:nvPr/>
        </p:nvSpPr>
        <p:spPr>
          <a:xfrm>
            <a:off x="1234440" y="5001768"/>
            <a:ext cx="10378440" cy="5486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π̂(a | o, ℓ) ∝ π(a | o, ℓ) · ( π(a | I, o, ℓ) / π(a | o, ℓ) )</a:t>
            </a:r>
            <a:r>
              <a:rPr sz="1800" b="0" i="0" baseline="30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β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　…(2)</a:t>
            </a:r>
          </a:p>
        </p:txBody>
      </p:sp>
      <p:sp>
        <p:nvSpPr>
          <p:cNvPr id="16" name="key point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方策は「札あり」と「札なし」の両方を表現できるので、改善確率を明示的に推定しなくてよい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RECAP: smolVLA での実装（私たちの実験）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4" name="step 0"/>
          <p:cNvSpPr/>
          <p:nvPr/>
        </p:nvSpPr>
        <p:spPr>
          <a:xfrm>
            <a:off x="548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return の計算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1"/>
          <p:cNvSpPr/>
          <p:nvPr/>
        </p:nvSpPr>
        <p:spPr>
          <a:xfrm>
            <a:off x="2834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価値モデルの学習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 2"/>
          <p:cNvSpPr/>
          <p:nvPr/>
        </p:nvSpPr>
        <p:spPr>
          <a:xfrm>
            <a:off x="5120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Step3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advantage の計算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ep 3"/>
          <p:cNvSpPr/>
          <p:nvPr/>
        </p:nvSpPr>
        <p:spPr>
          <a:xfrm>
            <a:off x="7406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Step4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条件付き SFT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ep 4"/>
          <p:cNvSpPr/>
          <p:nvPr/>
        </p:nvSpPr>
        <p:spPr>
          <a:xfrm>
            <a:off x="9692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Step5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シミュレータで評価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110642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Step1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報酬は 1 ステップごとに −1、失敗は終端で −300。return を [−819, 0] に正規化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Step2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価値モデル（SigLIP2 + Gemma3-270M）が、201 ビンの分布を予測。</a:t>
            </a: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成功した時点で打ち切る設定で収集した 4,122 本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で学習（</a:t>
            </a: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4,000 step、20.6 時間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6000 Ada 48GB）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Step3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A = r_{t:t+10} + V(o_{t+10}) − V(o_t)。上位 30% を positive（人のデモは全て positive）。閾値は全データセットを結合して 1 つに決める（</a:t>
            </a: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62.3 万サンプル、4.2 時間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6000 Ada 48GB）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Step4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プロンプトに "Advantage: positive" を付けて SFT（ドロップアウト 0.1）。評価も positive プロンプトで行う（</a:t>
            </a: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2,000 step、20.3 時間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6000 Ada 48GB）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Step5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success_once は </a:t>
            </a:r>
            <a:r>
              <a:rPr sz="17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0.50</a:t>
            </a:r>
            <a:r>
              <a:rPr sz="17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（最良。ベース 0.40）。Step4 は途中段階（2,000 step 前後、計画は 30,000 step）で、評価は 0.44〜0.50 の範囲で変動</a:t>
            </a:r>
          </a:p>
        </p:txBody>
      </p:sp>
      <p:sp>
        <p:nvSpPr>
          <p:cNvPr id="14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return の計算 → 価値モデルの学習 → advantage の計算 → 札付き SFT → 評価、の順に進める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STEAM: 提案（論文）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85216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STEAM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Self-supervised Temporal Ensemble Advantage Modeling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考え方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デモ動画の 2 つのフレームを見せて、「何ステップ離れているか」を当てる critic を学習する</a:t>
            </a:r>
          </a:p>
          <a:p>
            <a:pPr algn="l" marL="585216" indent="-256032">
              <a:spcAft>
                <a:spcPts val="600"/>
              </a:spcAft>
              <a:buChar char="–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答えは、デモの時間から自動で分かる（人のラベルや報酬が不要 = 自己教師あり）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前進 = 良い行動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時間が進む方向に動く行動に、高いスコアを付ける</a:t>
            </a:r>
          </a:p>
          <a:p>
            <a:pPr algn="l" marL="585216" indent="-256032">
              <a:spcAft>
                <a:spcPts val="600"/>
              </a:spcAft>
              <a:buChar char="–"/>
            </a:pPr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動画を逆再生すると、「後退」の例も作れる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アンサンブル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複数の critic のうち、最も厳しい評価（最小値）を使い、過大評価を防ぐ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方策学習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スコアの高いフレームに札を付けて学習（RECAP と同じ「条件付け」）</a:t>
            </a:r>
          </a:p>
        </p:txBody>
      </p:sp>
      <p:sp>
        <p:nvSpPr>
          <p:cNvPr id="5" name="frame f1"/>
          <p:cNvSpPr/>
          <p:nvPr/>
        </p:nvSpPr>
        <p:spPr>
          <a:xfrm>
            <a:off x="6675120" y="12801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f1</a:t>
            </a:r>
          </a:p>
        </p:txBody>
      </p:sp>
      <p:sp>
        <p:nvSpPr>
          <p:cNvPr id="6" name="frame f2"/>
          <p:cNvSpPr/>
          <p:nvPr/>
        </p:nvSpPr>
        <p:spPr>
          <a:xfrm>
            <a:off x="7498079" y="12801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f2</a:t>
            </a:r>
          </a:p>
        </p:txBody>
      </p:sp>
      <p:sp>
        <p:nvSpPr>
          <p:cNvPr id="7" name="frame f3"/>
          <p:cNvSpPr/>
          <p:nvPr/>
        </p:nvSpPr>
        <p:spPr>
          <a:xfrm>
            <a:off x="8321040" y="12801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f3</a:t>
            </a:r>
          </a:p>
        </p:txBody>
      </p:sp>
      <p:sp>
        <p:nvSpPr>
          <p:cNvPr id="8" name="frame f4"/>
          <p:cNvSpPr/>
          <p:nvPr/>
        </p:nvSpPr>
        <p:spPr>
          <a:xfrm>
            <a:off x="9144000" y="12801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f4</a:t>
            </a:r>
          </a:p>
        </p:txBody>
      </p:sp>
      <p:sp>
        <p:nvSpPr>
          <p:cNvPr id="9" name="frame f5"/>
          <p:cNvSpPr/>
          <p:nvPr/>
        </p:nvSpPr>
        <p:spPr>
          <a:xfrm>
            <a:off x="9966960" y="12801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f5</a:t>
            </a:r>
          </a:p>
        </p:txBody>
      </p:sp>
      <p:sp>
        <p:nvSpPr>
          <p:cNvPr id="10" name="frame f6"/>
          <p:cNvSpPr/>
          <p:nvPr/>
        </p:nvSpPr>
        <p:spPr>
          <a:xfrm>
            <a:off x="10789920" y="128016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f6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9144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デモ動画のフレーム（時間の順）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18120" y="2103120"/>
            <a:ext cx="2377440" cy="0"/>
          </a:xfrm>
          <a:prstGeom prst="line">
            <a:avLst/>
          </a:prstGeom>
          <a:ln w="25400">
            <a:solidFill>
              <a:srgbClr val="2E8B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75120" y="2148840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2E8B57"/>
                </a:solidFill>
                <a:latin typeface="Yu Gothic"/>
                <a:ea typeface="Yu Gothic"/>
                <a:cs typeface="Yu Gothic"/>
              </a:rPr>
              <a:t>f2 → f5: +3 ステップ先（前進）
正解の時間差 = +3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7818120" y="2971800"/>
            <a:ext cx="2377440" cy="0"/>
          </a:xfrm>
          <a:prstGeom prst="line">
            <a:avLst/>
          </a:prstGeom>
          <a:ln w="25400">
            <a:solidFill>
              <a:srgbClr val="D96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75120" y="3017520"/>
            <a:ext cx="4937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D96B2B"/>
                </a:solidFill>
                <a:latin typeface="Yu Gothic"/>
                <a:ea typeface="Yu Gothic"/>
                <a:cs typeface="Yu Gothic"/>
              </a:rPr>
              <a:t>逆再生: f5 → f2
正解の時間差 = −3（後退）</a:t>
            </a:r>
          </a:p>
        </p:txBody>
      </p:sp>
      <p:sp>
        <p:nvSpPr>
          <p:cNvPr id="16" name="norm"/>
          <p:cNvSpPr/>
          <p:nvPr/>
        </p:nvSpPr>
        <p:spPr>
          <a:xfrm>
            <a:off x="6675120" y="3840480"/>
            <a:ext cx="4937760" cy="109728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正規化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エピソードの長さで時間差を割り、長さの違うデモを、同じ尺度でそろえる</a:t>
            </a:r>
          </a:p>
        </p:txBody>
      </p:sp>
      <p:sp>
        <p:nvSpPr>
          <p:cNvPr id="17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報酬を作らず、デモの時間構造から、「前進」と「停滞・後退」を区別する advantage を学ぶ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STEAM: アーキテクチャ（論文の図）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pic>
        <p:nvPicPr>
          <p:cNvPr id="4" name="fig_steam.png" descr="fig_s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11064240" cy="2267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3301097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図: STEAM 論文図 1 より</a:t>
            </a:r>
          </a:p>
        </p:txBody>
      </p:sp>
      <p:sp>
        <p:nvSpPr>
          <p:cNvPr id="6" name="panel 1"/>
          <p:cNvSpPr/>
          <p:nvPr/>
        </p:nvSpPr>
        <p:spPr>
          <a:xfrm>
            <a:off x="548640" y="379476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① フレームペアのラベル付け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専門家デモの 2 つのフレーム（前進 forward / 後退 backward）の時間差を、エピソード長で正規化して、正解にする</a:t>
            </a:r>
          </a:p>
        </p:txBody>
      </p:sp>
      <p:sp>
        <p:nvSpPr>
          <p:cNvPr id="7" name="panel 2"/>
          <p:cNvSpPr/>
          <p:nvPr/>
        </p:nvSpPr>
        <p:spPr>
          <a:xfrm>
            <a:off x="4297679" y="379476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② 時間オフセット予測器の学習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2 つのフレームと指示文から、時間差の分布を出す。M 個の予測器を学習して、アンサンブルにする</a:t>
            </a:r>
          </a:p>
        </p:txBody>
      </p:sp>
      <p:sp>
        <p:nvSpPr>
          <p:cNvPr id="8" name="panel 3"/>
          <p:cNvSpPr/>
          <p:nvPr/>
        </p:nvSpPr>
        <p:spPr>
          <a:xfrm>
            <a:off x="8046719" y="3794760"/>
            <a:ext cx="3566160" cy="173736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③ 方策の改善</a:t>
            </a:r>
          </a:p>
          <a:p>
            <a:pPr algn="l"/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専門家・ロールアウト・人の修正のデータに、アンサンブルで A_STEAM を付け、CFGRL（札付き学習）で VLA を学習する</a:t>
            </a:r>
          </a:p>
        </p:txBody>
      </p:sp>
      <p:sp>
        <p:nvSpPr>
          <p:cNvPr id="9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報酬を使わず、デモの時間構造から advantage を作り、VLA を学習する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STEAM ①: critic の学習（入力・出力・更新）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8686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更新する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55648" y="868680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凍結（更新しない）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94176" y="8686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入力・出力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01183" y="86868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損失</a:t>
            </a:r>
          </a:p>
        </p:txBody>
      </p:sp>
      <p:sp>
        <p:nvSpPr>
          <p:cNvPr id="8" name="in"/>
          <p:cNvSpPr/>
          <p:nvPr/>
        </p:nvSpPr>
        <p:spPr>
          <a:xfrm>
            <a:off x="548640" y="1280160"/>
            <a:ext cx="2286000" cy="109728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フレーム f_i と f_j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（2 台のカメラ）+ 指示文</a:t>
            </a:r>
          </a:p>
        </p:txBody>
      </p:sp>
      <p:sp>
        <p:nvSpPr>
          <p:cNvPr id="9" name="model"/>
          <p:cNvSpPr/>
          <p:nvPr/>
        </p:nvSpPr>
        <p:spPr>
          <a:xfrm>
            <a:off x="3383280" y="1280160"/>
            <a:ext cx="2834640" cy="109728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critic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SigLIP + Gemma3-270M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更新する</a:t>
            </a:r>
          </a:p>
        </p:txBody>
      </p:sp>
      <p:sp>
        <p:nvSpPr>
          <p:cNvPr id="10" name="out"/>
          <p:cNvSpPr/>
          <p:nvPr/>
        </p:nvSpPr>
        <p:spPr>
          <a:xfrm>
            <a:off x="6766560" y="1280160"/>
            <a:ext cx="2377440" cy="109728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出力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時間差の分布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（N = 32 個のビン）</a:t>
            </a:r>
          </a:p>
        </p:txBody>
      </p:sp>
      <p:sp>
        <p:nvSpPr>
          <p:cNvPr id="11" name="result"/>
          <p:cNvSpPr/>
          <p:nvPr/>
        </p:nvSpPr>
        <p:spPr>
          <a:xfrm>
            <a:off x="9692640" y="1280160"/>
            <a:ext cx="1920240" cy="10972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予想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時間差の期待値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34640" y="182880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182880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0" y="182880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acher"/>
          <p:cNvSpPr/>
          <p:nvPr/>
        </p:nvSpPr>
        <p:spPr>
          <a:xfrm>
            <a:off x="548640" y="2834639"/>
            <a:ext cx="2560320" cy="8229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正解</a:t>
            </a:r>
          </a:p>
          <a:p>
            <a:pPr algn="ctr"/>
            <a:r>
              <a:rPr sz="11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(j − i) を正規化して</a:t>
            </a:r>
          </a:p>
          <a:p>
            <a:pPr algn="ctr"/>
            <a:r>
              <a:rPr sz="11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1 つのビンにしたもの</a:t>
            </a:r>
          </a:p>
        </p:txBody>
      </p:sp>
      <p:sp>
        <p:nvSpPr>
          <p:cNvPr id="16" name="loss"/>
          <p:cNvSpPr/>
          <p:nvPr/>
        </p:nvSpPr>
        <p:spPr>
          <a:xfrm>
            <a:off x="3383280" y="2834639"/>
            <a:ext cx="2834640" cy="82296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損失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予想の分布と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正解のズレ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08960" y="3246120"/>
            <a:ext cx="27432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55279" y="2377439"/>
            <a:ext cx="0" cy="868681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217920" y="3246120"/>
            <a:ext cx="1737359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800600" y="2377439"/>
            <a:ext cx="0" cy="457200"/>
          </a:xfrm>
          <a:prstGeom prst="line">
            <a:avLst/>
          </a:prstGeom>
          <a:ln w="25400">
            <a:solidFill>
              <a:srgbClr val="D96B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937760" y="2395728"/>
            <a:ext cx="201168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D96B2B"/>
                </a:solidFill>
                <a:latin typeface="Yu Gothic"/>
                <a:ea typeface="Yu Gothic"/>
                <a:cs typeface="Yu Gothic"/>
              </a:rPr>
              <a:t>損失が小さくなるよう更新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3794760"/>
          <a:ext cx="11064240" cy="18836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63040"/>
                <a:gridCol w="96012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同じデモの中の、2 つのフレーム（f_i, f_j）。カメラ 2 台の画像と指示文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出力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「f_j は f_i の何ステップ先か」を、N 個のビンの確率で答える（プラスは前進、マイナスは後退）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正解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デモの実際の時間差 (j − i) × L_max / L を、1 つのビンにしたもの。逆再生のペアは、負の時間差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損失 / 更新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交差エントロピーを小さくするよう、critic のパラメータを更新（報酬ラベルは使わない）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</a:tbl>
          </a:graphicData>
        </a:graphic>
      </p:graphicFrame>
      <p:sp>
        <p:nvSpPr>
          <p:cNvPr id="23" name="key point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critic は、「2 枚のフレームが、時間でどれだけ離れているか」を当てる問題として学習する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STEAM ②: advantage の計算（アンサンブルと最小値）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4" name="pair"/>
          <p:cNvSpPr/>
          <p:nvPr/>
        </p:nvSpPr>
        <p:spPr>
          <a:xfrm>
            <a:off x="548640" y="1828800"/>
            <a:ext cx="2377440" cy="13716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フレームのペア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f_i と、H ステップ先の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f_i+H</a:t>
            </a:r>
          </a:p>
        </p:txBody>
      </p:sp>
      <p:sp>
        <p:nvSpPr>
          <p:cNvPr id="5" name="c0"/>
          <p:cNvSpPr/>
          <p:nvPr/>
        </p:nvSpPr>
        <p:spPr>
          <a:xfrm>
            <a:off x="3657600" y="1051560"/>
            <a:ext cx="2011680" cy="77724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critic 1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A_1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2926080" y="1444752"/>
            <a:ext cx="731520" cy="1069848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0" y="1444752"/>
            <a:ext cx="731520" cy="1069848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1"/>
          <p:cNvSpPr/>
          <p:nvPr/>
        </p:nvSpPr>
        <p:spPr>
          <a:xfrm>
            <a:off x="3657600" y="2103120"/>
            <a:ext cx="2011680" cy="77724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critic 2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A_2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2926080" y="2496312"/>
            <a:ext cx="731520" cy="18288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69280" y="2496312"/>
            <a:ext cx="731520" cy="18288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2"/>
          <p:cNvSpPr/>
          <p:nvPr/>
        </p:nvSpPr>
        <p:spPr>
          <a:xfrm>
            <a:off x="3657600" y="3154679"/>
            <a:ext cx="2011680" cy="77724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critic M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A_M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514600"/>
            <a:ext cx="731520" cy="1033272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669280" y="2514600"/>
            <a:ext cx="731520" cy="1033272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min"/>
          <p:cNvSpPr/>
          <p:nvPr/>
        </p:nvSpPr>
        <p:spPr>
          <a:xfrm>
            <a:off x="6400800" y="2011680"/>
            <a:ext cx="1828800" cy="100584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最小値</a:t>
            </a:r>
          </a:p>
          <a:p>
            <a:pPr algn="ctr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min_m A_m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2514600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abel"/>
          <p:cNvSpPr/>
          <p:nvPr/>
        </p:nvSpPr>
        <p:spPr>
          <a:xfrm>
            <a:off x="8778240" y="1737360"/>
            <a:ext cx="2834640" cy="15544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A_STEAM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閾値 δ_q 以上なら 1（良い）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それ以外は 0</a:t>
            </a:r>
          </a:p>
        </p:txBody>
      </p:sp>
      <p:sp>
        <p:nvSpPr>
          <p:cNvPr id="17" name="why"/>
          <p:cNvSpPr/>
          <p:nvPr/>
        </p:nvSpPr>
        <p:spPr>
          <a:xfrm>
            <a:off x="548640" y="4343400"/>
            <a:ext cx="5394960" cy="109728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なぜ最小値か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全ての critic が「前進」と言うときだけ高いスコア。知らない状態での、過大評価を防ぐ</a:t>
            </a:r>
          </a:p>
        </p:txBody>
      </p:sp>
      <p:sp>
        <p:nvSpPr>
          <p:cNvPr id="18" name="meaning"/>
          <p:cNvSpPr/>
          <p:nvPr/>
        </p:nvSpPr>
        <p:spPr>
          <a:xfrm>
            <a:off x="6217920" y="4343400"/>
            <a:ext cx="5394960" cy="109728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スコアの意味</a:t>
            </a:r>
          </a:p>
          <a:p>
            <a:pPr algn="l"/>
            <a:r>
              <a:rPr sz="13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予想した時間差が、基準の時間差より大きいほど、「効率よく前進した」行動</a:t>
            </a:r>
          </a:p>
        </p:txBody>
      </p:sp>
      <p:sp>
        <p:nvSpPr>
          <p:cNvPr id="19" name="key point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最も厳しい critic の評価で「前進」と判断したフレームにだけ、「良い」の札を付ける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STEAM: 論文の結果（実機）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1106424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017520"/>
                <a:gridCol w="2011680"/>
                <a:gridCol w="2194560"/>
                <a:gridCol w="1920240"/>
                <a:gridCol w="192024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手法（成功率 %）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タオル折り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チップのレジ会計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コーラ補充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ピック＆プレイス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Behavior Cloning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33.3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39.5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63.8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HG-DAgger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40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53.3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58.3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RECAP（1 反復）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55.6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53.3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52.9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53.8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6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STEAM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92.3</a:t>
                      </a:r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（↑59）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93.8</a:t>
                      </a:r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（↑54.3）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75</a:t>
                      </a:r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（↑23）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80</a:t>
                      </a:r>
                      <a:r>
                        <a:rPr sz="16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（↑16.2）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4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↑ はベースライン（Behavior Cloning）に対する改善（pt）。双腕のタオル折り、チップのレジ会計、コーラ補充、単腕のピック＆プレイスの 4 タスク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4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STEAM は、専門家・人の修正・自律ロールアウトのすべてを使い、全タスクで最高の成功率</a:t>
            </a:r>
          </a:p>
        </p:txBody>
      </p:sp>
      <p:sp>
        <p:nvSpPr>
          <p:cNvPr id="6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論文では、STEAM が RECAP（1 反復）を全タスクで上回る。タオル折りでは +36.7 pt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STEAM: smolVLA での実装（私たちの実験）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4" name="step 0"/>
          <p:cNvSpPr/>
          <p:nvPr/>
        </p:nvSpPr>
        <p:spPr>
          <a:xfrm>
            <a:off x="548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フレームペアの作成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1"/>
          <p:cNvSpPr/>
          <p:nvPr/>
        </p:nvSpPr>
        <p:spPr>
          <a:xfrm>
            <a:off x="2834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critic の学習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 2"/>
          <p:cNvSpPr/>
          <p:nvPr/>
        </p:nvSpPr>
        <p:spPr>
          <a:xfrm>
            <a:off x="5120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Step3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advantage の計算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ep 3"/>
          <p:cNvSpPr/>
          <p:nvPr/>
        </p:nvSpPr>
        <p:spPr>
          <a:xfrm>
            <a:off x="7406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Step4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方策の学習（SFT）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ep 4"/>
          <p:cNvSpPr/>
          <p:nvPr/>
        </p:nvSpPr>
        <p:spPr>
          <a:xfrm>
            <a:off x="9692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Step5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シミュレータで評価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110642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Step1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人のデモ 3 本（重み 4）と、成功ロールアウトから、k = 32 ステップ先とのフレームペアを作る。逆再生のペアは、負の時間差。時間差は軌跡長で正規化し、32 ビンに分ける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Step2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critic（SigLIP so400m + Gemma3-270M）が、時間差の 32 ビンの分布を予測（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2,000 step、バッチ 64、8.3 時間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A5000 24GB）</a:t>
            </a:r>
          </a:p>
          <a:p>
            <a:pPr algn="l" marL="585216" indent="-256032">
              <a:spcAft>
                <a:spcPts val="600"/>
              </a:spcAft>
              <a:buChar char="–"/>
            </a:pPr>
            <a:r>
              <a:rPr sz="14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学習データ上の accuracy は 0.277 → 0.353。未知のロールアウト（step 600）では 0.106 と低い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Step3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ペアの予想から advantage を作る（アンサンブルのメンバーは 1 個）。ロールアウトの上位 30%、デモの上位 80% を positive（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62.3 万サンプル、約 9.8 時間、17.7 サンプル/秒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A5000）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Step4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札付き SFT で 1,000 step、続けて positive のフレームだけで 450 step（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合計 1,450 step、16.5 時間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A5000）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Step5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success_once は 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0.52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（最良。ベース 0.40）</a:t>
            </a:r>
          </a:p>
        </p:txBody>
      </p:sp>
      <p:sp>
        <p:nvSpPr>
          <p:cNvPr id="14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critic は学習データ上では改善したが、未知のロールアウトでの精度は低い（課題）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Token: 提案（論文）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課題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巨大な VLA 全体を、オンラインで RL するのは、重くて、データも多く要る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発想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VLA は凍結して「行動の提案役」にし、小さな追加ネットワークが、提案を微調整する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RL token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VLA の内部情報を、1 本の短いベクトルに圧縮したもの。RL にとっての「状態」になる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学習するもの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小さな actor（行動を出す）と critic（行動の良さを予想する）だけ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論文の結果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実機で数時間の練習で、重要な局面の成功率と速度が向上。HIL-SERL、PLD などの他のオンライン RL より速く学習</a:t>
            </a:r>
          </a:p>
        </p:txBody>
      </p:sp>
      <p:sp>
        <p:nvSpPr>
          <p:cNvPr id="5" name="teacher"/>
          <p:cNvSpPr/>
          <p:nvPr/>
        </p:nvSpPr>
        <p:spPr>
          <a:xfrm>
            <a:off x="6949440" y="1097280"/>
            <a:ext cx="4572000" cy="118872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先生: VLA（凍結）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状況を見て、行動の「下書き」を提案する</a:t>
            </a:r>
          </a:p>
        </p:txBody>
      </p:sp>
      <p:sp>
        <p:nvSpPr>
          <p:cNvPr id="6" name="student"/>
          <p:cNvSpPr/>
          <p:nvPr/>
        </p:nvSpPr>
        <p:spPr>
          <a:xfrm>
            <a:off x="6949440" y="2834640"/>
            <a:ext cx="4572000" cy="118872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生徒: 小さな actor（更新）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下書きを見て、「清書」（最終の行動）を出す</a:t>
            </a:r>
          </a:p>
        </p:txBody>
      </p:sp>
      <p:sp>
        <p:nvSpPr>
          <p:cNvPr id="7" name="final"/>
          <p:cNvSpPr/>
          <p:nvPr/>
        </p:nvSpPr>
        <p:spPr>
          <a:xfrm>
            <a:off x="6949440" y="4572000"/>
            <a:ext cx="4572000" cy="73152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最終の行動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235440" y="2286000"/>
            <a:ext cx="0" cy="54864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235440" y="4023360"/>
            <a:ext cx="0" cy="54864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372600" y="2331720"/>
            <a:ext cx="21945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下書き ã</a:t>
            </a:r>
          </a:p>
        </p:txBody>
      </p:sp>
      <p:sp>
        <p:nvSpPr>
          <p:cNvPr id="11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RL は小さな actor-critic だけが担当し、VLA の知識を壊さずに、数時間で行動を洗練できる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Token: アーキテクチャ（論文の図）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pic>
        <p:nvPicPr>
          <p:cNvPr id="4" name="fig_rl_token.png" descr="fig_rl_t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6" y="960120"/>
            <a:ext cx="4735507" cy="443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22392"/>
            <a:ext cx="4937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図: RL Token 論文（Physical Intelligence）図 2 より</a:t>
            </a:r>
          </a:p>
        </p:txBody>
      </p:sp>
      <p:sp>
        <p:nvSpPr>
          <p:cNvPr id="6" name="no 1"/>
          <p:cNvSpPr/>
          <p:nvPr/>
        </p:nvSpPr>
        <p:spPr>
          <a:xfrm>
            <a:off x="5760720" y="1005840"/>
            <a:ext cx="457200" cy="8412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note 1"/>
          <p:cNvSpPr/>
          <p:nvPr/>
        </p:nvSpPr>
        <p:spPr>
          <a:xfrm>
            <a:off x="6263640" y="1005840"/>
            <a:ext cx="5349240" cy="841248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入力（図の下）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3 台のカメラ画像と指示文を、VLA（SigLIP + Gemma）に入れる</a:t>
            </a:r>
          </a:p>
        </p:txBody>
      </p:sp>
      <p:sp>
        <p:nvSpPr>
          <p:cNvPr id="8" name="no 2"/>
          <p:cNvSpPr/>
          <p:nvPr/>
        </p:nvSpPr>
        <p:spPr>
          <a:xfrm>
            <a:off x="5760720" y="1920240"/>
            <a:ext cx="457200" cy="8412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note 2"/>
          <p:cNvSpPr/>
          <p:nvPr/>
        </p:nvSpPr>
        <p:spPr>
          <a:xfrm>
            <a:off x="6263640" y="1920240"/>
            <a:ext cx="5349240" cy="841248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画像の埋め込み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VLA の内部で作られる、画像の埋め込み（N × 2048）</a:t>
            </a:r>
          </a:p>
        </p:txBody>
      </p:sp>
      <p:sp>
        <p:nvSpPr>
          <p:cNvPr id="10" name="no 3"/>
          <p:cNvSpPr/>
          <p:nvPr/>
        </p:nvSpPr>
        <p:spPr>
          <a:xfrm>
            <a:off x="5760720" y="2834640"/>
            <a:ext cx="457200" cy="8412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note 3"/>
          <p:cNvSpPr/>
          <p:nvPr/>
        </p:nvSpPr>
        <p:spPr>
          <a:xfrm>
            <a:off x="6263640" y="2834640"/>
            <a:ext cx="5349240" cy="841248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encoder → RL token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埋め込みと、学習可能なトークン e_rl から、1 本の RL token（1 × 2048）に圧縮する</a:t>
            </a:r>
          </a:p>
        </p:txBody>
      </p:sp>
      <p:sp>
        <p:nvSpPr>
          <p:cNvPr id="12" name="no 4"/>
          <p:cNvSpPr/>
          <p:nvPr/>
        </p:nvSpPr>
        <p:spPr>
          <a:xfrm>
            <a:off x="5760720" y="3749039"/>
            <a:ext cx="457200" cy="8412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note 4"/>
          <p:cNvSpPr/>
          <p:nvPr/>
        </p:nvSpPr>
        <p:spPr>
          <a:xfrm>
            <a:off x="6263640" y="3749039"/>
            <a:ext cx="5349240" cy="841248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decoder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RL token から、元の埋め込みを再構成する。これを損失にして、RL token に情報を詰める</a:t>
            </a:r>
          </a:p>
        </p:txBody>
      </p:sp>
      <p:sp>
        <p:nvSpPr>
          <p:cNvPr id="14" name="no 5"/>
          <p:cNvSpPr/>
          <p:nvPr/>
        </p:nvSpPr>
        <p:spPr>
          <a:xfrm>
            <a:off x="5760720" y="4663440"/>
            <a:ext cx="457200" cy="8412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note 5"/>
          <p:cNvSpPr/>
          <p:nvPr/>
        </p:nvSpPr>
        <p:spPr>
          <a:xfrm>
            <a:off x="6263640" y="4663440"/>
            <a:ext cx="5349240" cy="841248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行動チャンク（図の右）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VLA の action expert が、ノイズから行動チャンクを出す。RL では、これを「参照行動」として使う</a:t>
            </a:r>
          </a:p>
        </p:txBody>
      </p:sp>
      <p:sp>
        <p:nvSpPr>
          <p:cNvPr id="16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VLA は凍結したまま、RL token が、RL にとっての小さな状態表現になる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 ①: 1 ステップの流れ（入力 → 出力）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4" name="in"/>
          <p:cNvSpPr/>
          <p:nvPr/>
        </p:nvSpPr>
        <p:spPr>
          <a:xfrm>
            <a:off x="457200" y="1097280"/>
            <a:ext cx="2103120" cy="146304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カメラ画像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指示文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関節状態</a:t>
            </a:r>
          </a:p>
        </p:txBody>
      </p:sp>
      <p:sp>
        <p:nvSpPr>
          <p:cNvPr id="5" name="vla"/>
          <p:cNvSpPr/>
          <p:nvPr/>
        </p:nvSpPr>
        <p:spPr>
          <a:xfrm>
            <a:off x="3017520" y="1097280"/>
            <a:ext cx="1828800" cy="146304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VLA</a:t>
            </a:r>
          </a:p>
          <a:p>
            <a:pPr algn="ctr"/>
            <a:r>
              <a:rPr sz="13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凍結</a:t>
            </a:r>
          </a:p>
        </p:txBody>
      </p:sp>
      <p:sp>
        <p:nvSpPr>
          <p:cNvPr id="6" name="tok"/>
          <p:cNvSpPr/>
          <p:nvPr/>
        </p:nvSpPr>
        <p:spPr>
          <a:xfrm>
            <a:off x="5394960" y="1005840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RL token z_rl</a:t>
            </a:r>
          </a:p>
          <a:p>
            <a:pPr algn="ctr"/>
            <a:r>
              <a:rPr sz="11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凍結して抽出</a:t>
            </a:r>
          </a:p>
        </p:txBody>
      </p:sp>
      <p:sp>
        <p:nvSpPr>
          <p:cNvPr id="7" name="ref"/>
          <p:cNvSpPr/>
          <p:nvPr/>
        </p:nvSpPr>
        <p:spPr>
          <a:xfrm>
            <a:off x="5394960" y="2011680"/>
            <a:ext cx="2194560" cy="77724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参照行動 ã</a:t>
            </a:r>
          </a:p>
          <a:p>
            <a:pPr algn="ctr"/>
            <a:r>
              <a:rPr sz="11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VLA の提案</a:t>
            </a:r>
          </a:p>
        </p:txBody>
      </p:sp>
      <p:sp>
        <p:nvSpPr>
          <p:cNvPr id="8" name="actor"/>
          <p:cNvSpPr/>
          <p:nvPr/>
        </p:nvSpPr>
        <p:spPr>
          <a:xfrm>
            <a:off x="8229600" y="1097280"/>
            <a:ext cx="2011680" cy="146304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actor π_θ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入力: z_rl, 関節状態, ã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更新する</a:t>
            </a:r>
          </a:p>
        </p:txBody>
      </p:sp>
      <p:sp>
        <p:nvSpPr>
          <p:cNvPr id="9" name="act"/>
          <p:cNvSpPr/>
          <p:nvPr/>
        </p:nvSpPr>
        <p:spPr>
          <a:xfrm>
            <a:off x="10698480" y="1097280"/>
            <a:ext cx="1097280" cy="146304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行動 a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チャンク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1828800"/>
            <a:ext cx="45720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4846320" y="1417320"/>
            <a:ext cx="548640" cy="9144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846320" y="2148840"/>
            <a:ext cx="548640" cy="22860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589520" y="1417320"/>
            <a:ext cx="640080" cy="13716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589520" y="2194560"/>
            <a:ext cx="640080" cy="18288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241280" y="1828800"/>
            <a:ext cx="45720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nv"/>
          <p:cNvSpPr/>
          <p:nvPr/>
        </p:nvSpPr>
        <p:spPr>
          <a:xfrm>
            <a:off x="8229600" y="3291840"/>
            <a:ext cx="35661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環境で行動を実行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次の観測 o' と報酬 r が返る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247120" y="2560320"/>
            <a:ext cx="0" cy="73152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buf"/>
          <p:cNvSpPr/>
          <p:nvPr/>
        </p:nvSpPr>
        <p:spPr>
          <a:xfrm>
            <a:off x="3017520" y="3291840"/>
            <a:ext cx="4206240" cy="82296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リプレイバッファに保存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(状態 x, 行動 a, 報酬 r, 次の状態 x')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7223760" y="3703320"/>
            <a:ext cx="10058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" y="434340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更新する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64207" y="4343400"/>
            <a:ext cx="1828800" cy="310896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凍結（更新しない）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2736" y="434340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入力・出力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9744" y="4343400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2700">
            <a:solidFill>
              <a:srgbClr val="E0A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損失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57200" y="4754880"/>
          <a:ext cx="11338560" cy="8046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97840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内容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 / 出力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入力は、RL token（VLA の内部情報を圧縮したもの）、関節状態、VLA の提案 ã。出力は、行動チャンク（数ステップ分の行動のまとまり）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key point"/>
          <p:cNvSpPr/>
          <p:nvPr/>
        </p:nvSpPr>
        <p:spPr>
          <a:xfrm>
            <a:off x="548640" y="5760720"/>
            <a:ext cx="11064240" cy="59436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actor は、VLA の提案 ã を見て、それを少し直した行動を出す。保存したデータが、次の更新に使われる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 ②: 学習のループとパラメータ更新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4" name="s1"/>
          <p:cNvSpPr/>
          <p:nvPr/>
        </p:nvSpPr>
        <p:spPr>
          <a:xfrm>
            <a:off x="548640" y="1051560"/>
            <a:ext cx="292608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① 実行して集める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actor で行動し、結果を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リプレイバッファに保存</a:t>
            </a:r>
          </a:p>
        </p:txBody>
      </p:sp>
      <p:sp>
        <p:nvSpPr>
          <p:cNvPr id="5" name="s2"/>
          <p:cNvSpPr/>
          <p:nvPr/>
        </p:nvSpPr>
        <p:spPr>
          <a:xfrm>
            <a:off x="4023360" y="1051560"/>
            <a:ext cx="2926080" cy="132588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② バッファから取り出す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過去のデータを、</a:t>
            </a:r>
          </a:p>
          <a:p>
            <a:pPr algn="ctr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ランダムに何度も使う</a:t>
            </a:r>
          </a:p>
        </p:txBody>
      </p:sp>
      <p:sp>
        <p:nvSpPr>
          <p:cNvPr id="6" name="s3"/>
          <p:cNvSpPr/>
          <p:nvPr/>
        </p:nvSpPr>
        <p:spPr>
          <a:xfrm>
            <a:off x="4023360" y="301752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critic を更新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Q(x, a) を、r + γ Q(x', a')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に近づける（TD 学習）</a:t>
            </a:r>
          </a:p>
        </p:txBody>
      </p:sp>
      <p:sp>
        <p:nvSpPr>
          <p:cNvPr id="7" name="s4"/>
          <p:cNvSpPr/>
          <p:nvPr/>
        </p:nvSpPr>
        <p:spPr>
          <a:xfrm>
            <a:off x="548640" y="3017520"/>
            <a:ext cx="2926080" cy="150876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④ actor を更新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Q が大きくなる行動を出す。</a:t>
            </a:r>
          </a:p>
          <a:p>
            <a:pPr algn="ctr"/>
            <a:r>
              <a:rPr sz="12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ただし提案 ã から離れすぎない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1719072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2377440"/>
            <a:ext cx="0" cy="64008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474720" y="3767328"/>
            <a:ext cx="548640" cy="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011680" y="2377440"/>
            <a:ext cx="0" cy="640080"/>
          </a:xfrm>
          <a:prstGeom prst="line">
            <a:avLst/>
          </a:prstGeom>
          <a:ln w="25400">
            <a:solidFill>
              <a:srgbClr val="0B66C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4617720"/>
            <a:ext cx="64008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更新後の actor で、また ① に戻る。critic の更新回数は、集めたデータ 1 件につき、複数回（UTD = 5）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223760" y="1051560"/>
          <a:ext cx="4389120" cy="30449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1508760"/>
                <a:gridCol w="16459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部品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更新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VLA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しない（凍結）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行動の下書き ã を出す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RL token の抽出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しない（凍結）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VLA の情報を、短いベクトルに圧縮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actor π_θ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する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下書きを直して、最終の行動を出す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critic Q_ψ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する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行動の良さを予想する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sp>
        <p:nvSpPr>
          <p:cNvPr id="14" name="dropout"/>
          <p:cNvSpPr/>
          <p:nvPr/>
        </p:nvSpPr>
        <p:spPr>
          <a:xfrm>
            <a:off x="7223760" y="4480560"/>
            <a:ext cx="4389120" cy="86868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12700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参照行動のドロップアウト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ã を、ときどき隠して、actor が「コピー」だけにならないようにする</a:t>
            </a:r>
          </a:p>
        </p:txBody>
      </p:sp>
      <p:sp>
        <p:nvSpPr>
          <p:cNvPr id="15" name="key point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「集める → critic を更新 → actor を更新」を繰り返し、小さな actor が VLA の提案を改善する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Token: 式の補足（論文の式）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4" name="num 1"/>
          <p:cNvSpPr/>
          <p:nvPr/>
        </p:nvSpPr>
        <p:spPr>
          <a:xfrm>
            <a:off x="548640" y="950976"/>
            <a:ext cx="502920" cy="502920"/>
          </a:xfrm>
          <a:prstGeom prst="ellipse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desc 1"/>
          <p:cNvSpPr txBox="1"/>
          <p:nvPr/>
        </p:nvSpPr>
        <p:spPr>
          <a:xfrm>
            <a:off x="1234440" y="877824"/>
            <a:ext cx="104241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RL token の抽出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小さな transformer g_φ が、VLA の内部情報 z と、学習可能なトークン e_rl から、読み出し z_rl（RL token）を作る</a:t>
            </a:r>
          </a:p>
        </p:txBody>
      </p:sp>
      <p:sp>
        <p:nvSpPr>
          <p:cNvPr id="6" name="equation 1"/>
          <p:cNvSpPr/>
          <p:nvPr/>
        </p:nvSpPr>
        <p:spPr>
          <a:xfrm>
            <a:off x="1234440" y="1517904"/>
            <a:ext cx="10378440" cy="5486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z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rl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= g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φ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 [ z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1:M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, e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rl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] )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M+1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　…(1)</a:t>
            </a:r>
          </a:p>
        </p:txBody>
      </p:sp>
      <p:sp>
        <p:nvSpPr>
          <p:cNvPr id="7" name="num 2"/>
          <p:cNvSpPr/>
          <p:nvPr/>
        </p:nvSpPr>
        <p:spPr>
          <a:xfrm>
            <a:off x="548640" y="2112264"/>
            <a:ext cx="502920" cy="502920"/>
          </a:xfrm>
          <a:prstGeom prst="ellipse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desc 2"/>
          <p:cNvSpPr txBox="1"/>
          <p:nvPr/>
        </p:nvSpPr>
        <p:spPr>
          <a:xfrm>
            <a:off x="1234440" y="2039112"/>
            <a:ext cx="104241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再構成損失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z_rl から、元の内部情報を復元できるように学習する（= z_rl に情報が詰まる。VLA は凍結）</a:t>
            </a:r>
          </a:p>
        </p:txBody>
      </p:sp>
      <p:sp>
        <p:nvSpPr>
          <p:cNvPr id="9" name="equation 2"/>
          <p:cNvSpPr/>
          <p:nvPr/>
        </p:nvSpPr>
        <p:spPr>
          <a:xfrm>
            <a:off x="1234440" y="2679192"/>
            <a:ext cx="10378440" cy="5486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L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ro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= E[ Σ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i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‖ h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φ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 d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φ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([ z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rl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, z̄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1:i−1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]) )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i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− z̄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i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‖² ]　…(2)</a:t>
            </a:r>
          </a:p>
        </p:txBody>
      </p:sp>
      <p:sp>
        <p:nvSpPr>
          <p:cNvPr id="10" name="num 3"/>
          <p:cNvSpPr/>
          <p:nvPr/>
        </p:nvSpPr>
        <p:spPr>
          <a:xfrm>
            <a:off x="548640" y="3273552"/>
            <a:ext cx="502920" cy="502920"/>
          </a:xfrm>
          <a:prstGeom prst="ellipse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desc 3"/>
          <p:cNvSpPr txBox="1"/>
          <p:nvPr/>
        </p:nvSpPr>
        <p:spPr>
          <a:xfrm>
            <a:off x="1234440" y="3200400"/>
            <a:ext cx="104241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critic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Q(x, a) を、「報酬 + 次の状態の Q」に近づける（C は行動チャンクの長さ、γ は割引率）</a:t>
            </a:r>
          </a:p>
        </p:txBody>
      </p:sp>
      <p:sp>
        <p:nvSpPr>
          <p:cNvPr id="12" name="equation 3"/>
          <p:cNvSpPr/>
          <p:nvPr/>
        </p:nvSpPr>
        <p:spPr>
          <a:xfrm>
            <a:off x="1234440" y="3840480"/>
            <a:ext cx="10378440" cy="5486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L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Q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= E[ ( Σ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t'=1</a:t>
            </a:r>
            <a:r>
              <a:rPr sz="1800" b="0" i="0" baseline="30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C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γ</a:t>
            </a:r>
            <a:r>
              <a:rPr sz="1800" b="0" i="0" baseline="30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t'−1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r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t'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+ γ</a:t>
            </a:r>
            <a:r>
              <a:rPr sz="1800" b="0" i="0" baseline="30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C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E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a' ~ πθ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[ Q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ψ'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(x', a') ] − Q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ψ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(x, a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1:C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) )² ]　…(3)</a:t>
            </a:r>
          </a:p>
        </p:txBody>
      </p:sp>
      <p:sp>
        <p:nvSpPr>
          <p:cNvPr id="13" name="num 4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4" name="desc 4"/>
          <p:cNvSpPr txBox="1"/>
          <p:nvPr/>
        </p:nvSpPr>
        <p:spPr>
          <a:xfrm>
            <a:off x="1234440" y="4361688"/>
            <a:ext cx="104241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actor</a:t>
            </a:r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Q が大きい行動を出す。ただし、VLA の提案 ã から離れすぎないよう、距離に罰を付ける（β が強さ）</a:t>
            </a:r>
          </a:p>
        </p:txBody>
      </p:sp>
      <p:sp>
        <p:nvSpPr>
          <p:cNvPr id="15" name="equation 4"/>
          <p:cNvSpPr/>
          <p:nvPr/>
        </p:nvSpPr>
        <p:spPr>
          <a:xfrm>
            <a:off x="1234440" y="5001768"/>
            <a:ext cx="10378440" cy="548640"/>
          </a:xfrm>
          <a:prstGeom prst="roundRect">
            <a:avLst>
              <a:gd name="adj" fmla="val 12000"/>
            </a:avLst>
          </a:prstGeom>
          <a:solidFill>
            <a:srgbClr val="F3F7FC"/>
          </a:solidFill>
          <a:ln w="9525">
            <a:solidFill>
              <a:srgbClr val="BFB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L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π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= E[ − Q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ψ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(x, a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1:C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) + β ‖ a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1:C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− ã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1:C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 ‖² ] ,　ã ~ π</a:t>
            </a:r>
            <a:r>
              <a:rPr sz="1800" b="0" i="0" baseline="-2500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vla</a:t>
            </a:r>
            <a:r>
              <a:rPr sz="1800" b="0" i="0">
                <a:solidFill>
                  <a:srgbClr val="1A1A1A"/>
                </a:solidFill>
                <a:latin typeface="Cambria Math"/>
                <a:ea typeface="Yu Gothic"/>
                <a:cs typeface="Yu Gothic"/>
              </a:rPr>
              <a:t>(· | s, ℓ)　…(5)</a:t>
            </a:r>
          </a:p>
        </p:txBody>
      </p:sp>
      <p:sp>
        <p:nvSpPr>
          <p:cNvPr id="16" name="key point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actor は、VLA の提案 ã を条件に、ゼロからではなく、強い初期案を改善する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Token: smolVLA での実装（私たちの実験）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4" name="step 0"/>
          <p:cNvSpPr/>
          <p:nvPr/>
        </p:nvSpPr>
        <p:spPr>
          <a:xfrm>
            <a:off x="548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Step1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特徴量の抽出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 1"/>
          <p:cNvSpPr/>
          <p:nvPr/>
        </p:nvSpPr>
        <p:spPr>
          <a:xfrm>
            <a:off x="2834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Step2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 の学習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846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 2"/>
          <p:cNvSpPr/>
          <p:nvPr/>
        </p:nvSpPr>
        <p:spPr>
          <a:xfrm>
            <a:off x="5120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Step3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actor-critic の学習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ep 3"/>
          <p:cNvSpPr/>
          <p:nvPr/>
        </p:nvSpPr>
        <p:spPr>
          <a:xfrm>
            <a:off x="7406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Step4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 つ目専用の actor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18320" y="1435608"/>
            <a:ext cx="274320" cy="0"/>
          </a:xfrm>
          <a:prstGeom prst="line">
            <a:avLst/>
          </a:prstGeom>
          <a:ln w="2540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ep 4"/>
          <p:cNvSpPr/>
          <p:nvPr/>
        </p:nvSpPr>
        <p:spPr>
          <a:xfrm>
            <a:off x="9692640" y="1005840"/>
            <a:ext cx="2011680" cy="8686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Step5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シミュレータで評価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03120"/>
            <a:ext cx="1106424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Step1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凍結した smolVLA に、デモとロールアウトの動画フレームを通し、画像トークン（128 × 960）を保存（把持の前後を中心に抽出。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1 データセット約 17 分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A5000）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Step2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小さな encoder-decoder が、保存した特徴から RL token を作る（再構成損失で学習。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6,000 step、バッチ 64、約 25 分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A5000）。再構成の val MSE は 0.073（平均を出す基準は 0.269）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Step3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1・2 つ目の把持の actor-critic を、オンライン RL で学習（3 環境、更新/データ比 5、探索ノイズ σ = 0.05。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750 エポック、バッチ 512、約 8.2 時間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A5000 24GB）。それ以外は VLA が実行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Step4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残る失敗は 2 つ目の把持が最大 → 2 つ目専用の actor を、初期値なしで学習（1 つ目は Step3 の actor を固定。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400 エポック、バッチ 512、約 5.5 時間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、RTX A5000）。空振りへの罰 −0.2 を加えると 0.68 で、効果は確認できなかった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Step5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: success_once は 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0.74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（最良。3 つの評価シードの平均は 0.71）。VLA のみ 0.46、1 つ目だけ RL 0.62、2 つ目を VLA に任せる 0.68。actor の重みは約 5 MB</a:t>
            </a:r>
          </a:p>
        </p:txBody>
      </p:sp>
      <p:sp>
        <p:nvSpPr>
          <p:cNvPr id="14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凍結した VLA の上の小さな actor-critic だけで、success_once が 0.46 → 0.74 に向上した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実験結果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6583680" cy="35844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468880"/>
                <a:gridCol w="1371600"/>
                <a:gridCol w="13716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手法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成功率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ベース比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π₀.₅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SFT（few-shot）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48.8%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π₀.₅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RECAP（1 iteration）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66.5%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+17.7 pt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smolVLA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ベース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40.0%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smolVLA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RECAP（最良）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50.0%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+10.0 pt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smolVLA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STEAM（最良）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52.0%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+12.0 pt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smolVLA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RL Token（最良）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74.0%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+34.0 pt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0" y="914400"/>
          <a:ext cx="448056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09160"/>
            <a:ext cx="1106424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300"/>
              </a:spcAft>
              <a:buChar char="•"/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smolVLA: 各 50 エピソード（標準誤差 ±0.07）。RECAP・STEAM は、Step4 の途中の checkpoint の最良値。評価条件の詳細は、口頭で補足</a:t>
            </a:r>
          </a:p>
          <a:p>
            <a:pPr algn="l" marL="274320" indent="-256032">
              <a:spcAft>
                <a:spcPts val="300"/>
              </a:spcAft>
              <a:buChar char="•"/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π₀.₅ は RLinf チュートリアルの記載値で、モデル・設定・評価数が異なり、smolVLA との直接比較はできない</a:t>
            </a:r>
          </a:p>
        </p:txBody>
      </p:sp>
      <p:sp>
        <p:nvSpPr>
          <p:cNvPr id="7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smolVLA では RL Token が最良（40% → 74%）。RECAP・STEAM は途中段階で、差は有意とは言えない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動画で見る手法の効果（初期状態 14）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4" name="instruction"/>
          <p:cNvSpPr/>
          <p:nvPr/>
        </p:nvSpPr>
        <p:spPr>
          <a:xfrm>
            <a:off x="548640" y="914400"/>
            <a:ext cx="11064240" cy="786384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指示文（全手法で共通）:  "put both the alphabet soup and the tomato sauce in the basket"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（アルファベットスープの缶とトマトソースの、両方をカゴに入れる。Task 0）</a:t>
            </a:r>
          </a:p>
          <a:p>
            <a:pPr algn="ctr"/>
            <a:r>
              <a:rPr sz="1300" b="1" i="0">
                <a:solidFill>
                  <a:srgbClr val="D96B2B"/>
                </a:solidFill>
                <a:latin typeface="Yu Gothic"/>
                <a:ea typeface="Yu Gothic"/>
                <a:cs typeface="Yu Gothic"/>
              </a:rPr>
              <a:t>RECAP・STEAM は、指示文の後に改行して、札 "Advantage: positive" を付ける（動画の評価条件は口頭で補足）</a:t>
            </a:r>
          </a:p>
        </p:txBody>
      </p:sp>
      <p:sp>
        <p:nvSpPr>
          <p:cNvPr id="5" name="label ベース（smolVLA）"/>
          <p:cNvSpPr/>
          <p:nvPr/>
        </p:nvSpPr>
        <p:spPr>
          <a:xfrm>
            <a:off x="1188720" y="178308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ベース（smolVLA）</a:t>
            </a:r>
          </a:p>
        </p:txBody>
      </p:sp>
      <p:pic>
        <p:nvPicPr>
          <p:cNvPr id="6" name="video ベース（smolVLA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88720" y="2212848"/>
            <a:ext cx="2286000" cy="2286000"/>
          </a:xfrm>
          <a:prstGeom prst="rect">
            <a:avLst/>
          </a:prstGeom>
        </p:spPr>
      </p:pic>
      <p:sp>
        <p:nvSpPr>
          <p:cNvPr id="7" name="result ベース（smolVLA）"/>
          <p:cNvSpPr/>
          <p:nvPr/>
        </p:nvSpPr>
        <p:spPr>
          <a:xfrm>
            <a:off x="1188720" y="4562856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失敗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 つ目は運ぶが、2 つ目をカゴに入れられない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76088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success_once 0.40</a:t>
            </a:r>
          </a:p>
        </p:txBody>
      </p:sp>
      <p:sp>
        <p:nvSpPr>
          <p:cNvPr id="9" name="label RECAP（札: positive）"/>
          <p:cNvSpPr/>
          <p:nvPr/>
        </p:nvSpPr>
        <p:spPr>
          <a:xfrm>
            <a:off x="4937760" y="178308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RECAP（札: positive）</a:t>
            </a:r>
          </a:p>
        </p:txBody>
      </p:sp>
      <p:pic>
        <p:nvPicPr>
          <p:cNvPr id="10" name="video RECAP（札: positive）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937760" y="2212848"/>
            <a:ext cx="2286000" cy="2286000"/>
          </a:xfrm>
          <a:prstGeom prst="rect">
            <a:avLst/>
          </a:prstGeom>
        </p:spPr>
      </p:pic>
      <p:sp>
        <p:nvSpPr>
          <p:cNvPr id="11" name="result RECAP（札: positive）"/>
          <p:cNvSpPr/>
          <p:nvPr/>
        </p:nvSpPr>
        <p:spPr>
          <a:xfrm>
            <a:off x="4937760" y="4562856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成功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 つともカゴに入る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5276088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success_once 0.50</a:t>
            </a:r>
          </a:p>
        </p:txBody>
      </p:sp>
      <p:sp>
        <p:nvSpPr>
          <p:cNvPr id="13" name="label RL Token（最良）"/>
          <p:cNvSpPr/>
          <p:nvPr/>
        </p:nvSpPr>
        <p:spPr>
          <a:xfrm>
            <a:off x="8686800" y="178308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Token（最良）</a:t>
            </a:r>
          </a:p>
        </p:txBody>
      </p:sp>
      <p:pic>
        <p:nvPicPr>
          <p:cNvPr id="14" name="video RL Token（最良）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8686800" y="2212848"/>
            <a:ext cx="2286000" cy="2286000"/>
          </a:xfrm>
          <a:prstGeom prst="rect">
            <a:avLst/>
          </a:prstGeom>
        </p:spPr>
      </p:pic>
      <p:sp>
        <p:nvSpPr>
          <p:cNvPr id="15" name="result RL Token（最良）"/>
          <p:cNvSpPr/>
          <p:nvPr/>
        </p:nvSpPr>
        <p:spPr>
          <a:xfrm>
            <a:off x="8686800" y="4562856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成功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 つともカゴに入る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5276088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success_once 0.74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48640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クリックで再生（約 52 秒）。success_once は 50 エピソードの値。3 つとも同じ初期状態 14</a:t>
            </a:r>
          </a:p>
        </p:txBody>
      </p:sp>
      <p:sp>
        <p:nvSpPr>
          <p:cNvPr id="18" name="key point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同じ初期状態で、ベースは 2 つ目をカゴに入れられず失敗し、RECAP と RL Token は成功した（1 例）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動画で見る手法の効果（初期状態 8）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4" name="instruction"/>
          <p:cNvSpPr/>
          <p:nvPr/>
        </p:nvSpPr>
        <p:spPr>
          <a:xfrm>
            <a:off x="548640" y="914400"/>
            <a:ext cx="11064240" cy="786384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指示文（全手法で共通）:  "put both the alphabet soup and the tomato sauce in the basket"</a:t>
            </a:r>
          </a:p>
          <a:p>
            <a:pPr algn="ctr"/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（アルファベットスープの缶とトマトソースの、両方をカゴに入れる。Task 0）</a:t>
            </a:r>
          </a:p>
          <a:p>
            <a:pPr algn="ctr"/>
            <a:r>
              <a:rPr sz="1300" b="1" i="0">
                <a:solidFill>
                  <a:srgbClr val="D96B2B"/>
                </a:solidFill>
                <a:latin typeface="Yu Gothic"/>
                <a:ea typeface="Yu Gothic"/>
                <a:cs typeface="Yu Gothic"/>
              </a:rPr>
              <a:t>RECAP・STEAM は、指示文の後に改行して、札 "Advantage: positive" を付ける（動画の評価条件は口頭で補足）</a:t>
            </a:r>
          </a:p>
        </p:txBody>
      </p:sp>
      <p:sp>
        <p:nvSpPr>
          <p:cNvPr id="5" name="label ベース（smolVLA）"/>
          <p:cNvSpPr/>
          <p:nvPr/>
        </p:nvSpPr>
        <p:spPr>
          <a:xfrm>
            <a:off x="2926080" y="178308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ベース（smolVLA）</a:t>
            </a:r>
          </a:p>
        </p:txBody>
      </p:sp>
      <p:pic>
        <p:nvPicPr>
          <p:cNvPr id="6" name="video ベース（smolVLA）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926080" y="2212848"/>
            <a:ext cx="2286000" cy="2286000"/>
          </a:xfrm>
          <a:prstGeom prst="rect">
            <a:avLst/>
          </a:prstGeom>
        </p:spPr>
      </p:pic>
      <p:sp>
        <p:nvSpPr>
          <p:cNvPr id="7" name="result ベース（smolVLA）"/>
          <p:cNvSpPr/>
          <p:nvPr/>
        </p:nvSpPr>
        <p:spPr>
          <a:xfrm>
            <a:off x="2926080" y="4562856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D9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失敗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缶がカゴの外のテーブルに残る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276088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success_once 0.40</a:t>
            </a:r>
          </a:p>
        </p:txBody>
      </p:sp>
      <p:sp>
        <p:nvSpPr>
          <p:cNvPr id="9" name="label STEAM（札: positive）"/>
          <p:cNvSpPr/>
          <p:nvPr/>
        </p:nvSpPr>
        <p:spPr>
          <a:xfrm>
            <a:off x="6949440" y="1783080"/>
            <a:ext cx="2286000" cy="384048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STEAM（札: positive）</a:t>
            </a:r>
          </a:p>
        </p:txBody>
      </p:sp>
      <p:pic>
        <p:nvPicPr>
          <p:cNvPr id="10" name="video STEAM（札: positive）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949440" y="2212848"/>
            <a:ext cx="2286000" cy="2286000"/>
          </a:xfrm>
          <a:prstGeom prst="rect">
            <a:avLst/>
          </a:prstGeom>
        </p:spPr>
      </p:pic>
      <p:sp>
        <p:nvSpPr>
          <p:cNvPr id="11" name="result STEAM（札: positive）"/>
          <p:cNvSpPr/>
          <p:nvPr/>
        </p:nvSpPr>
        <p:spPr>
          <a:xfrm>
            <a:off x="6949440" y="4562856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成功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缶がカゴの中に入る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59" y="5276088"/>
            <a:ext cx="26517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success_once 0.52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1106424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クリックで再生（約 52 秒）。success_once は 50 エピソードの値。初期状態 8（前のページの初期状態 14 とは別）</a:t>
            </a:r>
          </a:p>
        </p:txBody>
      </p:sp>
      <p:sp>
        <p:nvSpPr>
          <p:cNvPr id="14" name="key point"/>
          <p:cNvSpPr/>
          <p:nvPr/>
        </p:nvSpPr>
        <p:spPr>
          <a:xfrm>
            <a:off x="548640" y="5852160"/>
            <a:ext cx="11064240" cy="50292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同じ初期状態 8 で、ベースは失敗し、STEAM は成功した（1 例）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学習コストの比較（学習ステップ数・時間・GPU）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31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64240" cy="41696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2103120"/>
                <a:gridCol w="2377440"/>
                <a:gridCol w="731520"/>
                <a:gridCol w="292608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手法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段階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学習ステップ数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バッチ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所要時間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GPU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RECAP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Step2: 価値モデル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4,000 step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256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20.6 時間（18.6 秒/step）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6000 Ada（48GB）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RECAP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Step3: advantage 計算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62.3 万サンプル（推論）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4.2 時間（41 サンプル/秒）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6000 Ada（48GB）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RECAP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Step4: 方策（SFT）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2,000 step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256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20.3 時間（約 36 秒/step）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6000 Ada（48GB）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STEAM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critic の学習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2,000 step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8.3 時間（14.9 秒/step）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A5000（24GB）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STEAM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advantage 計算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62.3 万サンプル（推論）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—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約 9.8 時間（17.7 サンプル/秒）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A5000（24GB）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STEAM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Step4: 方策（SFT）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1,450 step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256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16.5 時間（約 41 秒/step）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A5000（24GB）</a:t>
                      </a:r>
                    </a:p>
                  </a:txBody>
                  <a:tcPr anchor="ctr" marL="73152" marR="73152" marT="27432" marB="27432">
                    <a:solidFill>
                      <a:srgbClr val="E8F1F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RL Token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Stage 1: RL token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6,000 step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約 25 分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A5000（24GB）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RL Token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Stage 2: 1・2 つ目の把持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750 エポック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512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約 8.2 時間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A5000（24GB）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RL Token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2 つ目専用の actor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400 エポック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512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約 5.5 時間（約 49 秒/エポック）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RTX A5000（24GB）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key point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合計: RECAP 約 45 時間、STEAM 約 35 時間、RL Token 約 14 時間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考察: 3 手法の比較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32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05840"/>
          <a:ext cx="11064240" cy="4069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05840"/>
                <a:gridCol w="1828800"/>
                <a:gridCol w="1828800"/>
                <a:gridCol w="2011680"/>
                <a:gridCol w="2834640"/>
                <a:gridCol w="1554480"/>
              </a:tblGrid>
              <a:tr h="502920">
                <a:tc>
                  <a:txBody>
                    <a:bodyPr wrap="square"/>
                    <a:lstStyle/>
                    <a:p/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RL が作用する場所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Critic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学習データ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長所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課題</a:t>
                      </a:r>
                    </a:p>
                  </a:txBody>
                  <a:tcPr anchor="ctr" marL="73152" marR="73152" marT="27432" marB="27432">
                    <a:solidFill>
                      <a:srgbClr val="0B66C3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RECAP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方策の学習目標（advantage 条件付き SFT）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価値関数（return を予測）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ロールアウト（成功・失敗）、人のデモ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方策勾配が不要で、flow matching の VLA に使える。デモ・ロールアウト・人の介入を、同じ枠組みで使える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学習が重く、時間がかかる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STEAM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方策の学習目標（RECAP と同じ条件付き SFT）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時間オフセット予測器のアンサンブル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人のデモ（自己教師あり）、成功ロールアウト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報酬や手作りのラベルが不要で、デモから advantage を学べる。アンサンブルの最小値で、過大評価を抑える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学習が重く、時間がかかる</a:t>
                      </a:r>
                    </a:p>
                  </a:txBody>
                  <a:tcPr anchor="ctr" marL="73152" marR="73152" marT="27432" marB="27432">
                    <a:solidFill>
                      <a:srgbClr val="F3F7FC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RL Token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行動の洗練（凍結 VLA の出力）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Q 関数（行動の価値を予測）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オンラインで集めるロールアウト（環境と報酬）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軽量（actor は約 5 MB）で、約 5 時間で学習。success_once 0.46 → 0.74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A1A1A"/>
                          </a:solidFill>
                          <a:latin typeface="Yu Gothic"/>
                          <a:ea typeface="Yu Gothic"/>
                          <a:cs typeface="Yu Gothic"/>
                        </a:rPr>
                        <a:t>報酬設計が必要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RECAP と STEAM は、Critic（と学習データ）が違う。RL Token は、行動を直す。目的は補完的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and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まとめと課題</a:t>
            </a:r>
          </a:p>
        </p:txBody>
      </p:sp>
      <p:sp>
        <p:nvSpPr>
          <p:cNvPr id="3" name="page number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Yu Gothic"/>
                <a:ea typeface="Yu Gothic"/>
                <a:cs typeface="Yu Gothic"/>
              </a:rPr>
              <a:t>33</a:t>
            </a:r>
          </a:p>
        </p:txBody>
      </p:sp>
      <p:sp>
        <p:nvSpPr>
          <p:cNvPr id="4" name="summary head"/>
          <p:cNvSpPr/>
          <p:nvPr/>
        </p:nvSpPr>
        <p:spPr>
          <a:xfrm>
            <a:off x="548640" y="1005840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0B66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3949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RECAP と STEAM は Critic が違う（advantage 条件付き学習）。RL Token は、オンライン RL で行動を洗練する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smolVLA では </a:t>
            </a:r>
            <a:r>
              <a:rPr sz="16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RL Token が最良</a:t>
            </a: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（0.40 → 0.74）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RECAP・STEAM は、Step4 の途中段階の最良値で 0.50〜0.52。ベースとの差は、有意とは言えない</a:t>
            </a:r>
          </a:p>
        </p:txBody>
      </p:sp>
      <p:sp>
        <p:nvSpPr>
          <p:cNvPr id="6" name="issues head"/>
          <p:cNvSpPr/>
          <p:nvPr/>
        </p:nvSpPr>
        <p:spPr>
          <a:xfrm>
            <a:off x="6217920" y="1005840"/>
            <a:ext cx="5394960" cy="54864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課題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9496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56032"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RECAP・STEAM の Step4 は途中段階（計画の 30,000 step に対し、2,000 step 前後）</a:t>
            </a:r>
          </a:p>
          <a:p>
            <a:pPr algn="l" marL="274320" indent="-256032">
              <a:spcAft>
                <a:spcPts val="600"/>
              </a:spcAft>
              <a:buChar char="•"/>
            </a:pPr>
            <a:r>
              <a:rPr sz="16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STEAM の Critic は、未知のロールアウトでの精度が低く、アンサンブルも 1 個</a:t>
            </a:r>
          </a:p>
        </p:txBody>
      </p:sp>
      <p:sp>
        <p:nvSpPr>
          <p:cNvPr id="8" name="result ベース"/>
          <p:cNvSpPr/>
          <p:nvPr/>
        </p:nvSpPr>
        <p:spPr>
          <a:xfrm>
            <a:off x="548640" y="4434840"/>
            <a:ext cx="2606040" cy="1097280"/>
          </a:xfrm>
          <a:prstGeom prst="roundRect">
            <a:avLst>
              <a:gd name="adj" fmla="val 12000"/>
            </a:avLst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200" b="1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0.40</a:t>
            </a:r>
          </a:p>
          <a:p>
            <a:pPr algn="ctr"/>
            <a:r>
              <a:rPr sz="1500" b="0" i="0">
                <a:solidFill>
                  <a:srgbClr val="1A1A1A"/>
                </a:solidFill>
                <a:latin typeface="Yu Gothic"/>
                <a:ea typeface="Yu Gothic"/>
                <a:cs typeface="Yu Gothic"/>
              </a:rPr>
              <a:t>ベース</a:t>
            </a:r>
          </a:p>
        </p:txBody>
      </p:sp>
      <p:sp>
        <p:nvSpPr>
          <p:cNvPr id="9" name="result RECAP"/>
          <p:cNvSpPr/>
          <p:nvPr/>
        </p:nvSpPr>
        <p:spPr>
          <a:xfrm>
            <a:off x="3337560" y="4434840"/>
            <a:ext cx="2606040" cy="1097280"/>
          </a:xfrm>
          <a:prstGeom prst="roundRect">
            <a:avLst>
              <a:gd name="adj" fmla="val 12000"/>
            </a:avLst>
          </a:prstGeom>
          <a:solidFill>
            <a:srgbClr val="6B8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0.50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RECAP</a:t>
            </a:r>
          </a:p>
        </p:txBody>
      </p:sp>
      <p:sp>
        <p:nvSpPr>
          <p:cNvPr id="10" name="result STEAM"/>
          <p:cNvSpPr/>
          <p:nvPr/>
        </p:nvSpPr>
        <p:spPr>
          <a:xfrm>
            <a:off x="6126479" y="4434840"/>
            <a:ext cx="2606040" cy="1097280"/>
          </a:xfrm>
          <a:prstGeom prst="roundRect">
            <a:avLst>
              <a:gd name="adj" fmla="val 12000"/>
            </a:avLst>
          </a:prstGeom>
          <a:solidFill>
            <a:srgbClr val="6B8B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0.52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STEAM</a:t>
            </a:r>
          </a:p>
        </p:txBody>
      </p:sp>
      <p:sp>
        <p:nvSpPr>
          <p:cNvPr id="11" name="result RL Token"/>
          <p:cNvSpPr/>
          <p:nvPr/>
        </p:nvSpPr>
        <p:spPr>
          <a:xfrm>
            <a:off x="8915399" y="4434840"/>
            <a:ext cx="2606040" cy="109728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3200" b="1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0.74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RL Token</a:t>
            </a:r>
          </a:p>
        </p:txBody>
      </p:sp>
      <p:sp>
        <p:nvSpPr>
          <p:cNvPr id="12" name="key point"/>
          <p:cNvSpPr/>
          <p:nvPr/>
        </p:nvSpPr>
        <p:spPr>
          <a:xfrm>
            <a:off x="548640" y="5715000"/>
            <a:ext cx="11064240" cy="640080"/>
          </a:xfrm>
          <a:prstGeom prst="roundRect">
            <a:avLst>
              <a:gd name="adj" fmla="val 18000"/>
            </a:avLst>
          </a:prstGeom>
          <a:solidFill>
            <a:srgbClr val="E8F1FB"/>
          </a:solidFill>
          <a:ln w="15875">
            <a:solidFill>
              <a:srgbClr val="0B66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600" b="1" i="0">
                <a:solidFill>
                  <a:srgbClr val="0B66C3"/>
                </a:solidFill>
                <a:latin typeface="Yu Gothic"/>
                <a:ea typeface="Yu Gothic"/>
                <a:cs typeface="Yu Gothic"/>
              </a:rPr>
              <a:t>→ 最良は RL Token（0.74）。RECAP・STEAM は途中段階で、学習量が課題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
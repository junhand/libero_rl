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価値モデルの出力: 各ビンの確率（例。実際は 201 個）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09"/>
          <c:y val="0.14"/>
          <c:w val="0.89"/>
          <c:h val="0.66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確率</c:v>
                </c:pt>
              </c:strCache>
            </c:strRef>
          </c:tx>
          <c:spPr>
            <a:solidFill>
              <a:srgbClr val="0B66C3"/>
            </a:solidFill>
          </c:spPr>
          <c:cat>
            <c:strRef>
              <c:f>Sheet1!$A$2:$A$22</c:f>
              <c:strCache>
                <c:ptCount val="21"/>
                <c:pt idx="0">
                  <c:v> </c:v>
                </c:pt>
                <c:pt idx="1">
                  <c:v> </c:v>
                </c:pt>
                <c:pt idx="2">
                  <c:v> </c:v>
                </c:pt>
                <c:pt idx="3">
                  <c:v> </c:v>
                </c:pt>
                <c:pt idx="4">
                  <c:v> </c:v>
                </c:pt>
                <c:pt idx="5">
                  <c:v> </c:v>
                </c:pt>
                <c:pt idx="6">
                  <c:v> </c:v>
                </c:pt>
                <c:pt idx="7">
                  <c:v> </c:v>
                </c:pt>
                <c:pt idx="8">
                  <c:v> </c:v>
                </c:pt>
                <c:pt idx="9">
                  <c:v> </c:v>
                </c:pt>
                <c:pt idx="10">
                  <c:v> </c:v>
                </c:pt>
                <c:pt idx="11">
                  <c:v> </c:v>
                </c:pt>
                <c:pt idx="12">
                  <c:v> </c:v>
                </c:pt>
                <c:pt idx="13">
                  <c:v> </c:v>
                </c:pt>
                <c:pt idx="14">
                  <c:v> </c:v>
                </c:pt>
                <c:pt idx="15">
                  <c:v> </c:v>
                </c:pt>
                <c:pt idx="16">
                  <c:v> </c:v>
                </c:pt>
                <c:pt idx="17">
                  <c:v> </c:v>
                </c:pt>
                <c:pt idx="18">
                  <c:v> </c:v>
                </c:pt>
                <c:pt idx="19">
                  <c:v> </c:v>
                </c:pt>
                <c:pt idx="20">
                  <c:v> 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6.808423909362727e-09</c:v>
                </c:pt>
                <c:pt idx="1">
                  <c:v>7.09454062840909e-08</c:v>
                </c:pt>
                <c:pt idx="2">
                  <c:v>6.214463256178822e-07</c:v>
                </c:pt>
                <c:pt idx="3">
                  <c:v>4.575985307847839e-06</c:v>
                </c:pt>
                <c:pt idx="4">
                  <c:v>2.8324827306608757e-05</c:v>
                </c:pt>
                <c:pt idx="5">
                  <c:v>0.00014738441855667697</c:v>
                </c:pt>
                <c:pt idx="6">
                  <c:v>0.0006446700980406772</c:v>
                </c:pt>
                <c:pt idx="7">
                  <c:v>0.002370419074959102</c:v>
                </c:pt>
                <c:pt idx="8">
                  <c:v>0.007326800938643134</c:v>
                </c:pt>
                <c:pt idx="9">
                  <c:v>0.01903729781339387</c:v>
                </c:pt>
                <c:pt idx="10">
                  <c:v>0.041581281319753305</c:v>
                </c:pt>
                <c:pt idx="11">
                  <c:v>0.07634701896864554</c:v>
                </c:pt>
                <c:pt idx="12">
                  <c:v>0.1178387028524943</c:v>
                </c:pt>
                <c:pt idx="13">
                  <c:v>0.15289225093757114</c:v>
                </c:pt>
                <c:pt idx="14">
                  <c:v>0.1667572207346709</c:v>
                </c:pt>
                <c:pt idx="15">
                  <c:v>0.15289225093757114</c:v>
                </c:pt>
                <c:pt idx="16">
                  <c:v>0.1178387028524942</c:v>
                </c:pt>
                <c:pt idx="17">
                  <c:v>0.07634701896864544</c:v>
                </c:pt>
                <c:pt idx="18">
                  <c:v>0.041581281319753305</c:v>
                </c:pt>
                <c:pt idx="19">
                  <c:v>0.01903729781339387</c:v>
                </c:pt>
                <c:pt idx="20">
                  <c:v>0.007326800938643134</c:v>
                </c:pt>
              </c:numCache>
            </c:numRef>
          </c:val>
        </c:ser>
        <c:gapWidth val="3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one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74.0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論文の書誌と、実装基盤 RLinf への変更。本資料の日本語訳は docs/ にある（機械翻訳）。RLinf への変更は patches/rlinf/*.patch にまとめている（RLinf のファイルは直接編集していない）。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と STEAM は Critic（advantage の作り方）だけが違う。RL Token は、オンラインで行動を洗練する、という整理が主題。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π*0.6 の図 3 より。下が価値関数、上が VLA。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数値は説明用の例で、実験の値ではない。ビンの値は、正規化した return の範囲 [−1, 0] を 201 個に等分したもの（実装: v_min = −1、v_max = 0、num_bins = 201）。V は、各ビンの確率の期待値。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と評価（Step5）。名称は私たちのパイプラインの番号。【発表者向け】0.50 は、advantage プロンプトなしで評価した最良値。プロンプトあり（Advantage: positive）では 0.48。Step4 は途中段階（2,000 step）。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STEAM の図 1 より。左から、ラベル付け、予測器の学習、方策の改善。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 の実装スライドと同じ形式。Step 名は私たちのパイプラインの番号。【発表者向け】0.52 は、最初の 1,000 step は札付き SFT、続く 450 step は positive のフレームだけで学習したモデルを、advantage プロンプトなしで評価した値。札付き SFT（プロンプトあり）の評価は 0.42、両側タグ（negative にも札を付ける）は 0.36。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RL Token の図 2 より。VLA の内部の埋め込みを、1 本の RL token に圧縮する。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と評価（Step5）。RECAP・STEAM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エピソード）。【発表者向け】RECAP 0.50 と STEAM 0.52 は、advantage プロンプトなしで評価した最良値。プロンプトあり（Advantage: positive）では RECAP 0.48、STEAM 0.42。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14 での比較。ベースと RL Token の動画は wandb: https://wandb.ai/junhand/libero_RL/runs/w3vkksd0（run 名 demo-init14-base-fail-vs-rlt-success）。RECAP の動画は wandb: https://wandb.ai/junhand/libero_RL/runs/30cagwmg（run 名 recap-noprompt-vs-base-init14）。RL Token の動画は H（1 つ目は G の actor、2 つ目は専用 actor）。RECAP の動画は global_step_2000（advantage プロンプトなしで評価、success_once 0.50）。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8 での比較（STEAM）。wandb: https://wandb.ai/junhand/libero_RL/runs/kydvjtsn（run 名 demo-init8-base-fail-vs-steamP-success）。STEAM の動画は実験 P（positive のフレームだけで学習、advantage プロンプトなしで評価、success_once 0.52）。画面の reward / termination の文字は、評価の画面表示。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は、RECAP が RTX 6000 Ada、それ以外が RTX A5000。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残された課題: Step4 の学習量、critic の精度。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6.png"/><Relationship Id="rId9" Type="http://schemas.microsoft.com/office/2007/relationships/media" Target="../media/media3.mp4"/><Relationship Id="rId10" Type="http://schemas.openxmlformats.org/officeDocument/2006/relationships/video" Target="../media/media3.mp4"/><Relationship Id="rId11" Type="http://schemas.openxmlformats.org/officeDocument/2006/relationships/image" Target="../media/image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8.png"/><Relationship Id="rId6" Type="http://schemas.microsoft.com/office/2007/relationships/media" Target="../media/media5.mp4"/><Relationship Id="rId7" Type="http://schemas.openxmlformats.org/officeDocument/2006/relationships/video" Target="../media/media5.mp4"/><Relationship Id="rId8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188720"/>
            <a:ext cx="7863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2026/10/05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Jun Kawagoshi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つの強化学習手法を理解し、同じ設定（smolVLA、LIBERO-⁠10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0.74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は、どちらも advantage から「良い」の札を作って方策を学習し、Critic（advantage の作り方）だけが違う。RL Token は、オンライン RL で行動を洗練する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47472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実装基盤 RLinf に、smolVLA（約 4.5 億パラメータ）で実験するための変更を加えた</a:t>
            </a:r>
          </a:p>
        </p:txBody>
      </p:sp>
      <p:sp>
        <p:nvSpPr>
          <p:cNvPr id="6" name="change tag 共通"/>
          <p:cNvSpPr/>
          <p:nvPr/>
        </p:nvSpPr>
        <p:spPr>
          <a:xfrm>
            <a:off x="548640" y="3931920"/>
            <a:ext cx="1554480" cy="53035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共通</a:t>
            </a:r>
          </a:p>
        </p:txBody>
      </p:sp>
      <p:sp>
        <p:nvSpPr>
          <p:cNvPr id="7" name="change 共通"/>
          <p:cNvSpPr/>
          <p:nvPr/>
        </p:nvSpPr>
        <p:spPr>
          <a:xfrm>
            <a:off x="2194560" y="3931920"/>
            <a:ext cx="9418320" cy="530352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の組み込み: smolVLA を RLinf のモデルとして登録。LIBERO のロールアウト収集・評価の設定を追加</a:t>
            </a:r>
          </a:p>
        </p:txBody>
      </p:sp>
      <p:sp>
        <p:nvSpPr>
          <p:cNvPr id="8" name="change tag RECAP・STEAM"/>
          <p:cNvSpPr/>
          <p:nvPr/>
        </p:nvSpPr>
        <p:spPr>
          <a:xfrm>
            <a:off x="548640" y="4535424"/>
            <a:ext cx="1554480" cy="53035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RECAP・STEAM</a:t>
            </a:r>
          </a:p>
        </p:txBody>
      </p:sp>
      <p:sp>
        <p:nvSpPr>
          <p:cNvPr id="9" name="change RECAP・STEAM"/>
          <p:cNvSpPr/>
          <p:nvPr/>
        </p:nvSpPr>
        <p:spPr>
          <a:xfrm>
            <a:off x="2194560" y="4535424"/>
            <a:ext cx="9418320" cy="530352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札付き学習とデータ処理: π₀.₅ 用の札付き SFT（"Advantage: positive"）を smolVLA 向けに移植（negative は札なし）</a:t>
            </a:r>
          </a:p>
        </p:txBody>
      </p:sp>
      <p:sp>
        <p:nvSpPr>
          <p:cNvPr id="10" name="change tag RL Token"/>
          <p:cNvSpPr/>
          <p:nvPr/>
        </p:nvSpPr>
        <p:spPr>
          <a:xfrm>
            <a:off x="548640" y="5138928"/>
            <a:ext cx="1554480" cy="53035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1" name="change RL Token"/>
          <p:cNvSpPr/>
          <p:nvPr/>
        </p:nvSpPr>
        <p:spPr>
          <a:xfrm>
            <a:off x="2194560" y="5138928"/>
            <a:ext cx="9418320" cy="530352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の部品: 凍結した smolVLA と RL token の組み込み、LIBERO での把持の判定・報酬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833872"/>
            <a:ext cx="11064240" cy="530352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論文の内容（引用）と、SmolVLA による実験結果を紹介する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0584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8138160" y="98755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773936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8138160" y="1755648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−⁠1）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542032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8138160" y="2523744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310128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8138160" y="3291840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078224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8138160" y="4059936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term Critic"/>
          <p:cNvSpPr/>
          <p:nvPr/>
        </p:nvSpPr>
        <p:spPr>
          <a:xfrm>
            <a:off x="6309360" y="484632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</p:txBody>
      </p:sp>
      <p:sp>
        <p:nvSpPr>
          <p:cNvPr id="24" name="def Critic"/>
          <p:cNvSpPr txBox="1"/>
          <p:nvPr/>
        </p:nvSpPr>
        <p:spPr>
          <a:xfrm>
            <a:off x="8138160" y="482803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状態や行動の良さを、数値で答えるモデル。RECAP は価値関数 V、STEAM は時間差を当てるモデル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は、結果から良い行動を増やす学習。RECAP・STEAM は、Critic で advantage 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2120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5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しかし、精度・速度・失敗からの回復には限界がある（RECAP・RL Token）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デモの収集は高コストで、品質も混在する（STEAM）</a:t>
            </a:r>
          </a:p>
          <a:p>
            <a:pPr algn="l" marL="274320" indent="-256032">
              <a:spcAft>
                <a:spcPts val="5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練習して熟達する。自律実行・人の介入の経験を使う（RECAP）</a:t>
            </a:r>
          </a:p>
          <a:p>
            <a:pPr algn="l" marL="274320" indent="-256032">
              <a:spcAft>
                <a:spcPts val="5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ただし、VLA への RL には課題がある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全体の RL は、大規模なデータが必要で、オンライン適応に向かない。小さいモデルの RL は、VLA の汎化能力を失う（RL Token）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方策勾配法は、flow matching の VLA に適用しにくい（RECAP）</a:t>
            </a:r>
          </a:p>
          <a:p>
            <a:pPr algn="l" marL="585216" indent="-256032">
              <a:spcAft>
                <a:spcPts val="5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従来の報酬・価値モデルは、手作りの報酬や人のラベルが必要でスケールしにくく、デモにない状態では、誤って高い advantage を付けることがある（STEAM）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 は価値関数。成功への近さ V から advantage を作り、「良い」の札を付けて方策を学習する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 は、時間オフセットを当てるモデルのアンサンブル。advantage を作り、同じ札付きの学習で方策を学習する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が、オンライン RL で VLA の行動を改善する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 Critic だけが違う。RL Token は、オンラインで行動を洗練する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LIBERO-⁠10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41.0%）。成功した時点で打ち切る設定で収集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6000 Ada（48GB）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、それ以外は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pic>
        <p:nvPicPr>
          <p:cNvPr id="4" name="fig_recap.png" descr="fig_re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49" y="960120"/>
            <a:ext cx="5559421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π*0.6 論文（Physical Intelligence）図 3 より</a:t>
            </a:r>
          </a:p>
        </p:txBody>
      </p:sp>
      <p:sp>
        <p:nvSpPr>
          <p:cNvPr id="6" name="no 1"/>
          <p:cNvSpPr/>
          <p:nvPr/>
        </p:nvSpPr>
        <p:spPr>
          <a:xfrm>
            <a:off x="6766560" y="1005840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7269480" y="1005840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画像と指示文から、価値 V を出す（SigLIP + Gemma 270M に、value head を付けたもの）</a:t>
            </a:r>
          </a:p>
        </p:txBody>
      </p:sp>
      <p:sp>
        <p:nvSpPr>
          <p:cNvPr id="8" name="no 2"/>
          <p:cNvSpPr/>
          <p:nvPr/>
        </p:nvSpPr>
        <p:spPr>
          <a:xfrm>
            <a:off x="6766560" y="2084832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7269480" y="2084832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V(o_t+N) − V(o_t)。行動の前後で、成功に近づいたか</a:t>
            </a:r>
          </a:p>
        </p:txBody>
      </p:sp>
      <p:sp>
        <p:nvSpPr>
          <p:cNvPr id="10" name="no 3"/>
          <p:cNvSpPr/>
          <p:nvPr/>
        </p:nvSpPr>
        <p:spPr>
          <a:xfrm>
            <a:off x="6766560" y="3163824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7269480" y="3163824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値化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ε なら「良い」。この札（metadata）を、VLA の入力に加える</a:t>
            </a:r>
          </a:p>
        </p:txBody>
      </p:sp>
      <p:sp>
        <p:nvSpPr>
          <p:cNvPr id="12" name="no 4"/>
          <p:cNvSpPr/>
          <p:nvPr/>
        </p:nvSpPr>
        <p:spPr>
          <a:xfrm>
            <a:off x="6766560" y="4242816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7269480" y="4242816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VLA（図の上）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画像・指示文・札から、行動を出す。離散化した行動と、action expert（860M）が出す連続の行動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価値関数が作った「良い/悪い」の札を、VLA の入力に加えて学習する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−⁠300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−⁠819 で割り、[−⁠1, 0] にそろえる（0 が成功、−⁠1 が最悪）。価値モデルは、この値を当てる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−⁠159 → −⁠0.19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−⁠719 → −⁠0.88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−⁠300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価値 V の算出方法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005840"/>
          <a:ext cx="630936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xlabel 0"/>
          <p:cNvSpPr txBox="1"/>
          <p:nvPr/>
        </p:nvSpPr>
        <p:spPr>
          <a:xfrm>
            <a:off x="884420" y="365760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−⁠1.0</a:t>
            </a:r>
          </a:p>
        </p:txBody>
      </p:sp>
      <p:sp>
        <p:nvSpPr>
          <p:cNvPr id="6" name="xlabel 4"/>
          <p:cNvSpPr txBox="1"/>
          <p:nvPr/>
        </p:nvSpPr>
        <p:spPr>
          <a:xfrm>
            <a:off x="1954007" y="365760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−⁠0.8</a:t>
            </a:r>
          </a:p>
        </p:txBody>
      </p:sp>
      <p:sp>
        <p:nvSpPr>
          <p:cNvPr id="7" name="xlabel 8"/>
          <p:cNvSpPr txBox="1"/>
          <p:nvPr/>
        </p:nvSpPr>
        <p:spPr>
          <a:xfrm>
            <a:off x="3023594" y="365760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−⁠0.6</a:t>
            </a:r>
          </a:p>
        </p:txBody>
      </p:sp>
      <p:sp>
        <p:nvSpPr>
          <p:cNvPr id="8" name="xlabel 12"/>
          <p:cNvSpPr txBox="1"/>
          <p:nvPr/>
        </p:nvSpPr>
        <p:spPr>
          <a:xfrm>
            <a:off x="4093180" y="365760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−⁠0.4</a:t>
            </a:r>
          </a:p>
        </p:txBody>
      </p:sp>
      <p:sp>
        <p:nvSpPr>
          <p:cNvPr id="9" name="xlabel 16"/>
          <p:cNvSpPr txBox="1"/>
          <p:nvPr/>
        </p:nvSpPr>
        <p:spPr>
          <a:xfrm>
            <a:off x="5162767" y="365760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−⁠0.2</a:t>
            </a:r>
          </a:p>
        </p:txBody>
      </p:sp>
      <p:sp>
        <p:nvSpPr>
          <p:cNvPr id="10" name="xlabel 20"/>
          <p:cNvSpPr txBox="1"/>
          <p:nvPr/>
        </p:nvSpPr>
        <p:spPr>
          <a:xfrm>
            <a:off x="6232354" y="365760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97680"/>
            <a:ext cx="63093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ビンの値（−⁠1 = 最悪、0 = 成功）。縦軸: そのビンの確率</a:t>
            </a:r>
          </a:p>
        </p:txBody>
      </p:sp>
      <p:sp>
        <p:nvSpPr>
          <p:cNvPr id="12" name="step1"/>
          <p:cNvSpPr/>
          <p:nvPr/>
        </p:nvSpPr>
        <p:spPr>
          <a:xfrm>
            <a:off x="7132320" y="1005840"/>
            <a:ext cx="4480560" cy="118872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画像と指示文を、価値モデルに入れる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出力: 201 個のビンの確率（足して 1）</a:t>
            </a:r>
          </a:p>
        </p:txBody>
      </p:sp>
      <p:sp>
        <p:nvSpPr>
          <p:cNvPr id="13" name="step2"/>
          <p:cNvSpPr/>
          <p:nvPr/>
        </p:nvSpPr>
        <p:spPr>
          <a:xfrm>
            <a:off x="7132320" y="2331720"/>
            <a:ext cx="4480560" cy="12801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期待値をとる</a:t>
            </a:r>
          </a:p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 = Σ（ビンの値 × そのビンの確率）</a:t>
            </a:r>
          </a:p>
          <a:p>
            <a:pPr algn="l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確率の重みつきの平均</a:t>
            </a:r>
          </a:p>
        </p:txBody>
      </p:sp>
      <p:sp>
        <p:nvSpPr>
          <p:cNvPr id="14" name="step3"/>
          <p:cNvSpPr/>
          <p:nvPr/>
        </p:nvSpPr>
        <p:spPr>
          <a:xfrm>
            <a:off x="7132320" y="3749039"/>
            <a:ext cx="448056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V は、「正規化した return の予想」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 に近いほど成功に近い。例: V = −⁠0.30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72600" y="2194560"/>
            <a:ext cx="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372600" y="3611880"/>
            <a:ext cx="0" cy="137159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usage"/>
          <p:cNvSpPr/>
          <p:nvPr/>
        </p:nvSpPr>
        <p:spPr>
          <a:xfrm>
            <a:off x="548640" y="4754880"/>
            <a:ext cx="1106424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使い道: 2 つのフレームの V の差から advantage を作る（A = r + V(o_t+10) − V(o_t)）。V が上がれば、その行動は「良い」</a:t>
            </a:r>
          </a:p>
        </p:txBody>
      </p:sp>
      <p:sp>
        <p:nvSpPr>
          <p:cNvPr id="18" name="key point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 V は、ビンの確率の期待値。「成功まであとどれくらいか」を、1 つの数値で表す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Gemma3-⁠270M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−⁠0.12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V（−⁠1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−⁠1、失敗は終端で −⁠300）を正規化し、ビンにしたもの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−⁠0.50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−⁠0.45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−⁠0.01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−⁠0.01 − 0.45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−⁠1、失敗は終端で −⁠300。return を [−⁠819,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Gemma3-⁠270M）が、201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0.50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0.40）。Step4 は途中段階（2,000 step 前後、計画は 30,000 step）で、評価は 0.44〜0.50 の範囲で変動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の計算 → 価値モデルの学習 → advantage の計算 → 札付き SFT → 評価、の順に進める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−⁠3（後退）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pic>
        <p:nvPicPr>
          <p:cNvPr id="4" name="fig_steam.png" descr="fig_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11064240" cy="2267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01097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STEAM 論文図 1 より</a:t>
            </a:r>
          </a:p>
        </p:txBody>
      </p:sp>
      <p:sp>
        <p:nvSpPr>
          <p:cNvPr id="6" name="panel 1"/>
          <p:cNvSpPr/>
          <p:nvPr/>
        </p:nvSpPr>
        <p:spPr>
          <a:xfrm>
            <a:off x="548640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フレームペアのラベル付け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専門家デモの 2 つのフレーム（前進 forward / 後退 backward）の時間差を、エピソード長で正規化して、正解にする</a:t>
            </a:r>
          </a:p>
        </p:txBody>
      </p:sp>
      <p:sp>
        <p:nvSpPr>
          <p:cNvPr id="7" name="panel 2"/>
          <p:cNvSpPr/>
          <p:nvPr/>
        </p:nvSpPr>
        <p:spPr>
          <a:xfrm>
            <a:off x="429767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時間オフセット予測器の学習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つのフレームと指示文から、時間差の分布を出す。M 個の予測器を学習して、アンサンブルにする</a:t>
            </a:r>
          </a:p>
        </p:txBody>
      </p:sp>
      <p:sp>
        <p:nvSpPr>
          <p:cNvPr id="8" name="panel 3"/>
          <p:cNvSpPr/>
          <p:nvPr/>
        </p:nvSpPr>
        <p:spPr>
          <a:xfrm>
            <a:off x="804671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方策の改善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専門家・ロールアウト・人の修正のデータに、アンサンブルで A_STEAM を付け、CFGRL（札付き学習）で VLA を学習する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報酬を使わず、デモの時間構造から advantage を作り、VLA を学習する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Gemma3-⁠270M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フレームペアの作成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方策の学習（SFT）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4）と、成功ロールアウトから、k = 32 ステップ先とのフレームペアを作る。逆再生のペアは、負の時間差。時間差は軌跡長で正規化し、32 ビンに分ける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critic（SigLIP so400m + Gemma3-⁠270M）が、時間差の 32 ビンの分布を予測（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step、バッチ 64、8.3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 accuracy は 0.277 → 0.353。未知のロールアウト（step 600）では 0.106 と低い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ペアの予想から advantage を作る（アンサンブルのメンバーは 1 個）。ロールアウトの上位 30%、デモの上位 80% を positive（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万サンプル、約 9.8 時間、17.7 サンプル/秒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札付き SFT で 1,000 step、続けて positive のフレームだけで 450 step（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合計 1,450 step、16.5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は学習データ上では改善したが、未知のロールアウトでの精度は低い（課題）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pic>
        <p:nvPicPr>
          <p:cNvPr id="4" name="fig_rl_token.png" descr="fig_rl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6" y="960120"/>
            <a:ext cx="473550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RL Token 論文（Physical Intelligence）図 2 より</a:t>
            </a:r>
          </a:p>
        </p:txBody>
      </p:sp>
      <p:sp>
        <p:nvSpPr>
          <p:cNvPr id="6" name="no 1"/>
          <p:cNvSpPr/>
          <p:nvPr/>
        </p:nvSpPr>
        <p:spPr>
          <a:xfrm>
            <a:off x="5760720" y="10058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6263640" y="10058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台のカメラ画像と指示文を、VLA（SigLIP + Gemma）に入れる</a:t>
            </a:r>
          </a:p>
        </p:txBody>
      </p:sp>
      <p:sp>
        <p:nvSpPr>
          <p:cNvPr id="8" name="no 2"/>
          <p:cNvSpPr/>
          <p:nvPr/>
        </p:nvSpPr>
        <p:spPr>
          <a:xfrm>
            <a:off x="5760720" y="19202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6263640" y="19202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画像の埋め込み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の内部で作られる、画像の埋め込み（N × 2048）</a:t>
            </a:r>
          </a:p>
        </p:txBody>
      </p:sp>
      <p:sp>
        <p:nvSpPr>
          <p:cNvPr id="10" name="no 3"/>
          <p:cNvSpPr/>
          <p:nvPr/>
        </p:nvSpPr>
        <p:spPr>
          <a:xfrm>
            <a:off x="5760720" y="28346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6263640" y="28346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encoder → RL token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埋め込みと、学習可能なトークン e_rl から、1 本の RL token（1 × 2048）に圧縮する</a:t>
            </a:r>
          </a:p>
        </p:txBody>
      </p:sp>
      <p:sp>
        <p:nvSpPr>
          <p:cNvPr id="12" name="no 4"/>
          <p:cNvSpPr/>
          <p:nvPr/>
        </p:nvSpPr>
        <p:spPr>
          <a:xfrm>
            <a:off x="5760720" y="3749039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6263640" y="3749039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decoder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から、元の埋め込みを再構成する。これを損失にして、RL token に情報を詰める</a:t>
            </a:r>
          </a:p>
        </p:txBody>
      </p:sp>
      <p:sp>
        <p:nvSpPr>
          <p:cNvPr id="14" name="no 5"/>
          <p:cNvSpPr/>
          <p:nvPr/>
        </p:nvSpPr>
        <p:spPr>
          <a:xfrm>
            <a:off x="5760720" y="46634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note 5"/>
          <p:cNvSpPr/>
          <p:nvPr/>
        </p:nvSpPr>
        <p:spPr>
          <a:xfrm>
            <a:off x="6263640" y="46634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行動チャンク（図の右）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 action expert が、ノイズから行動チャンクを出す。RL では、これを「参照行動」として使う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VLA は凍結したまま、RL token が、RL にとっての小さな状態表現になる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特徴量の抽出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actor-critic の学習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つ目専用の actor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に、デモとロールアウトの動画フレームを通し、画像トークン（128 × 960）を保存（把持の前後を中心に抽出。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17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encoder-decoder が、保存した特徴から RL token を作る（再構成損失で学習。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6,000 step、バッチ 64、約 25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A5000）。再構成の val MSE は 0.073（平均を出す基準は 0.269）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1・2 つ目の把持の actor-critic を、オンライン RL で学習（3 環境、更新/データ比 5、探索ノイズ σ = 0.05。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エポック、バッチ 512、約 8.2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残る失敗は 2 つ目の把持が最大 → 2 つ目専用の actor を、初期値なしで学習（1 つ目は Step3 の actor を固定。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エポック、バッチ 512、約 5.5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A5000）。空振りへの罰 −⁠0.2 を加えると 0.68 で、効果は確認できなかった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0.74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（最良。3 つの評価シードの平均は 0.71）。VLA のみ 0.46、1 つ目だけ RL 0.62、2 つ目を VLA に任せる 0.68。actor の重みは約 5 MB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0.74 に向上した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74.0%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+34.0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の最良値。評価条件の詳細は、口頭で補足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74%）。RECAP・STEAM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14）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118872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8872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118872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 つ目は運ぶが、2 つ目をカゴに入れられない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RECAP（札: positive）"/>
          <p:cNvSpPr/>
          <p:nvPr/>
        </p:nvSpPr>
        <p:spPr>
          <a:xfrm>
            <a:off x="493776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RECAP（札: positive）</a:t>
            </a:r>
          </a:p>
        </p:txBody>
      </p:sp>
      <p:pic>
        <p:nvPicPr>
          <p:cNvPr id="10" name="video RECAP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4937760" y="2212848"/>
            <a:ext cx="2286000" cy="2286000"/>
          </a:xfrm>
          <a:prstGeom prst="rect">
            <a:avLst/>
          </a:prstGeom>
        </p:spPr>
      </p:pic>
      <p:sp>
        <p:nvSpPr>
          <p:cNvPr id="11" name="result RECAP（札: positive）"/>
          <p:cNvSpPr/>
          <p:nvPr/>
        </p:nvSpPr>
        <p:spPr>
          <a:xfrm>
            <a:off x="493776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0.50</a:t>
            </a:r>
          </a:p>
        </p:txBody>
      </p:sp>
      <p:sp>
        <p:nvSpPr>
          <p:cNvPr id="13" name="label RL Token（最良）"/>
          <p:cNvSpPr/>
          <p:nvPr/>
        </p:nvSpPr>
        <p:spPr>
          <a:xfrm>
            <a:off x="868680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Token（最良）</a:t>
            </a:r>
          </a:p>
        </p:txBody>
      </p:sp>
      <p:pic>
        <p:nvPicPr>
          <p:cNvPr id="14" name="video RL Token（最良）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686800" y="2212848"/>
            <a:ext cx="2286000" cy="2286000"/>
          </a:xfrm>
          <a:prstGeom prst="rect">
            <a:avLst/>
          </a:prstGeom>
        </p:spPr>
      </p:pic>
      <p:sp>
        <p:nvSpPr>
          <p:cNvPr id="15" name="result RL Token（最良）"/>
          <p:cNvSpPr/>
          <p:nvPr/>
        </p:nvSpPr>
        <p:spPr>
          <a:xfrm>
            <a:off x="868680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クリックで再生（約 52 秒）。success_once は 50 エピソードの値。3 つとも同じ初期状態 14</a:t>
            </a:r>
          </a:p>
        </p:txBody>
      </p:sp>
      <p:sp>
        <p:nvSpPr>
          <p:cNvPr id="18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同じ初期状態で、ベースは 2 つ目をカゴに入れられず失敗し、RECAP と RL Token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8）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292608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92608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292608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缶がカゴの外のテーブルに残る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STEAM（札: positive）"/>
          <p:cNvSpPr/>
          <p:nvPr/>
        </p:nvSpPr>
        <p:spPr>
          <a:xfrm>
            <a:off x="694944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STEAM（札: positive）</a:t>
            </a:r>
          </a:p>
        </p:txBody>
      </p:sp>
      <p:pic>
        <p:nvPicPr>
          <p:cNvPr id="10" name="video STEAM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949440" y="2212848"/>
            <a:ext cx="2286000" cy="2286000"/>
          </a:xfrm>
          <a:prstGeom prst="rect">
            <a:avLst/>
          </a:prstGeom>
        </p:spPr>
      </p:pic>
      <p:sp>
        <p:nvSpPr>
          <p:cNvPr id="11" name="result STEAM（札: positive）"/>
          <p:cNvSpPr/>
          <p:nvPr/>
        </p:nvSpPr>
        <p:spPr>
          <a:xfrm>
            <a:off x="694944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缶がカゴの中に入る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59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クリックで再生（約 52 秒）。success_once は 50 エピソードの値。初期状態 8（前のページの初期状態 14 とは別）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 8 で、ベースは失敗し、STEAM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103120"/>
                <a:gridCol w="2377440"/>
                <a:gridCol w="731520"/>
                <a:gridCol w="29260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価値モデル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9.8 時間（17.7 サンプル/秒）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5.5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35 時間、RL Token 約 14 時間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1645920"/>
                <a:gridCol w="1645920"/>
                <a:gridCol w="1828800"/>
                <a:gridCol w="3566160"/>
                <a:gridCol w="146304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学習データ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価値関数（return を予測）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ロールアウト（成功・失敗）、人のデモ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方策勾配が不要で、flow matching の VLA に使える。デモ・ロールアウト・人の介入を、同じ枠組みで使える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学習が重く、時間がかかる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方策の学習目標（RECAP と同じ条件付き 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時間オフセット予測器のアンサンブル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人のデモ（自己教師あり）、成功ロールアウト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報酬や手作りのラベルが不要。エピソード長で正規化した時間の進みを直接予測するため、遅さが advantage に出る（RECAP は遅いフレームを除けなかったと、論文が報告）。アンサンブルの最小値で、過大評価を抑える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学習が重く、時間がかかる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Q 関数（行動の価値を予測）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オンラインで集めるロールアウト（環境と報酬）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軽量（actor は約 5 MB）で、約 5 時間で学習。success_once 0.46 → 0.74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報酬設計が必要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は、Critic（と学習データ）が違う。RL Token は、行動を直す。目的は補完的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まとめと課題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33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 Critic が違う（advantage 条件付き学習）。RL Token は、オンライン RL で行動を洗練する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0.74）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</p:txBody>
      </p:sp>
      <p:sp>
        <p:nvSpPr>
          <p:cNvPr id="6" name="issues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課題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は途中段階（計画の 30,000 step に対し、2,000 step 前後）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は、未知のロールアウトでの精度が低く、アンサンブルも 1 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0.74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Token（0.74）。RECAP・STEAM は途中段階で、学習量が課題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
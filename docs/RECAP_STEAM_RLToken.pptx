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Critic（価値モデル）の出力: 各ビンの確率（例。実際は 201 個）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9"/>
          <c:y val="0.14"/>
          <c:w val="0.89"/>
          <c:h val="0.6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0B66C3"/>
            </a:solidFill>
          </c:spPr>
          <c:cat>
            <c:strRef>
              <c:f>Sheet1!$A$2:$A$22</c:f>
              <c:strCache>
                <c:ptCount val="21"/>
                <c:pt idx="0">
                  <c:v> 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 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 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 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 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6.808423909362727e-09</c:v>
                </c:pt>
                <c:pt idx="1">
                  <c:v>7.09454062840909e-08</c:v>
                </c:pt>
                <c:pt idx="2">
                  <c:v>6.214463256178822e-07</c:v>
                </c:pt>
                <c:pt idx="3">
                  <c:v>4.575985307847839e-06</c:v>
                </c:pt>
                <c:pt idx="4">
                  <c:v>2.8324827306608757e-05</c:v>
                </c:pt>
                <c:pt idx="5">
                  <c:v>0.00014738441855667697</c:v>
                </c:pt>
                <c:pt idx="6">
                  <c:v>0.0006446700980406772</c:v>
                </c:pt>
                <c:pt idx="7">
                  <c:v>0.002370419074959102</c:v>
                </c:pt>
                <c:pt idx="8">
                  <c:v>0.007326800938643134</c:v>
                </c:pt>
                <c:pt idx="9">
                  <c:v>0.01903729781339387</c:v>
                </c:pt>
                <c:pt idx="10">
                  <c:v>0.041581281319753305</c:v>
                </c:pt>
                <c:pt idx="11">
                  <c:v>0.07634701896864554</c:v>
                </c:pt>
                <c:pt idx="12">
                  <c:v>0.1178387028524943</c:v>
                </c:pt>
                <c:pt idx="13">
                  <c:v>0.15289225093757114</c:v>
                </c:pt>
                <c:pt idx="14">
                  <c:v>0.1667572207346709</c:v>
                </c:pt>
                <c:pt idx="15">
                  <c:v>0.15289225093757114</c:v>
                </c:pt>
                <c:pt idx="16">
                  <c:v>0.1178387028524942</c:v>
                </c:pt>
                <c:pt idx="17">
                  <c:v>0.07634701896864544</c:v>
                </c:pt>
                <c:pt idx="18">
                  <c:v>0.041581281319753305</c:v>
                </c:pt>
                <c:pt idx="19">
                  <c:v>0.01903729781339387</c:v>
                </c:pt>
                <c:pt idx="20">
                  <c:v>0.007326800938643134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one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数値は説明用の例で、実験の値ではない。ビンの値は、正規化した return の範囲 [−1, 0] を 201 個に等分したもの（実装: v_min = −1、v_max = 0、num_bins = 201）。V は、各ビンの確率の期待値。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Step2。Critic（価値モデル）だけを更新する。VLA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つの強化学習手法を理解し、同じ設定（smolVLA、LIBERO-⁠10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札付き学習とデータ処理: π₀.₅ 用の札付き SFT（"Advantage: positive"）を smolVLA 向けに移植（negative は札なし）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−⁠1）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2120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しかし、精度・速度・失敗からの回復には限界がある（RECAP・RL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デモの収集は高コストで、品質も混在する（STEAM）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練習して熟達する。自律実行・人の介入の経験を使う（RECAP）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ただし、VLA への RL には課題がある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全体の RL は、大規模なデータが必要で、オンライン適応に向かない。小さいモデルの RL は、VLA の汎化能力を失う（RL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方策勾配法は、flow matching の VLA に適用しにくい（RECAP）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従来の報酬・価値モデルは、手作りの報酬や人のラベルが必要でスケールしにくく、デモにない状態では、誤って高い advantage を付けることがある（STEAM）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LIBERO-⁠10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−⁠300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正規化（Critic 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 −⁠819 で割り、[−⁠1, 0] にそろえる（0 が成功、−⁠1 が最悪）。Critic（価値モデル）は、この値を当てる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−⁠159 → −⁠0.19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−⁠719 → −⁠0.88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−⁠300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価値 V の算出方法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30936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xlabel 0"/>
          <p:cNvSpPr txBox="1"/>
          <p:nvPr/>
        </p:nvSpPr>
        <p:spPr>
          <a:xfrm>
            <a:off x="884420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−⁠1.0</a:t>
            </a:r>
          </a:p>
        </p:txBody>
      </p:sp>
      <p:sp>
        <p:nvSpPr>
          <p:cNvPr id="6" name="xlabel 4"/>
          <p:cNvSpPr txBox="1"/>
          <p:nvPr/>
        </p:nvSpPr>
        <p:spPr>
          <a:xfrm>
            <a:off x="1954007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−⁠0.8</a:t>
            </a:r>
          </a:p>
        </p:txBody>
      </p:sp>
      <p:sp>
        <p:nvSpPr>
          <p:cNvPr id="7" name="xlabel 8"/>
          <p:cNvSpPr txBox="1"/>
          <p:nvPr/>
        </p:nvSpPr>
        <p:spPr>
          <a:xfrm>
            <a:off x="3023594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−⁠0.6</a:t>
            </a:r>
          </a:p>
        </p:txBody>
      </p:sp>
      <p:sp>
        <p:nvSpPr>
          <p:cNvPr id="8" name="xlabel 12"/>
          <p:cNvSpPr txBox="1"/>
          <p:nvPr/>
        </p:nvSpPr>
        <p:spPr>
          <a:xfrm>
            <a:off x="4093180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−⁠0.4</a:t>
            </a:r>
          </a:p>
        </p:txBody>
      </p:sp>
      <p:sp>
        <p:nvSpPr>
          <p:cNvPr id="9" name="xlabel 16"/>
          <p:cNvSpPr txBox="1"/>
          <p:nvPr/>
        </p:nvSpPr>
        <p:spPr>
          <a:xfrm>
            <a:off x="5162767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−⁠0.2</a:t>
            </a:r>
          </a:p>
        </p:txBody>
      </p:sp>
      <p:sp>
        <p:nvSpPr>
          <p:cNvPr id="10" name="xlabel 20"/>
          <p:cNvSpPr txBox="1"/>
          <p:nvPr/>
        </p:nvSpPr>
        <p:spPr>
          <a:xfrm>
            <a:off x="6232354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6309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ビンの値（−⁠1 = 最悪、0 = 成功）。縦軸: そのビンの確率</a:t>
            </a:r>
          </a:p>
        </p:txBody>
      </p:sp>
      <p:sp>
        <p:nvSpPr>
          <p:cNvPr id="12" name="step1"/>
          <p:cNvSpPr/>
          <p:nvPr/>
        </p:nvSpPr>
        <p:spPr>
          <a:xfrm>
            <a:off x="7132320" y="1005840"/>
            <a:ext cx="4480560" cy="118872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画像と指示文を、Critic（価値モデル）に入れる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出力: 201 個のビンの確率（足して 1）</a:t>
            </a:r>
          </a:p>
        </p:txBody>
      </p:sp>
      <p:sp>
        <p:nvSpPr>
          <p:cNvPr id="13" name="step2"/>
          <p:cNvSpPr/>
          <p:nvPr/>
        </p:nvSpPr>
        <p:spPr>
          <a:xfrm>
            <a:off x="7132320" y="2331720"/>
            <a:ext cx="4480560" cy="12801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期待値をとる</a:t>
            </a:r>
          </a:p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 = Σ（ビンの値 × そのビンの確率）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確率の重みつきの平均</a:t>
            </a:r>
          </a:p>
        </p:txBody>
      </p:sp>
      <p:sp>
        <p:nvSpPr>
          <p:cNvPr id="14" name="step3"/>
          <p:cNvSpPr/>
          <p:nvPr/>
        </p:nvSpPr>
        <p:spPr>
          <a:xfrm>
            <a:off x="7132320" y="3749039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V は、「正規化した return の予想」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 に近いほど成功に近い。例: V = −⁠0.30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72600" y="2194560"/>
            <a:ext cx="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372600" y="3611880"/>
            <a:ext cx="0" cy="137159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usage"/>
          <p:cNvSpPr/>
          <p:nvPr/>
        </p:nvSpPr>
        <p:spPr>
          <a:xfrm>
            <a:off x="548640" y="4754880"/>
            <a:ext cx="110642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使い道: 2 つのフレームの V の差から advantage を作る（A = r + V(o_t+10) − V(o_t)）。V が上がれば、その行動は「良い」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 V は、ビンの確率の期待値。「成功まであとどれくらいか」を、1 つの数値で表す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Critic（価値モデル）の学習（入力・出力・更新）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Critic（価値モデル）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−⁠0.12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V（−⁠1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−⁠1、失敗は終端で −⁠300）を正規化し、ビンにしたもの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交差エントロピーを小さくするよう、Critic（価値モデル）のパラメータを更新（VLA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Critic（価値モデル）は、画像を見て「成功まであとどれくらいか」を当てる問題として学習する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−⁠0.50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−⁠0.45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−⁠0.01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−⁠0.01 − 0.45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Critic（価値モデル）の学習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−⁠1、失敗は終端で −⁠300。return を [−⁠1, 0] に正規化（元の範囲は [−⁠819, 0]）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Critic（価値モデル。SigLIP2 + Gemma3-⁠270M）が、201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Critic（価値モデル）の学習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−⁠3（後退）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Gemma3-⁠270M）が、時間差の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−⁠0.2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651760"/>
                <a:gridCol w="2103120"/>
                <a:gridCol w="731520"/>
                <a:gridCol w="2743200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Critic（価値モデル）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1645920"/>
                <a:gridCol w="1645920"/>
                <a:gridCol w="1828800"/>
                <a:gridCol w="3566160"/>
                <a:gridCol w="146304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報酬や手作りのラベルが不要。エピソード長で正規化した時間の進みを直接予測するため、遅さが advantage に出る（RECAP は遅いフレームを除けなかったと、論文が報告）。アンサンブルの最小値で、過大評価を抑える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
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critic の学習中の精度（学習データ上）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ln w="31750">
              <a:solidFill>
                <a:srgbClr val="6B8BB3"/>
              </a:solidFill>
            </a:ln>
          </c:spPr>
          <c:marker>
            <c:spPr>
              <a:solidFill>
                <a:srgbClr val="6B8BB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0.277</c:v>
                </c:pt>
                <c:pt idx="1">
                  <c:v>0.295</c:v>
                </c:pt>
                <c:pt idx="2">
                  <c:v>0.295</c:v>
                </c:pt>
                <c:pt idx="3">
                  <c:v>0.297</c:v>
                </c:pt>
                <c:pt idx="4">
                  <c:v>0.316</c:v>
                </c:pt>
                <c:pt idx="5">
                  <c:v>0.333</c:v>
                </c:pt>
                <c:pt idx="6">
                  <c:v>0.348</c:v>
                </c:pt>
                <c:pt idx="7">
                  <c:v>0.345</c:v>
                </c:pt>
                <c:pt idx="8">
                  <c:v>0.353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accuracy（隣接ビンを含む）</c:v>
                </c:pt>
              </c:strCache>
            </c:strRef>
          </c:tx>
          <c:spPr>
            <a:ln w="31750">
              <a:solidFill>
                <a:srgbClr val="0B66C3"/>
              </a:solidFill>
            </a:ln>
          </c:spPr>
          <c:marker>
            <c:spPr>
              <a:solidFill>
                <a:srgbClr val="0B66C3"/>
              </a:solidFill>
            </c:spPr>
          </c:marker>
          <c:cat>
            <c:strRef>
              <c:f>Sheet1!$A$2:$A$10</c:f>
              <c:strCache>
                <c:ptCount val="9"/>
                <c:pt idx="0">
                  <c:v>500-600</c:v>
                </c:pt>
                <c:pt idx="1">
                  <c:v>600-700</c:v>
                </c:pt>
                <c:pt idx="2">
                  <c:v>700-800</c:v>
                </c:pt>
                <c:pt idx="3">
                  <c:v>800-1000</c:v>
                </c:pt>
                <c:pt idx="4">
                  <c:v>1000-1200</c:v>
                </c:pt>
                <c:pt idx="5">
                  <c:v>1200-1400</c:v>
                </c:pt>
                <c:pt idx="6">
                  <c:v>1400-1600</c:v>
                </c:pt>
                <c:pt idx="7">
                  <c:v>1600-1800</c:v>
                </c:pt>
                <c:pt idx="8">
                  <c:v>1800-2000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0.375</c:v>
                </c:pt>
                <c:pt idx="1">
                  <c:v>0.405</c:v>
                </c:pt>
                <c:pt idx="2">
                  <c:v>0.416</c:v>
                </c:pt>
                <c:pt idx="3">
                  <c:v>0.432</c:v>
                </c:pt>
                <c:pt idx="4">
                  <c:v>0.471</c:v>
                </c:pt>
                <c:pt idx="5">
                  <c:v>0.504</c:v>
                </c:pt>
                <c:pt idx="6">
                  <c:v>0.531</c:v>
                </c:pt>
                <c:pt idx="7">
                  <c:v>0.539</c:v>
                </c:pt>
                <c:pt idx="8">
                  <c:v>0.569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65"/>
          <c:min val="0.2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  <c:majorUnit val="0.1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RL Token（smolVLA）の success_once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success_once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0B66C3"/>
              </a:solidFill>
            </c:spPr>
          </c:dPt>
          <c:dPt>
            <c:idx val="3"/>
            <c:spPr>
              <a:solidFill>
                <a:srgbClr val="2E8B57"/>
              </a:solidFill>
            </c:spPr>
          </c:dPt>
          <c:cat>
            <c:strRef>
              <c:f>Sheet1!$A$2:$A$5</c:f>
              <c:strCache>
                <c:ptCount val="4"/>
                <c:pt idx="0">
                  <c:v>VLA のみ</c:v>
                </c:pt>
                <c:pt idx="1">
                  <c:v>1 つ目を
RL</c:v>
                </c:pt>
                <c:pt idx="2">
                  <c:v>2 局面
ゲート</c:v>
                </c:pt>
                <c:pt idx="3">
                  <c:v>+ 2 つ目専用
+ 空振り罰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0.46</c:v>
                </c:pt>
                <c:pt idx="1">
                  <c:v>0.62</c:v>
                </c:pt>
                <c:pt idx="2">
                  <c:v>0.66</c:v>
                </c:pt>
                <c:pt idx="3">
                  <c:v>0.68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0.2"/>
      </c:valAx>
    </c:plotArea>
    <c:dispBlanksAs val="gap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48.0</c:v>
                </c:pt>
                <c:pt idx="5">
                  <c:v>68.0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 15 枚目の表を参照。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手法は『RL をどこに入れるか』が違う、という整理が主題。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は、価値関数の出力を『改善指標』として方策に条件付けるのが核心。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と評価（Step9）。名称は私たちのパイプラインの番号。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グラフは学習中の指標（学習データ上）。検証データの値は左の箇条書き。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グラフの 0.46 は、この RL プロトコルでの VLA のみの評価（50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0.68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0.48（いずれも最良値）。RECAP と STEAM は学習の途中段階で、差は評価の標準誤差（±0.07）の範囲内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が作用する場所が違う（方策の学習目標 / advantage の推定器 / 行動の洗練）。成功で打ち切る収集設計が、価値の信号に重要だった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9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手法は、RL を入れる場所が違う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価値関数から advantage を作り、「良い行動」の指標を方策に入力して学習する（advantage 条件付き SFT）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advantage の推定器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時間オフセットを自己教師ありで学習した critic のアンサンブルで、フレームごとの advantage を作る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が作用する場所: 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が、VLA の行動チャンクを改善する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は「方策の学習目標」、STEAM は「評価者」、RL Token は「行動の洗練」に RL を入れる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エピソード。標準誤差は約 ±0.07 なので、0.05 程度の差は有意とは言えない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 with Experience and Corrections via Advantage-conditioned Policies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データ収集: ロールアウトを動かし、結果ラベルを付ける（必要なら人の介入も）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価値関数の学習: 全データで、分布型の価値関数 V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advantage 条件付き学習: advantage から作る「改善指標」を方策の入力に入れて学習する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データ収集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データ収集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</a:t>
            </a:r>
          </a:p>
        </p:txBody>
      </p:sp>
      <p:sp>
        <p:nvSpPr>
          <p:cNvPr id="6" name="② 価値関数 V の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の学習</a:t>
            </a:r>
          </a:p>
        </p:txBody>
      </p:sp>
      <p:sp>
        <p:nvSpPr>
          <p:cNvPr id="7" name="③ advantage 条件付き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advantage 条件付き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価値関数で作った「改善指標」を方策に入力することで、最適でないデータから、良い行動を選んで学習する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手法（学習の式）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分布型の価値関数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観測 o と言語 ℓ から、B 個の価値ビンの分布を予測する（交差エントロピー H、R^B はビンに離散化した return）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価値関数から、行動 a_t の良さを求める（N ステップ先まで）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改善指標と方策の学習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タスクごとの閾値 ε_ℓ で 2 値の指標 I を作り、方策に条件付ける（ドロップアウトで、指標なしの方策も同時に学習）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推論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指標を「良い（I = 1）」に固定して行動を生成する。CFG の重み β &gt; 1 で、さらに強調できる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方策は「指標あり」と「指標なし」の両方を表現できるので、改善確率を明示的に推定しなくてよい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Step9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状況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Step4 は途中段階（2,000 step 前後。計画は 30,000 step）。step 2,000 の評価は 0.44〜0.50（環境数・乱数・プロンプトで変動）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3093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自己教師あり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専門家デモのフレームペア (f_i, f_j) の、軌跡長で正規化した時間オフセット (j − i)·L_max / L を、N ビンの分布で予測する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軌跡を逆順にすると、負のオフセット（後退・失敗の疑似データ）も学べる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H ステップ先のフレームとのペアで予測した時間オフセットを、基準と比べてスカラーにする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保守的なアンサンブル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M 個の予測器の最小値 A_STEAM = min_m A(θ_m) で、分布外のロールアウトでの過大評価を抑える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分位点 δ_q で 2 値ラベルを作り、CFGRL の条件に使う</a:t>
            </a:r>
          </a:p>
        </p:txBody>
      </p:sp>
      <p:sp>
        <p:nvSpPr>
          <p:cNvPr id="5" name="flow 0"/>
          <p:cNvSpPr/>
          <p:nvPr/>
        </p:nvSpPr>
        <p:spPr>
          <a:xfrm>
            <a:off x="7498079" y="1005840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フレームペア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(f_i, f_i+H)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006840" y="1572768"/>
            <a:ext cx="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low 1"/>
          <p:cNvSpPr/>
          <p:nvPr/>
        </p:nvSpPr>
        <p:spPr>
          <a:xfrm>
            <a:off x="7498079" y="1755648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時間オフセット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予測器 × 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006840" y="2322576"/>
            <a:ext cx="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low 2"/>
          <p:cNvSpPr/>
          <p:nvPr/>
        </p:nvSpPr>
        <p:spPr>
          <a:xfrm>
            <a:off x="7498079" y="2505456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最小値を取る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A(θ_m)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006840" y="3072384"/>
            <a:ext cx="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 3"/>
          <p:cNvSpPr/>
          <p:nvPr/>
        </p:nvSpPr>
        <p:spPr>
          <a:xfrm>
            <a:off x="7498079" y="3255264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06840" y="3822191"/>
            <a:ext cx="0" cy="1828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low 4"/>
          <p:cNvSpPr/>
          <p:nvPr/>
        </p:nvSpPr>
        <p:spPr>
          <a:xfrm>
            <a:off x="7498079" y="4005072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値ラベル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≥ δ_q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06840" y="4572000"/>
            <a:ext cx="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 5"/>
          <p:cNvSpPr/>
          <p:nvPr/>
        </p:nvSpPr>
        <p:spPr>
          <a:xfrm>
            <a:off x="7498079" y="4754879"/>
            <a:ext cx="3017520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CFGRL で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48640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SigLIP so400m + Gemma3-270M。k = 32 ステップ先との時間オフセットを、32 ビンの分布で予測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4）と、成功ロールアウト。2,000 step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ロールアウトは上位 30%、デモは上位 80% を positive（アンサンブルのメンバー数は 1）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学習データ上の精度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（step 500 → 2,000）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accuracy 0.277 → 0.353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隣接ビンを含む accuracy 0.375 → 0.569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未知のロールアウト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（eval 64 本、step 600）: accuracy 0.106、隣接 0.189。失敗エピソードを含むため、学習時より低い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17920" y="1005840"/>
          <a:ext cx="548640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全体のオンライン RL は、高コストで、サンプル効率が悪い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に追加した小さな encoder-decoder transformer が、VLA の埋め込み z_{1:M} を 1 本の読み出しトークン z_rl に圧縮する（再構成損失で学習）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 RL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と RL token を凍結し、軽量な actor π_θ と critic Q_ψ だけを学習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入力は x = (z_rl, 固有受容感覚 s^p)。VLA の行動チャンク ã も actor に入力する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に近づける正則化と、ã のドロップアウトで、コピーを防ぐ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vla"/>
          <p:cNvSpPr/>
          <p:nvPr/>
        </p:nvSpPr>
        <p:spPr>
          <a:xfrm>
            <a:off x="6858000" y="10972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VLA（凍結）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VLM + action expert</a:t>
            </a:r>
          </a:p>
        </p:txBody>
      </p:sp>
      <p:sp>
        <p:nvSpPr>
          <p:cNvPr id="6" name="rltoken"/>
          <p:cNvSpPr/>
          <p:nvPr/>
        </p:nvSpPr>
        <p:spPr>
          <a:xfrm>
            <a:off x="6858000" y="242316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</a:p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z_rl（凍結）</a:t>
            </a:r>
          </a:p>
        </p:txBody>
      </p:sp>
      <p:sp>
        <p:nvSpPr>
          <p:cNvPr id="7" name="actor critic"/>
          <p:cNvSpPr/>
          <p:nvPr/>
        </p:nvSpPr>
        <p:spPr>
          <a:xfrm>
            <a:off x="9509760" y="242316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Q_ψ</a:t>
            </a:r>
          </a:p>
        </p:txBody>
      </p:sp>
      <p:sp>
        <p:nvSpPr>
          <p:cNvPr id="8" name="out"/>
          <p:cNvSpPr/>
          <p:nvPr/>
        </p:nvSpPr>
        <p:spPr>
          <a:xfrm>
            <a:off x="9509760" y="402336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改善した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行動チャンク a_1:C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63840" y="192024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869680" y="2834640"/>
            <a:ext cx="64008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561320" y="3246120"/>
            <a:ext cx="0" cy="7772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869680" y="1508760"/>
            <a:ext cx="169164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561320" y="1508760"/>
            <a:ext cx="0" cy="91440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961120" y="1097280"/>
            <a:ext cx="26517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参照行動 ã（VLA の提案）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383280"/>
            <a:ext cx="25603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埋め込み z_{1:M} →
encoder-decoder で圧縮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手法（学習の式）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の埋め込み z と学習可能なトークン e_rl から、読み出し z_rl 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デコーダ d_φ が、z_rl から元の埋め込みを自己回帰的に再構成する（VLA は stop-gradient）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行動チャンク（長さ C）の TD 学習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を最大化しつつ、VLA の提案 ã に近づける（ã はドロップアウトする）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6692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の prefix の隠れ状態（241 × 960）から、RL token を作る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の対象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タスクの局面ごとの actor-critic（1 つ目の把持 → 2 つ目の把持の「2 局面ゲート」）。それ以外は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オンライン学習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3 環境で、更新/データ比 5、探索ノイズ σ = 0.05。約 5 時間（400 エポック）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失敗の分析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 つ目の把持は確立。残る失敗は、2 つ目の把持が最大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→ 2 つ目専用の actor と、空振り（何も挟まずに閉じる）への罰 −0.2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の重み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約 5 MB と、軽量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005840"/>
          <a:ext cx="530352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0.68 に向上した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+8.0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68.0%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+28.0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checkpoint（step 2,000 前後）の最良値（advantage プロンプトなしの評価を含む。プロンプトありは、RECAP 0.48、STEAM 0.42）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68%）。RECAP・STEAM は誤差の範囲内で、途中段階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2377440"/>
                <a:gridCol w="2011680"/>
                <a:gridCol w="2743200"/>
                <a:gridCol w="274320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価値関数、ロールアウト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の推定器（critic）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デモ（自己教師あり）、critic のアンサンブル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0.68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RECAP・STEAM は「良い行動」を学び、RL Token は「行動の直し方」を学ぶ。目的は補完的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手法は、VLA の経験からの改善を、異なる場所で実現する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0.68）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0.48〜0.50。差は誤差の範囲内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STEAM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0.48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0" name="result RECAP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0.68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Token（0.68）。RECAP・STEAM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
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4" r:id="rId2"/>
    <p:sldId id="276" r:id="rId3"/>
    <p:sldId id="275" r:id="rId4"/>
    <p:sldId id="277" r:id="rId5"/>
    <p:sldId id="278" r:id="rId6"/>
    <p:sldId id="279" r:id="rId7"/>
    <p:sldId id="289" r:id="rId8"/>
    <p:sldId id="290" r:id="rId9"/>
    <p:sldId id="280" r:id="rId10"/>
    <p:sldId id="284" r:id="rId11"/>
    <p:sldId id="291" r:id="rId12"/>
    <p:sldId id="292" r:id="rId13"/>
    <p:sldId id="281" r:id="rId14"/>
    <p:sldId id="282" r:id="rId15"/>
    <p:sldId id="293" r:id="rId16"/>
    <p:sldId id="294" r:id="rId17"/>
    <p:sldId id="295" r:id="rId18"/>
    <p:sldId id="297" r:id="rId19"/>
    <p:sldId id="298" r:id="rId20"/>
    <p:sldId id="299"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1"/>
    <p:restoredTop sz="94784"/>
  </p:normalViewPr>
  <p:slideViewPr>
    <p:cSldViewPr snapToGrid="0">
      <p:cViewPr>
        <p:scale>
          <a:sx n="113" d="100"/>
          <a:sy n="113" d="100"/>
        </p:scale>
        <p:origin x="76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939567-EFBF-4345-A356-1EBF5C3DF814}" type="datetimeFigureOut">
              <a:rPr kumimoji="1" lang="ja-JP" altLang="en-US" smtClean="0"/>
              <a:t>2024/10/28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BF7997-0DBD-7D49-824A-6ED3A3D45788}" type="slidenum">
              <a:rPr kumimoji="1" lang="ja-JP" altLang="en-US" smtClean="0"/>
              <a:t>‹#›</a:t>
            </a:fld>
            <a:endParaRPr kumimoji="1" lang="ja-JP" altLang="en-US"/>
          </a:p>
        </p:txBody>
      </p:sp>
    </p:spTree>
    <p:extLst>
      <p:ext uri="{BB962C8B-B14F-4D97-AF65-F5344CB8AC3E}">
        <p14:creationId xmlns:p14="http://schemas.microsoft.com/office/powerpoint/2010/main" val="8161818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9948AC0-24EB-3F40-99E9-8E3352895CB2}" type="slidenum">
              <a:rPr kumimoji="1" lang="ja-JP" altLang="en-US" smtClean="0"/>
              <a:t>1</a:t>
            </a:fld>
            <a:endParaRPr kumimoji="1" lang="ja-JP" altLang="en-US"/>
          </a:p>
        </p:txBody>
      </p:sp>
    </p:spTree>
    <p:extLst>
      <p:ext uri="{BB962C8B-B14F-4D97-AF65-F5344CB8AC3E}">
        <p14:creationId xmlns:p14="http://schemas.microsoft.com/office/powerpoint/2010/main" val="633840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1BF7997-0DBD-7D49-824A-6ED3A3D45788}" type="slidenum">
              <a:rPr kumimoji="1" lang="ja-JP" altLang="en-US" smtClean="0"/>
              <a:t>11</a:t>
            </a:fld>
            <a:endParaRPr kumimoji="1" lang="ja-JP" altLang="en-US"/>
          </a:p>
        </p:txBody>
      </p:sp>
    </p:spTree>
    <p:extLst>
      <p:ext uri="{BB962C8B-B14F-4D97-AF65-F5344CB8AC3E}">
        <p14:creationId xmlns:p14="http://schemas.microsoft.com/office/powerpoint/2010/main" val="1538894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1BF7997-0DBD-7D49-824A-6ED3A3D45788}" type="slidenum">
              <a:rPr kumimoji="1" lang="ja-JP" altLang="en-US" smtClean="0"/>
              <a:t>15</a:t>
            </a:fld>
            <a:endParaRPr kumimoji="1" lang="ja-JP" altLang="en-US"/>
          </a:p>
        </p:txBody>
      </p:sp>
    </p:spTree>
    <p:extLst>
      <p:ext uri="{BB962C8B-B14F-4D97-AF65-F5344CB8AC3E}">
        <p14:creationId xmlns:p14="http://schemas.microsoft.com/office/powerpoint/2010/main" val="611994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EF447-DFF0-5569-557F-B3AA3DB4F79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E0E4E9-2C47-3813-F411-3553401609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6E80C3-0801-CE26-AA81-D01C29C1FED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25A6749-F911-6DB3-767E-D61D2DCA56BA}"/>
              </a:ext>
            </a:extLst>
          </p:cNvPr>
          <p:cNvSpPr>
            <a:spLocks noGrp="1"/>
          </p:cNvSpPr>
          <p:nvPr>
            <p:ph type="sldNum" sz="quarter" idx="5"/>
          </p:nvPr>
        </p:nvSpPr>
        <p:spPr/>
        <p:txBody>
          <a:bodyPr/>
          <a:lstStyle/>
          <a:p>
            <a:fld id="{71BF7997-0DBD-7D49-824A-6ED3A3D45788}" type="slidenum">
              <a:rPr kumimoji="1" lang="ja-JP" altLang="en-US" smtClean="0"/>
              <a:t>16</a:t>
            </a:fld>
            <a:endParaRPr kumimoji="1" lang="ja-JP" altLang="en-US"/>
          </a:p>
        </p:txBody>
      </p:sp>
    </p:spTree>
    <p:extLst>
      <p:ext uri="{BB962C8B-B14F-4D97-AF65-F5344CB8AC3E}">
        <p14:creationId xmlns:p14="http://schemas.microsoft.com/office/powerpoint/2010/main" val="874085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38312-AE88-37BA-5042-38F481C5E8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3209BB-BB3A-8465-F765-04266B7CFD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B2411-2720-3B67-5466-8B877A17B1D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2BA6B9-68FE-6A75-6725-229BFFA21F5F}"/>
              </a:ext>
            </a:extLst>
          </p:cNvPr>
          <p:cNvSpPr>
            <a:spLocks noGrp="1"/>
          </p:cNvSpPr>
          <p:nvPr>
            <p:ph type="sldNum" sz="quarter" idx="5"/>
          </p:nvPr>
        </p:nvSpPr>
        <p:spPr/>
        <p:txBody>
          <a:bodyPr/>
          <a:lstStyle/>
          <a:p>
            <a:fld id="{71BF7997-0DBD-7D49-824A-6ED3A3D45788}" type="slidenum">
              <a:rPr kumimoji="1" lang="ja-JP" altLang="en-US" smtClean="0"/>
              <a:t>17</a:t>
            </a:fld>
            <a:endParaRPr kumimoji="1" lang="ja-JP" altLang="en-US"/>
          </a:p>
        </p:txBody>
      </p:sp>
    </p:spTree>
    <p:extLst>
      <p:ext uri="{BB962C8B-B14F-4D97-AF65-F5344CB8AC3E}">
        <p14:creationId xmlns:p14="http://schemas.microsoft.com/office/powerpoint/2010/main" val="155766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CFCE2-5CC6-BC27-81DA-4EB69FE620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1DDE1A-8836-0223-87C4-840E52520B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B8F292-9AF8-05E6-BA16-B24EBFECD7F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572C084-182C-B2D5-4A20-5128C5A5E589}"/>
              </a:ext>
            </a:extLst>
          </p:cNvPr>
          <p:cNvSpPr>
            <a:spLocks noGrp="1"/>
          </p:cNvSpPr>
          <p:nvPr>
            <p:ph type="sldNum" sz="quarter" idx="5"/>
          </p:nvPr>
        </p:nvSpPr>
        <p:spPr/>
        <p:txBody>
          <a:bodyPr/>
          <a:lstStyle/>
          <a:p>
            <a:fld id="{71BF7997-0DBD-7D49-824A-6ED3A3D45788}" type="slidenum">
              <a:rPr kumimoji="1" lang="ja-JP" altLang="en-US" smtClean="0"/>
              <a:t>18</a:t>
            </a:fld>
            <a:endParaRPr kumimoji="1" lang="ja-JP" altLang="en-US"/>
          </a:p>
        </p:txBody>
      </p:sp>
    </p:spTree>
    <p:extLst>
      <p:ext uri="{BB962C8B-B14F-4D97-AF65-F5344CB8AC3E}">
        <p14:creationId xmlns:p14="http://schemas.microsoft.com/office/powerpoint/2010/main" val="1428655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CC9-FF67-F5CE-F094-DF1539CE414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172F00-5766-36CF-2720-4B3F145402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63F875C-D10E-1373-5AAF-53E28B53FD8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1A4CD57-7211-29D5-1BFC-0D4758F4A1C6}"/>
              </a:ext>
            </a:extLst>
          </p:cNvPr>
          <p:cNvSpPr>
            <a:spLocks noGrp="1"/>
          </p:cNvSpPr>
          <p:nvPr>
            <p:ph type="sldNum" sz="quarter" idx="5"/>
          </p:nvPr>
        </p:nvSpPr>
        <p:spPr/>
        <p:txBody>
          <a:bodyPr/>
          <a:lstStyle/>
          <a:p>
            <a:fld id="{71BF7997-0DBD-7D49-824A-6ED3A3D45788}" type="slidenum">
              <a:rPr kumimoji="1" lang="ja-JP" altLang="en-US" smtClean="0"/>
              <a:t>19</a:t>
            </a:fld>
            <a:endParaRPr kumimoji="1" lang="ja-JP" altLang="en-US"/>
          </a:p>
        </p:txBody>
      </p:sp>
    </p:spTree>
    <p:extLst>
      <p:ext uri="{BB962C8B-B14F-4D97-AF65-F5344CB8AC3E}">
        <p14:creationId xmlns:p14="http://schemas.microsoft.com/office/powerpoint/2010/main" val="4227132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71DA4-C469-0241-E2BC-3C74E5D828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6DF4B2-BEDE-F61D-8F41-1524B5E2FE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138939-F070-7F52-4197-B9746113E9B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4D0D94E-D0A3-3090-4DD9-91232B590131}"/>
              </a:ext>
            </a:extLst>
          </p:cNvPr>
          <p:cNvSpPr>
            <a:spLocks noGrp="1"/>
          </p:cNvSpPr>
          <p:nvPr>
            <p:ph type="sldNum" sz="quarter" idx="5"/>
          </p:nvPr>
        </p:nvSpPr>
        <p:spPr/>
        <p:txBody>
          <a:bodyPr/>
          <a:lstStyle/>
          <a:p>
            <a:fld id="{71BF7997-0DBD-7D49-824A-6ED3A3D45788}" type="slidenum">
              <a:rPr kumimoji="1" lang="ja-JP" altLang="en-US" smtClean="0"/>
              <a:t>20</a:t>
            </a:fld>
            <a:endParaRPr kumimoji="1" lang="ja-JP" altLang="en-US"/>
          </a:p>
        </p:txBody>
      </p:sp>
    </p:spTree>
    <p:extLst>
      <p:ext uri="{BB962C8B-B14F-4D97-AF65-F5344CB8AC3E}">
        <p14:creationId xmlns:p14="http://schemas.microsoft.com/office/powerpoint/2010/main" val="1915090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E8B450-5447-5AEF-4D1E-4CA33BE748D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EC46E1D-E99B-2058-60C2-D538BA170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0ABB3FC-5D98-887B-41B2-BD9A0FDA0273}"/>
              </a:ext>
            </a:extLst>
          </p:cNvPr>
          <p:cNvSpPr>
            <a:spLocks noGrp="1"/>
          </p:cNvSpPr>
          <p:nvPr>
            <p:ph type="dt" sz="half" idx="10"/>
          </p:nvPr>
        </p:nvSpPr>
        <p:spPr/>
        <p:txBody>
          <a:bodyPr/>
          <a:lstStyle/>
          <a:p>
            <a:fld id="{851F768B-A1B0-C344-8A27-94FBC8E0340A}" type="datetime1">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BA459241-2E9F-4AB5-0139-05659D763A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AA1F50-2DD1-3C8A-4BC2-D406C970A980}"/>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1595554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46972B-7CC7-2702-B41A-BEA50592EE6B}"/>
              </a:ext>
            </a:extLst>
          </p:cNvPr>
          <p:cNvSpPr>
            <a:spLocks noGrp="1"/>
          </p:cNvSpPr>
          <p:nvPr>
            <p:ph type="title"/>
          </p:nvPr>
        </p:nvSpPr>
        <p:spPr>
          <a:xfrm>
            <a:off x="930966" y="114244"/>
            <a:ext cx="10515600" cy="600075"/>
          </a:xfrm>
        </p:spPr>
        <p:txBody>
          <a:bodyPr>
            <a:normAutofit/>
          </a:bodyPr>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C8B85CB-CED2-575F-54EC-55595A5DB5B8}"/>
              </a:ext>
            </a:extLst>
          </p:cNvPr>
          <p:cNvSpPr>
            <a:spLocks noGrp="1"/>
          </p:cNvSpPr>
          <p:nvPr>
            <p:ph idx="1"/>
          </p:nvPr>
        </p:nvSpPr>
        <p:spPr>
          <a:xfrm>
            <a:off x="838200" y="1043746"/>
            <a:ext cx="10515600" cy="5088119"/>
          </a:xfrm>
        </p:spPr>
        <p:txBody>
          <a:bodyPr>
            <a:normAutofit/>
          </a:bodyPr>
          <a:lstStyle>
            <a:lvl1pPr>
              <a:defRPr sz="2400"/>
            </a:lvl1pPr>
            <a:lvl2pPr>
              <a:defRPr sz="2000"/>
            </a:lvl2pPr>
            <a:lvl3pPr>
              <a:defRPr sz="18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EF4F2395-0825-968B-8FFA-3B2DC5AEAF61}"/>
              </a:ext>
            </a:extLst>
          </p:cNvPr>
          <p:cNvSpPr>
            <a:spLocks noGrp="1"/>
          </p:cNvSpPr>
          <p:nvPr>
            <p:ph type="dt" sz="half" idx="10"/>
          </p:nvPr>
        </p:nvSpPr>
        <p:spPr/>
        <p:txBody>
          <a:bodyPr/>
          <a:lstStyle/>
          <a:p>
            <a:fld id="{30B26375-FC17-1D4B-A254-D3DAB4FCE2C5}" type="datetime1">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B8B579B6-0EE8-7BA5-3CCA-C86B84C48C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64FDCC-1905-09D0-0D12-D760AE868948}"/>
              </a:ext>
            </a:extLst>
          </p:cNvPr>
          <p:cNvSpPr>
            <a:spLocks noGrp="1"/>
          </p:cNvSpPr>
          <p:nvPr>
            <p:ph type="sldNum" sz="quarter" idx="12"/>
          </p:nvPr>
        </p:nvSpPr>
        <p:spPr>
          <a:xfrm>
            <a:off x="9353266" y="6449488"/>
            <a:ext cx="2743200" cy="365125"/>
          </a:xfrm>
        </p:spPr>
        <p:txBody>
          <a:bodyPr/>
          <a:lstStyle>
            <a:lvl1pPr>
              <a:defRPr sz="2000"/>
            </a:lvl1pPr>
          </a:lstStyle>
          <a:p>
            <a:fld id="{83831D9A-33C3-294C-A83B-0D46C22888D2}"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03A6EF95-8808-413D-253E-0D34C7CA8036}"/>
              </a:ext>
            </a:extLst>
          </p:cNvPr>
          <p:cNvCxnSpPr/>
          <p:nvPr userDrawn="1"/>
        </p:nvCxnSpPr>
        <p:spPr>
          <a:xfrm>
            <a:off x="0" y="726122"/>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正方形/長方形 8">
            <a:extLst>
              <a:ext uri="{FF2B5EF4-FFF2-40B4-BE49-F238E27FC236}">
                <a16:creationId xmlns:a16="http://schemas.microsoft.com/office/drawing/2014/main" id="{EFA2A4F3-CBF8-A2C5-1432-DCD1F7C1D8EA}"/>
              </a:ext>
            </a:extLst>
          </p:cNvPr>
          <p:cNvSpPr/>
          <p:nvPr userDrawn="1"/>
        </p:nvSpPr>
        <p:spPr>
          <a:xfrm>
            <a:off x="538480" y="136524"/>
            <a:ext cx="183819" cy="478193"/>
          </a:xfrm>
          <a:prstGeom prst="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33615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4E09C2-695C-FEF0-B320-0AC285C432F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7DCB633-2AA0-5EA8-839C-C1E5C74AD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3F37853-61AD-5174-BE38-5727E6528466}"/>
              </a:ext>
            </a:extLst>
          </p:cNvPr>
          <p:cNvSpPr>
            <a:spLocks noGrp="1"/>
          </p:cNvSpPr>
          <p:nvPr>
            <p:ph type="dt" sz="half" idx="10"/>
          </p:nvPr>
        </p:nvSpPr>
        <p:spPr/>
        <p:txBody>
          <a:bodyPr/>
          <a:lstStyle/>
          <a:p>
            <a:fld id="{5EDB91AA-24E8-D34C-9FEC-5A3BDDE8359F}" type="datetime1">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D1625D97-5BE6-18EC-CA43-1E6AADF830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599BDF-222D-4A09-F6D0-7B53EB70613B}"/>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102178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1097D-8919-CE4D-8941-A8926ACBB6C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02DF090-47A4-C8B8-A340-3D2CE555A30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0B4D064-BB9F-1A7E-7F99-4E244F06373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F94966E-495B-D2DD-D3DA-45E741AA8FCC}"/>
              </a:ext>
            </a:extLst>
          </p:cNvPr>
          <p:cNvSpPr>
            <a:spLocks noGrp="1"/>
          </p:cNvSpPr>
          <p:nvPr>
            <p:ph type="dt" sz="half" idx="10"/>
          </p:nvPr>
        </p:nvSpPr>
        <p:spPr/>
        <p:txBody>
          <a:bodyPr/>
          <a:lstStyle/>
          <a:p>
            <a:fld id="{D261B7C3-94B7-0343-811C-B178CA31CA57}" type="datetime1">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81869B02-E957-1FDB-A1DA-0B43C17FA00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D57F5A-980F-7CF9-0247-45AA47399929}"/>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118871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059F2F-744D-1A91-1F9F-C456E785F9D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FF9416-BEDD-392E-D6D5-2D6C74C50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057F1F1-8539-1CE7-D0E5-70E4E148CC7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5473CA2-8B26-E6BC-44C6-C197BAD9F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4F4CC68-4A32-67F2-EAF9-65BD5DA7A23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D79BADE-F4DF-3396-9EC1-CB0012A80A5B}"/>
              </a:ext>
            </a:extLst>
          </p:cNvPr>
          <p:cNvSpPr>
            <a:spLocks noGrp="1"/>
          </p:cNvSpPr>
          <p:nvPr>
            <p:ph type="dt" sz="half" idx="10"/>
          </p:nvPr>
        </p:nvSpPr>
        <p:spPr/>
        <p:txBody>
          <a:bodyPr/>
          <a:lstStyle/>
          <a:p>
            <a:fld id="{D169E0C4-208E-E04B-8C39-B21256262CB0}" type="datetime1">
              <a:rPr kumimoji="1" lang="ja-JP" altLang="en-US" smtClean="0"/>
              <a:t>2024/10/28</a:t>
            </a:fld>
            <a:endParaRPr kumimoji="1" lang="ja-JP" altLang="en-US"/>
          </a:p>
        </p:txBody>
      </p:sp>
      <p:sp>
        <p:nvSpPr>
          <p:cNvPr id="8" name="フッター プレースホルダー 7">
            <a:extLst>
              <a:ext uri="{FF2B5EF4-FFF2-40B4-BE49-F238E27FC236}">
                <a16:creationId xmlns:a16="http://schemas.microsoft.com/office/drawing/2014/main" id="{7AF16826-47B9-CB10-B85A-DF8411D2E8A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5ACBA44-109A-0BEF-AB0A-862B31C5E82A}"/>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401342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523F4-35DF-4D65-A766-5359D986DA2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8A9C233-FAD7-DB63-98EB-01B1359F8EC8}"/>
              </a:ext>
            </a:extLst>
          </p:cNvPr>
          <p:cNvSpPr>
            <a:spLocks noGrp="1"/>
          </p:cNvSpPr>
          <p:nvPr>
            <p:ph type="dt" sz="half" idx="10"/>
          </p:nvPr>
        </p:nvSpPr>
        <p:spPr/>
        <p:txBody>
          <a:bodyPr/>
          <a:lstStyle/>
          <a:p>
            <a:fld id="{93DC37E6-C91E-BE49-AA23-B647FC1C22B6}" type="datetime1">
              <a:rPr kumimoji="1" lang="ja-JP" altLang="en-US" smtClean="0"/>
              <a:t>2024/10/28</a:t>
            </a:fld>
            <a:endParaRPr kumimoji="1" lang="ja-JP" altLang="en-US"/>
          </a:p>
        </p:txBody>
      </p:sp>
      <p:sp>
        <p:nvSpPr>
          <p:cNvPr id="4" name="フッター プレースホルダー 3">
            <a:extLst>
              <a:ext uri="{FF2B5EF4-FFF2-40B4-BE49-F238E27FC236}">
                <a16:creationId xmlns:a16="http://schemas.microsoft.com/office/drawing/2014/main" id="{4AAB79F6-CB91-EDA0-FFA8-6995C729E4B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144B16B-355B-730A-F0D1-1C307AB326C5}"/>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10008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E4C5F60-7E83-D47E-550E-4D4D3948D9A7}"/>
              </a:ext>
            </a:extLst>
          </p:cNvPr>
          <p:cNvSpPr>
            <a:spLocks noGrp="1"/>
          </p:cNvSpPr>
          <p:nvPr>
            <p:ph type="dt" sz="half" idx="10"/>
          </p:nvPr>
        </p:nvSpPr>
        <p:spPr/>
        <p:txBody>
          <a:bodyPr/>
          <a:lstStyle/>
          <a:p>
            <a:fld id="{41709178-92B9-BC44-8D88-027D0EBBA9E9}" type="datetime1">
              <a:rPr kumimoji="1" lang="ja-JP" altLang="en-US" smtClean="0"/>
              <a:t>2024/10/28</a:t>
            </a:fld>
            <a:endParaRPr kumimoji="1" lang="ja-JP" altLang="en-US"/>
          </a:p>
        </p:txBody>
      </p:sp>
      <p:sp>
        <p:nvSpPr>
          <p:cNvPr id="3" name="フッター プレースホルダー 2">
            <a:extLst>
              <a:ext uri="{FF2B5EF4-FFF2-40B4-BE49-F238E27FC236}">
                <a16:creationId xmlns:a16="http://schemas.microsoft.com/office/drawing/2014/main" id="{4B6DA331-DA02-4523-4786-84B8E5461D1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189DC4E-F15C-D2E8-3464-3A84FFB1C17F}"/>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3345535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F35983-D56B-22A2-9459-8035A70BD8E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70C04E0-1EA8-89E9-69B5-9EE1BE76D7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A1E284D-CA9E-5964-D1FF-C593E96081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6C39805-7A75-F347-3BE8-35A80ADF5F51}"/>
              </a:ext>
            </a:extLst>
          </p:cNvPr>
          <p:cNvSpPr>
            <a:spLocks noGrp="1"/>
          </p:cNvSpPr>
          <p:nvPr>
            <p:ph type="dt" sz="half" idx="10"/>
          </p:nvPr>
        </p:nvSpPr>
        <p:spPr/>
        <p:txBody>
          <a:bodyPr/>
          <a:lstStyle/>
          <a:p>
            <a:fld id="{938A3C3B-21C6-664D-BAAC-B55936649A0A}" type="datetime1">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9E5E965C-B0F1-4D50-D433-C164FD819DB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7B3E81-C230-9A3D-DB00-8D196761045F}"/>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277418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D3A396-6AD7-658F-876A-370E27C725E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2ACB84-6E22-1549-834C-F9E168680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2968DD7-EC5C-217D-028B-66A0E8621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BFF9CDB-104E-EA6C-D01F-5C454456D6E0}"/>
              </a:ext>
            </a:extLst>
          </p:cNvPr>
          <p:cNvSpPr>
            <a:spLocks noGrp="1"/>
          </p:cNvSpPr>
          <p:nvPr>
            <p:ph type="dt" sz="half" idx="10"/>
          </p:nvPr>
        </p:nvSpPr>
        <p:spPr/>
        <p:txBody>
          <a:bodyPr/>
          <a:lstStyle/>
          <a:p>
            <a:fld id="{284D24CD-2798-A845-92D5-8467FC84A4BF}" type="datetime1">
              <a:rPr kumimoji="1" lang="ja-JP" altLang="en-US" smtClean="0"/>
              <a:t>2024/10/28</a:t>
            </a:fld>
            <a:endParaRPr kumimoji="1" lang="ja-JP" altLang="en-US"/>
          </a:p>
        </p:txBody>
      </p:sp>
      <p:sp>
        <p:nvSpPr>
          <p:cNvPr id="6" name="フッター プレースホルダー 5">
            <a:extLst>
              <a:ext uri="{FF2B5EF4-FFF2-40B4-BE49-F238E27FC236}">
                <a16:creationId xmlns:a16="http://schemas.microsoft.com/office/drawing/2014/main" id="{7D3B6AD5-F51F-9785-6B1A-F529FFCEDB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ABD4DC-ADAF-431A-CDF4-73B1287AE908}"/>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9057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D42EBA-553F-58C1-C921-5ADCA9DC00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E93FA48-8AC1-6860-6343-45CA2AB4651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D25A13-D685-8395-475E-65BBE99021E4}"/>
              </a:ext>
            </a:extLst>
          </p:cNvPr>
          <p:cNvSpPr>
            <a:spLocks noGrp="1"/>
          </p:cNvSpPr>
          <p:nvPr>
            <p:ph type="dt" sz="half" idx="10"/>
          </p:nvPr>
        </p:nvSpPr>
        <p:spPr/>
        <p:txBody>
          <a:bodyPr/>
          <a:lstStyle/>
          <a:p>
            <a:fld id="{6AE34D28-48F5-2040-8DA6-46453EBBE816}" type="datetime1">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E2F28D06-886E-1E31-8319-55F3471E15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9A4C77-3D79-89F3-586A-34037D36A687}"/>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304238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28D1F2A-853E-BD12-FD1F-2658357E2C3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FB3EAA4-1B75-92A0-9ACF-9F98677CC6A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C32ECF-33C6-049C-0185-68D571FB1039}"/>
              </a:ext>
            </a:extLst>
          </p:cNvPr>
          <p:cNvSpPr>
            <a:spLocks noGrp="1"/>
          </p:cNvSpPr>
          <p:nvPr>
            <p:ph type="dt" sz="half" idx="10"/>
          </p:nvPr>
        </p:nvSpPr>
        <p:spPr/>
        <p:txBody>
          <a:bodyPr/>
          <a:lstStyle/>
          <a:p>
            <a:fld id="{15B7E426-56CC-334E-8D5C-AF3D8DBB933F}" type="datetime1">
              <a:rPr kumimoji="1" lang="ja-JP" altLang="en-US" smtClean="0"/>
              <a:t>2024/10/28</a:t>
            </a:fld>
            <a:endParaRPr kumimoji="1" lang="ja-JP" altLang="en-US"/>
          </a:p>
        </p:txBody>
      </p:sp>
      <p:sp>
        <p:nvSpPr>
          <p:cNvPr id="5" name="フッター プレースホルダー 4">
            <a:extLst>
              <a:ext uri="{FF2B5EF4-FFF2-40B4-BE49-F238E27FC236}">
                <a16:creationId xmlns:a16="http://schemas.microsoft.com/office/drawing/2014/main" id="{DA9549B2-6DB4-ADED-7A18-0997F4EEA7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5E2459A-0D4E-A9CD-D754-5A9AF00F2876}"/>
              </a:ext>
            </a:extLst>
          </p:cNvPr>
          <p:cNvSpPr>
            <a:spLocks noGrp="1"/>
          </p:cNvSpPr>
          <p:nvPr>
            <p:ph type="sldNum" sz="quarter" idx="12"/>
          </p:nvPr>
        </p:nvSpPr>
        <p:spPr/>
        <p:txBody>
          <a:bodyPr/>
          <a:lstStyle/>
          <a:p>
            <a:fld id="{83831D9A-33C3-294C-A83B-0D46C22888D2}" type="slidenum">
              <a:rPr kumimoji="1" lang="ja-JP" altLang="en-US" smtClean="0"/>
              <a:t>‹#›</a:t>
            </a:fld>
            <a:endParaRPr kumimoji="1" lang="ja-JP" altLang="en-US"/>
          </a:p>
        </p:txBody>
      </p:sp>
    </p:spTree>
    <p:extLst>
      <p:ext uri="{BB962C8B-B14F-4D97-AF65-F5344CB8AC3E}">
        <p14:creationId xmlns:p14="http://schemas.microsoft.com/office/powerpoint/2010/main" val="2480873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F4C4E22-17BA-6DA4-05B4-AFE89879AF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D4AB747-DC3D-A3FD-B05B-793D3FF51D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0245D6-A0A5-0EFF-6691-76CF1E5B65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Hiragino Sans W3" panose="020B0400000000000000" pitchFamily="34" charset="-128"/>
                <a:ea typeface="Hiragino Sans W3" panose="020B0400000000000000" pitchFamily="34" charset="-128"/>
              </a:defRPr>
            </a:lvl1pPr>
          </a:lstStyle>
          <a:p>
            <a:fld id="{B8919F2B-5FED-8643-9BCF-D0C010A7E979}" type="datetime1">
              <a:rPr lang="ja-JP" altLang="en-US" smtClean="0"/>
              <a:t>2024/10/28</a:t>
            </a:fld>
            <a:endParaRPr lang="ja-JP" altLang="en-US"/>
          </a:p>
        </p:txBody>
      </p:sp>
      <p:sp>
        <p:nvSpPr>
          <p:cNvPr id="5" name="フッター プレースホルダー 4">
            <a:extLst>
              <a:ext uri="{FF2B5EF4-FFF2-40B4-BE49-F238E27FC236}">
                <a16:creationId xmlns:a16="http://schemas.microsoft.com/office/drawing/2014/main" id="{F8383ACC-1601-C4B8-4B7D-E8191225E1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Hiragino Sans W3" panose="020B0400000000000000" pitchFamily="34" charset="-128"/>
                <a:ea typeface="Hiragino Sans W3" panose="020B0400000000000000"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DF8FD185-57CC-DE31-90FB-386D03DC96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Hiragino Sans W3" panose="020B0400000000000000" pitchFamily="34" charset="-128"/>
                <a:ea typeface="Hiragino Sans W3" panose="020B0400000000000000" pitchFamily="34" charset="-128"/>
              </a:defRPr>
            </a:lvl1pPr>
          </a:lstStyle>
          <a:p>
            <a:fld id="{83831D9A-33C3-294C-A83B-0D46C22888D2}" type="slidenum">
              <a:rPr lang="ja-JP" altLang="en-US" smtClean="0"/>
              <a:pPr/>
              <a:t>‹#›</a:t>
            </a:fld>
            <a:endParaRPr lang="ja-JP" altLang="en-US"/>
          </a:p>
        </p:txBody>
      </p:sp>
    </p:spTree>
    <p:extLst>
      <p:ext uri="{BB962C8B-B14F-4D97-AF65-F5344CB8AC3E}">
        <p14:creationId xmlns:p14="http://schemas.microsoft.com/office/powerpoint/2010/main" val="622676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b="0" i="0" kern="1200">
          <a:solidFill>
            <a:schemeClr val="tx1"/>
          </a:solidFill>
          <a:latin typeface="Hiragino Sans W5" panose="020B0400000000000000" pitchFamily="34" charset="-128"/>
          <a:ea typeface="Hiragino Sans W5"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i.org/10.48550/arXiv.2308.08155"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63F6646-3CFC-468E-90BE-70AD0EDB6264}"/>
              </a:ext>
            </a:extLst>
          </p:cNvPr>
          <p:cNvPicPr>
            <a:picLocks noChangeAspect="1"/>
          </p:cNvPicPr>
          <p:nvPr/>
        </p:nvPicPr>
        <p:blipFill>
          <a:blip r:embed="rId3"/>
          <a:stretch>
            <a:fillRect/>
          </a:stretch>
        </p:blipFill>
        <p:spPr>
          <a:xfrm>
            <a:off x="0" y="0"/>
            <a:ext cx="12192000" cy="6858000"/>
          </a:xfrm>
          <a:prstGeom prst="rect">
            <a:avLst/>
          </a:prstGeom>
        </p:spPr>
      </p:pic>
      <p:sp>
        <p:nvSpPr>
          <p:cNvPr id="8" name="正方形/長方形 7">
            <a:extLst>
              <a:ext uri="{FF2B5EF4-FFF2-40B4-BE49-F238E27FC236}">
                <a16:creationId xmlns:a16="http://schemas.microsoft.com/office/drawing/2014/main" id="{7B6E6655-3619-491D-A5B9-E7139F650EFE}"/>
              </a:ext>
            </a:extLst>
          </p:cNvPr>
          <p:cNvSpPr/>
          <p:nvPr/>
        </p:nvSpPr>
        <p:spPr>
          <a:xfrm>
            <a:off x="0" y="0"/>
            <a:ext cx="12192000" cy="2171700"/>
          </a:xfrm>
          <a:prstGeom prst="rect">
            <a:avLst/>
          </a:prstGeom>
          <a:solidFill>
            <a:schemeClr val="tx1">
              <a:alpha val="92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9" name="正方形/長方形 8">
            <a:extLst>
              <a:ext uri="{FF2B5EF4-FFF2-40B4-BE49-F238E27FC236}">
                <a16:creationId xmlns:a16="http://schemas.microsoft.com/office/drawing/2014/main" id="{F70D64DE-54E3-4A73-BA0A-219F31BEF807}"/>
              </a:ext>
            </a:extLst>
          </p:cNvPr>
          <p:cNvSpPr/>
          <p:nvPr/>
        </p:nvSpPr>
        <p:spPr>
          <a:xfrm>
            <a:off x="9541677" y="6112233"/>
            <a:ext cx="2662908" cy="369332"/>
          </a:xfrm>
          <a:prstGeom prst="rect">
            <a:avLst/>
          </a:prstGeom>
        </p:spPr>
        <p:txBody>
          <a:bodyPr wrap="none">
            <a:spAutoFit/>
          </a:bodyPr>
          <a:lstStyle/>
          <a:p>
            <a:r>
              <a:rPr lang="ja-JP" altLang="en-US" dirty="0">
                <a:solidFill>
                  <a:schemeClr val="bg1"/>
                </a:solidFill>
                <a:latin typeface="游ゴシック" panose="020B0400000000000000" pitchFamily="50" charset="-128"/>
                <a:ea typeface="游ゴシック" panose="020B0400000000000000" pitchFamily="50" charset="-128"/>
              </a:rPr>
              <a:t>http://deeplearning.jp/</a:t>
            </a:r>
          </a:p>
        </p:txBody>
      </p:sp>
      <p:sp>
        <p:nvSpPr>
          <p:cNvPr id="4" name="テキスト ボックス 3"/>
          <p:cNvSpPr txBox="1"/>
          <p:nvPr/>
        </p:nvSpPr>
        <p:spPr>
          <a:xfrm>
            <a:off x="2945331" y="547286"/>
            <a:ext cx="9246670" cy="1157929"/>
          </a:xfrm>
          <a:prstGeom prst="rect">
            <a:avLst/>
          </a:prstGeom>
          <a:noFill/>
        </p:spPr>
        <p:txBody>
          <a:bodyPr wrap="none" rtlCol="0">
            <a:noAutofit/>
          </a:bodyPr>
          <a:lstStyle/>
          <a:p>
            <a:pPr>
              <a:spcBef>
                <a:spcPts val="600"/>
              </a:spcBef>
            </a:pPr>
            <a:r>
              <a:rPr lang="en-US" altLang="ja-JP" sz="2000" dirty="0">
                <a:solidFill>
                  <a:schemeClr val="bg1"/>
                </a:solidFill>
                <a:latin typeface="LINE Seed JP_OTF Regular" panose="02020500000000000000" pitchFamily="18" charset="-128"/>
                <a:ea typeface="LINE Seed JP_OTF Regular" panose="02020500000000000000" pitchFamily="18" charset="-128"/>
              </a:rPr>
              <a:t>AutoGen: Enabling Next-Gen LLM Applications via Multi-Agent Conversation</a:t>
            </a:r>
            <a:endParaRPr kumimoji="1" lang="en-US" altLang="ja-JP" sz="2000" dirty="0">
              <a:solidFill>
                <a:schemeClr val="bg1"/>
              </a:solidFill>
              <a:latin typeface="LINE Seed JP_OTF Regular" panose="02020500000000000000" pitchFamily="18" charset="-128"/>
              <a:ea typeface="LINE Seed JP_OTF Regular" panose="02020500000000000000" pitchFamily="18" charset="-128"/>
            </a:endParaRPr>
          </a:p>
          <a:p>
            <a:pPr>
              <a:spcBef>
                <a:spcPts val="600"/>
              </a:spcBef>
            </a:pPr>
            <a:r>
              <a:rPr kumimoji="1" lang="en-US" altLang="ja-JP" sz="2000" dirty="0">
                <a:solidFill>
                  <a:schemeClr val="bg1"/>
                </a:solidFill>
                <a:latin typeface="LINE Seed JP_OTF Regular" panose="02020500000000000000" pitchFamily="18" charset="-128"/>
                <a:ea typeface="LINE Seed JP_OTF Regular" panose="02020500000000000000" pitchFamily="18" charset="-128"/>
              </a:rPr>
              <a:t>DL Hacks 2024/10/28</a:t>
            </a:r>
            <a:endParaRPr lang="ja-JP" altLang="en-US" sz="1600" dirty="0">
              <a:solidFill>
                <a:schemeClr val="bg1"/>
              </a:solidFill>
              <a:latin typeface="游ゴシック" panose="020B0400000000000000" pitchFamily="50" charset="-128"/>
              <a:ea typeface="游ゴシック" panose="020B0400000000000000" pitchFamily="50" charset="-128"/>
              <a:cs typeface="Kozuka Gothic Pro R" charset="-128"/>
            </a:endParaRPr>
          </a:p>
        </p:txBody>
      </p:sp>
      <p:sp>
        <p:nvSpPr>
          <p:cNvPr id="6" name="テキスト ボックス 5">
            <a:extLst>
              <a:ext uri="{FF2B5EF4-FFF2-40B4-BE49-F238E27FC236}">
                <a16:creationId xmlns:a16="http://schemas.microsoft.com/office/drawing/2014/main" id="{C0AD3835-FD4F-4B10-A955-07553B23ADBE}"/>
              </a:ext>
            </a:extLst>
          </p:cNvPr>
          <p:cNvSpPr txBox="1"/>
          <p:nvPr/>
        </p:nvSpPr>
        <p:spPr>
          <a:xfrm>
            <a:off x="2542854" y="1737658"/>
            <a:ext cx="9661732" cy="307777"/>
          </a:xfrm>
          <a:prstGeom prst="rect">
            <a:avLst/>
          </a:prstGeom>
          <a:noFill/>
        </p:spPr>
        <p:txBody>
          <a:bodyPr wrap="square" rtlCol="0">
            <a:spAutoFit/>
          </a:bodyPr>
          <a:lstStyle/>
          <a:p>
            <a:pPr algn="r"/>
            <a:r>
              <a:rPr kumimoji="1" lang="en-US" altLang="ja-JP" sz="1400" dirty="0">
                <a:solidFill>
                  <a:schemeClr val="bg1"/>
                </a:solidFill>
                <a:latin typeface="游ゴシック" panose="020B0400000000000000" pitchFamily="50" charset="-128"/>
                <a:ea typeface="游ゴシック" panose="020B0400000000000000" pitchFamily="50" charset="-128"/>
                <a:cs typeface="Impact" charset="0"/>
              </a:rPr>
              <a:t>Yuki Murakami</a:t>
            </a:r>
            <a:endParaRPr kumimoji="1" lang="ja-JP" altLang="en-US" sz="1400" dirty="0">
              <a:solidFill>
                <a:schemeClr val="bg1"/>
              </a:solidFill>
              <a:latin typeface="游ゴシック" panose="020B0400000000000000" pitchFamily="50" charset="-128"/>
              <a:ea typeface="游ゴシック" panose="020B0400000000000000" pitchFamily="50" charset="-128"/>
              <a:cs typeface="Impact" charset="0"/>
            </a:endParaRPr>
          </a:p>
        </p:txBody>
      </p:sp>
      <p:sp>
        <p:nvSpPr>
          <p:cNvPr id="10" name="テキスト ボックス 9">
            <a:extLst>
              <a:ext uri="{FF2B5EF4-FFF2-40B4-BE49-F238E27FC236}">
                <a16:creationId xmlns:a16="http://schemas.microsoft.com/office/drawing/2014/main" id="{EFC16B12-7CA6-486B-A2BE-44A8857DA127}"/>
              </a:ext>
            </a:extLst>
          </p:cNvPr>
          <p:cNvSpPr txBox="1"/>
          <p:nvPr/>
        </p:nvSpPr>
        <p:spPr>
          <a:xfrm>
            <a:off x="182880" y="471354"/>
            <a:ext cx="2762450" cy="954107"/>
          </a:xfrm>
          <a:prstGeom prst="rect">
            <a:avLst/>
          </a:prstGeom>
          <a:noFill/>
        </p:spPr>
        <p:txBody>
          <a:bodyPr wrap="square" rtlCol="0">
            <a:spAutoFit/>
          </a:bodyPr>
          <a:lstStyle/>
          <a:p>
            <a:pPr algn="ctr"/>
            <a:r>
              <a:rPr kumimoji="1" lang="en-US" altLang="ja-JP" sz="2800" dirty="0">
                <a:solidFill>
                  <a:schemeClr val="accent2"/>
                </a:solidFill>
                <a:latin typeface="Impact" charset="0"/>
                <a:ea typeface="Impact" charset="0"/>
                <a:cs typeface="Impact" charset="0"/>
              </a:rPr>
              <a:t>D</a:t>
            </a:r>
            <a:r>
              <a:rPr kumimoji="1" lang="en-US" altLang="ja-JP" sz="2800" dirty="0">
                <a:solidFill>
                  <a:schemeClr val="bg1"/>
                </a:solidFill>
                <a:latin typeface="Impact" charset="0"/>
                <a:ea typeface="Impact" charset="0"/>
                <a:cs typeface="Impact" charset="0"/>
              </a:rPr>
              <a:t>EEP </a:t>
            </a:r>
            <a:r>
              <a:rPr kumimoji="1" lang="en-US" altLang="ja-JP" sz="2800" dirty="0">
                <a:solidFill>
                  <a:schemeClr val="accent4"/>
                </a:solidFill>
                <a:latin typeface="Impact" charset="0"/>
                <a:ea typeface="Impact" charset="0"/>
                <a:cs typeface="Impact" charset="0"/>
              </a:rPr>
              <a:t>L</a:t>
            </a:r>
            <a:r>
              <a:rPr kumimoji="1" lang="en-US" altLang="ja-JP" sz="2800" dirty="0">
                <a:solidFill>
                  <a:schemeClr val="bg1"/>
                </a:solidFill>
                <a:latin typeface="Impact" charset="0"/>
                <a:ea typeface="Impact" charset="0"/>
                <a:cs typeface="Impact" charset="0"/>
              </a:rPr>
              <a:t>EARNING </a:t>
            </a:r>
            <a:r>
              <a:rPr kumimoji="1" lang="en-US" altLang="ja-JP" sz="2800" dirty="0">
                <a:solidFill>
                  <a:schemeClr val="accent1"/>
                </a:solidFill>
                <a:latin typeface="Impact" charset="0"/>
                <a:ea typeface="Impact" charset="0"/>
                <a:cs typeface="Impact" charset="0"/>
              </a:rPr>
              <a:t>JP</a:t>
            </a:r>
          </a:p>
          <a:p>
            <a:pPr algn="ctr"/>
            <a:r>
              <a:rPr kumimoji="1" lang="en-US" altLang="ja-JP" sz="2800" dirty="0">
                <a:solidFill>
                  <a:schemeClr val="bg1"/>
                </a:solidFill>
                <a:latin typeface="Impact" charset="0"/>
                <a:ea typeface="Impact" charset="0"/>
                <a:cs typeface="Impact" charset="0"/>
              </a:rPr>
              <a:t>[DL Papers]</a:t>
            </a:r>
            <a:endParaRPr kumimoji="1" lang="ja-JP" altLang="en-US" sz="2800" dirty="0">
              <a:solidFill>
                <a:schemeClr val="bg1"/>
              </a:solidFill>
              <a:latin typeface="Impact" charset="0"/>
              <a:ea typeface="Impact" charset="0"/>
              <a:cs typeface="Impact" charset="0"/>
            </a:endParaRPr>
          </a:p>
        </p:txBody>
      </p:sp>
      <p:sp>
        <p:nvSpPr>
          <p:cNvPr id="3" name="スライド番号プレースホルダー 2">
            <a:extLst>
              <a:ext uri="{FF2B5EF4-FFF2-40B4-BE49-F238E27FC236}">
                <a16:creationId xmlns:a16="http://schemas.microsoft.com/office/drawing/2014/main" id="{AAF8CC4A-3130-4560-8C0A-5CB914AC377F}"/>
              </a:ext>
            </a:extLst>
          </p:cNvPr>
          <p:cNvSpPr>
            <a:spLocks noGrp="1"/>
          </p:cNvSpPr>
          <p:nvPr>
            <p:ph type="sldNum" sz="quarter" idx="12"/>
          </p:nvPr>
        </p:nvSpPr>
        <p:spPr/>
        <p:txBody>
          <a:bodyPr/>
          <a:lstStyle/>
          <a:p>
            <a:fld id="{66F1A9C3-BFFF-ED45-97B2-61A5253A063F}" type="slidenum">
              <a:rPr kumimoji="1" lang="ja-JP" altLang="en-US" smtClean="0"/>
              <a:t>1</a:t>
            </a:fld>
            <a:endParaRPr kumimoji="1" lang="ja-JP" altLang="en-US" dirty="0"/>
          </a:p>
        </p:txBody>
      </p:sp>
    </p:spTree>
    <p:extLst>
      <p:ext uri="{BB962C8B-B14F-4D97-AF65-F5344CB8AC3E}">
        <p14:creationId xmlns:p14="http://schemas.microsoft.com/office/powerpoint/2010/main" val="4069450822"/>
      </p:ext>
    </p:extLst>
  </p:cSld>
  <p:clrMapOvr>
    <a:masterClrMapping/>
  </p:clrMapOvr>
  <mc:AlternateContent xmlns:mc="http://schemas.openxmlformats.org/markup-compatibility/2006" xmlns:p14="http://schemas.microsoft.com/office/powerpoint/2010/main">
    <mc:Choice Requires="p14">
      <p:transition p14:dur="200">
        <p:push dir="u"/>
      </p:transition>
    </mc:Choice>
    <mc:Fallback xmlns="">
      <p:transition>
        <p:push dir="u"/>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23987-9B2D-5BCB-4D10-D2344CEFCF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92BB6D-B4DC-0CC8-8FCD-562E292514E6}"/>
              </a:ext>
            </a:extLst>
          </p:cNvPr>
          <p:cNvSpPr>
            <a:spLocks noGrp="1"/>
          </p:cNvSpPr>
          <p:nvPr>
            <p:ph type="title"/>
          </p:nvPr>
        </p:nvSpPr>
        <p:spPr/>
        <p:txBody>
          <a:bodyPr/>
          <a:lstStyle/>
          <a:p>
            <a:r>
              <a:rPr kumimoji="1" lang="ja-JP" altLang="en-US"/>
              <a:t>概要</a:t>
            </a:r>
          </a:p>
        </p:txBody>
      </p:sp>
      <p:sp>
        <p:nvSpPr>
          <p:cNvPr id="3" name="コンテンツ プレースホルダー 2">
            <a:extLst>
              <a:ext uri="{FF2B5EF4-FFF2-40B4-BE49-F238E27FC236}">
                <a16:creationId xmlns:a16="http://schemas.microsoft.com/office/drawing/2014/main" id="{BBD38AE9-6DF1-0549-1540-C15FE3134A51}"/>
              </a:ext>
            </a:extLst>
          </p:cNvPr>
          <p:cNvSpPr>
            <a:spLocks noGrp="1"/>
          </p:cNvSpPr>
          <p:nvPr>
            <p:ph idx="1"/>
          </p:nvPr>
        </p:nvSpPr>
        <p:spPr>
          <a:xfrm>
            <a:off x="838200" y="991574"/>
            <a:ext cx="10515600" cy="5866426"/>
          </a:xfrm>
        </p:spPr>
        <p:txBody>
          <a:bodyPr>
            <a:normAutofit/>
          </a:bodyPr>
          <a:lstStyle/>
          <a:p>
            <a:pPr marL="457200"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発表の目的</a:t>
            </a:r>
            <a:endParaRPr kumimoji="1" lang="en-US" altLang="ja-JP" sz="2000" b="1" dirty="0">
              <a:latin typeface="Hiragino Sans W6" panose="020B0400000000000000" pitchFamily="34" charset="-128"/>
              <a:ea typeface="Hiragino Sans W6" panose="020B0400000000000000" pitchFamily="34" charset="-128"/>
            </a:endParaRPr>
          </a:p>
          <a:p>
            <a:pPr lvl="1"/>
            <a:r>
              <a:rPr kumimoji="1" lang="ja-JP" altLang="en-US" sz="1800"/>
              <a:t>エージェント</a:t>
            </a:r>
            <a:r>
              <a:rPr lang="ja-JP" altLang="en-US" sz="1800"/>
              <a:t>を用いた</a:t>
            </a:r>
            <a:r>
              <a:rPr lang="en-US" altLang="ja-JP" sz="1800" dirty="0"/>
              <a:t>LLM</a:t>
            </a:r>
            <a:r>
              <a:rPr lang="ja-JP" altLang="en-US" sz="1800"/>
              <a:t>のアプリケーション開発の課題や手法について理解を深める</a:t>
            </a:r>
            <a:endParaRPr kumimoji="1" lang="en-US" altLang="ja-JP" sz="1800" b="1" dirty="0">
              <a:latin typeface="Hiragino Sans W6" panose="020B0400000000000000" pitchFamily="34" charset="-128"/>
              <a:ea typeface="Hiragino Sans W6" panose="020B0400000000000000" pitchFamily="34" charset="-128"/>
            </a:endParaRPr>
          </a:p>
          <a:p>
            <a:pPr marL="457200"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研究の背景</a:t>
            </a:r>
            <a:endParaRPr kumimoji="1" lang="en-US" altLang="ja-JP" sz="2000" b="1" dirty="0">
              <a:latin typeface="Hiragino Sans W6" panose="020B0400000000000000" pitchFamily="34" charset="-128"/>
              <a:ea typeface="Hiragino Sans W6" panose="020B0400000000000000" pitchFamily="34" charset="-128"/>
            </a:endParaRPr>
          </a:p>
          <a:p>
            <a:pPr lvl="1"/>
            <a:r>
              <a:rPr kumimoji="1" lang="en-US" altLang="ja-JP" sz="1800" dirty="0"/>
              <a:t>LLM</a:t>
            </a:r>
            <a:r>
              <a:rPr kumimoji="1" lang="ja-JP" altLang="en-US" sz="1800"/>
              <a:t>アプリケーション開発におけるマルチエージェントシステムの必要性</a:t>
            </a:r>
            <a:endParaRPr kumimoji="1" lang="en-US" altLang="ja-JP" sz="1800" dirty="0"/>
          </a:p>
          <a:p>
            <a:pPr lvl="1"/>
            <a:r>
              <a:rPr lang="ja-JP" altLang="en-US" sz="1800"/>
              <a:t>既存研究の限界</a:t>
            </a:r>
            <a:endParaRPr kumimoji="1" lang="en-US" altLang="ja-JP" sz="1800" dirty="0"/>
          </a:p>
          <a:p>
            <a:pPr marL="457200" indent="-457200">
              <a:buFont typeface="+mj-lt"/>
              <a:buAutoNum type="arabicPeriod"/>
            </a:pPr>
            <a:r>
              <a:rPr lang="ja-JP" altLang="en-US" sz="2000" b="1">
                <a:latin typeface="Hiragino Sans W6" panose="020B0400000000000000" pitchFamily="34" charset="-128"/>
                <a:ea typeface="Hiragino Sans W6" panose="020B0400000000000000" pitchFamily="34" charset="-128"/>
              </a:rPr>
              <a:t>研究の目的</a:t>
            </a:r>
            <a:endParaRPr lang="en-US" altLang="ja-JP" sz="2000" b="1" dirty="0">
              <a:latin typeface="Hiragino Sans W6" panose="020B0400000000000000" pitchFamily="34" charset="-128"/>
              <a:ea typeface="Hiragino Sans W6" panose="020B0400000000000000" pitchFamily="34" charset="-128"/>
            </a:endParaRPr>
          </a:p>
          <a:p>
            <a:pPr lvl="1"/>
            <a:r>
              <a:rPr lang="ja-JP" altLang="en-US" sz="1800"/>
              <a:t>多様な</a:t>
            </a:r>
            <a:r>
              <a:rPr lang="en-US" altLang="ja-JP" sz="1800" dirty="0"/>
              <a:t>LLM</a:t>
            </a:r>
            <a:r>
              <a:rPr lang="ja-JP" altLang="en-US" sz="1800"/>
              <a:t>アプリケーション開発に対応するマルチエージェントシステムの開発</a:t>
            </a:r>
            <a:endParaRPr lang="en-US" altLang="ja-JP" sz="1800" dirty="0"/>
          </a:p>
          <a:p>
            <a:pPr marL="457200"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手法</a:t>
            </a:r>
            <a:endParaRPr kumimoji="1" lang="en-US" altLang="ja-JP" sz="2000" b="1" dirty="0">
              <a:latin typeface="Hiragino Sans W6" panose="020B0400000000000000" pitchFamily="34" charset="-128"/>
              <a:ea typeface="Hiragino Sans W6" panose="020B0400000000000000" pitchFamily="34" charset="-128"/>
            </a:endParaRPr>
          </a:p>
          <a:p>
            <a:pPr lvl="1"/>
            <a:r>
              <a:rPr kumimoji="1" lang="ja-JP" altLang="en-US" sz="1800"/>
              <a:t>会話可能なエージェントの開発と会話主体のアプリケーションの構築</a:t>
            </a:r>
            <a:endParaRPr kumimoji="1" lang="en-US" altLang="ja-JP" sz="1800" dirty="0"/>
          </a:p>
          <a:p>
            <a:pPr marL="457200" indent="-457200">
              <a:buFont typeface="+mj-lt"/>
              <a:buAutoNum type="arabicPeriod"/>
            </a:pPr>
            <a:r>
              <a:rPr lang="ja-JP" altLang="en-US" sz="2000" b="1">
                <a:latin typeface="Hiragino Sans W6" panose="020B0400000000000000" pitchFamily="34" charset="-128"/>
                <a:ea typeface="Hiragino Sans W6" panose="020B0400000000000000" pitchFamily="34" charset="-128"/>
              </a:rPr>
              <a:t>適用結果</a:t>
            </a:r>
            <a:endParaRPr lang="en-US" altLang="ja-JP" sz="2000" b="1" dirty="0">
              <a:latin typeface="Hiragino Sans W6" panose="020B0400000000000000" pitchFamily="34" charset="-128"/>
              <a:ea typeface="Hiragino Sans W6" panose="020B0400000000000000" pitchFamily="34" charset="-128"/>
            </a:endParaRPr>
          </a:p>
          <a:p>
            <a:pPr lvl="1"/>
            <a:r>
              <a:rPr lang="ja-JP" altLang="en-US" sz="1800"/>
              <a:t>数学の問題への解答、</a:t>
            </a:r>
            <a:r>
              <a:rPr lang="en-US" altLang="ja-JP" sz="1800" dirty="0"/>
              <a:t>RAG</a:t>
            </a:r>
            <a:r>
              <a:rPr lang="ja-JP" altLang="en-US" sz="1800"/>
              <a:t>を利用した解答生成、意思決定支援、コーディング支援</a:t>
            </a:r>
            <a:endParaRPr lang="en-US" altLang="ja-JP" sz="1800" dirty="0"/>
          </a:p>
          <a:p>
            <a:pPr marL="457200"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結論</a:t>
            </a:r>
            <a:endParaRPr kumimoji="1" lang="en-US" altLang="ja-JP" sz="2000" b="1" dirty="0">
              <a:latin typeface="Hiragino Sans W6" panose="020B0400000000000000" pitchFamily="34" charset="-128"/>
              <a:ea typeface="Hiragino Sans W6" panose="020B0400000000000000" pitchFamily="34" charset="-128"/>
            </a:endParaRPr>
          </a:p>
          <a:p>
            <a:pPr lvl="1"/>
            <a:r>
              <a:rPr kumimoji="1" lang="ja-JP" altLang="en-US" sz="1800"/>
              <a:t>ユーザーフレンドリーな設計、カスタマイズ性、モジュール性、人間の介在の許容</a:t>
            </a:r>
            <a:r>
              <a:rPr lang="ja-JP" altLang="en-US" sz="1800"/>
              <a:t>などのメリットから、マルチエージェントシステムを用いた開発の領域を拡張した</a:t>
            </a:r>
            <a:endParaRPr kumimoji="1" lang="en-US" altLang="ja-JP" sz="1800" dirty="0"/>
          </a:p>
          <a:p>
            <a:pPr marL="457200" indent="-457200">
              <a:buFont typeface="+mj-lt"/>
              <a:buAutoNum type="arabicPeriod"/>
            </a:pPr>
            <a:r>
              <a:rPr kumimoji="1" lang="ja-JP" altLang="en-US" sz="2000" b="1">
                <a:latin typeface="Hiragino Sans W6" panose="020B0400000000000000" pitchFamily="34" charset="-128"/>
                <a:ea typeface="Hiragino Sans W6" panose="020B0400000000000000" pitchFamily="34" charset="-128"/>
              </a:rPr>
              <a:t>実験・所感</a:t>
            </a:r>
            <a:endParaRPr kumimoji="1" lang="en-US" altLang="ja-JP" sz="2000" b="1" dirty="0">
              <a:latin typeface="Hiragino Sans W6" panose="020B0400000000000000" pitchFamily="34" charset="-128"/>
              <a:ea typeface="Hiragino Sans W6" panose="020B0400000000000000" pitchFamily="34" charset="-128"/>
            </a:endParaRPr>
          </a:p>
          <a:p>
            <a:endParaRPr kumimoji="1" lang="ja-JP" altLang="en-US" sz="2000"/>
          </a:p>
        </p:txBody>
      </p:sp>
      <p:sp>
        <p:nvSpPr>
          <p:cNvPr id="4" name="スライド番号プレースホルダー 3">
            <a:extLst>
              <a:ext uri="{FF2B5EF4-FFF2-40B4-BE49-F238E27FC236}">
                <a16:creationId xmlns:a16="http://schemas.microsoft.com/office/drawing/2014/main" id="{D5A8C605-21DA-6B9D-7FC3-005B15E14D0C}"/>
              </a:ext>
            </a:extLst>
          </p:cNvPr>
          <p:cNvSpPr>
            <a:spLocks noGrp="1"/>
          </p:cNvSpPr>
          <p:nvPr>
            <p:ph type="sldNum" sz="quarter" idx="12"/>
          </p:nvPr>
        </p:nvSpPr>
        <p:spPr/>
        <p:txBody>
          <a:bodyPr/>
          <a:lstStyle/>
          <a:p>
            <a:fld id="{83831D9A-33C3-294C-A83B-0D46C22888D2}" type="slidenum">
              <a:rPr kumimoji="1" lang="ja-JP" altLang="en-US" smtClean="0"/>
              <a:t>2</a:t>
            </a:fld>
            <a:endParaRPr kumimoji="1" lang="ja-JP" altLang="en-US"/>
          </a:p>
        </p:txBody>
      </p:sp>
    </p:spTree>
    <p:extLst>
      <p:ext uri="{BB962C8B-B14F-4D97-AF65-F5344CB8AC3E}">
        <p14:creationId xmlns:p14="http://schemas.microsoft.com/office/powerpoint/2010/main" val="1688317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27F03D-ABC1-49D4-76FD-6BA0628DAFB9}"/>
              </a:ext>
            </a:extLst>
          </p:cNvPr>
          <p:cNvSpPr>
            <a:spLocks noGrp="1"/>
          </p:cNvSpPr>
          <p:nvPr>
            <p:ph type="title"/>
          </p:nvPr>
        </p:nvSpPr>
        <p:spPr/>
        <p:txBody>
          <a:bodyPr/>
          <a:lstStyle/>
          <a:p>
            <a:r>
              <a:rPr lang="ja-JP" altLang="en-US"/>
              <a:t>書誌情報</a:t>
            </a:r>
            <a:endParaRPr kumimoji="1" lang="ja-JP" altLang="en-US"/>
          </a:p>
        </p:txBody>
      </p:sp>
      <p:sp>
        <p:nvSpPr>
          <p:cNvPr id="3" name="コンテンツ プレースホルダー 2">
            <a:extLst>
              <a:ext uri="{FF2B5EF4-FFF2-40B4-BE49-F238E27FC236}">
                <a16:creationId xmlns:a16="http://schemas.microsoft.com/office/drawing/2014/main" id="{C72E1EA6-F706-BA05-A115-0C546BC91410}"/>
              </a:ext>
            </a:extLst>
          </p:cNvPr>
          <p:cNvSpPr>
            <a:spLocks noGrp="1"/>
          </p:cNvSpPr>
          <p:nvPr>
            <p:ph idx="1"/>
          </p:nvPr>
        </p:nvSpPr>
        <p:spPr/>
        <p:txBody>
          <a:bodyPr>
            <a:normAutofit/>
          </a:bodyPr>
          <a:lstStyle/>
          <a:p>
            <a:r>
              <a:rPr kumimoji="1" lang="ja-JP" altLang="en-US" sz="2400"/>
              <a:t>論文名</a:t>
            </a:r>
            <a:endParaRPr kumimoji="1" lang="en-US" altLang="ja-JP" sz="2400" dirty="0"/>
          </a:p>
          <a:p>
            <a:pPr lvl="1"/>
            <a:r>
              <a:rPr kumimoji="1" lang="en-US" altLang="ja-JP" sz="2000" dirty="0"/>
              <a:t>AutoGen: Enabling Next-Gen LLM Applications via Multi-Agent Conversation</a:t>
            </a:r>
          </a:p>
          <a:p>
            <a:r>
              <a:rPr lang="ja-JP" altLang="en-US" sz="2400"/>
              <a:t>著者・出版</a:t>
            </a:r>
            <a:endParaRPr lang="en-US" altLang="ja-JP" sz="2400" dirty="0"/>
          </a:p>
          <a:p>
            <a:pPr lvl="1"/>
            <a:r>
              <a:rPr kumimoji="1" lang="ja-JP" altLang="en-US" sz="2000"/>
              <a:t>筆頭著者：</a:t>
            </a:r>
            <a:r>
              <a:rPr kumimoji="1" lang="en-US" altLang="ja-JP" sz="2000" dirty="0" err="1"/>
              <a:t>Qingyun</a:t>
            </a:r>
            <a:r>
              <a:rPr kumimoji="1" lang="en-US" altLang="ja-JP" sz="2000" dirty="0"/>
              <a:t> Wu</a:t>
            </a:r>
            <a:r>
              <a:rPr lang="ja-JP" altLang="en-US" sz="2000"/>
              <a:t>（</a:t>
            </a:r>
            <a:r>
              <a:rPr lang="en-US" altLang="ja-JP" sz="2000" dirty="0"/>
              <a:t>h index: 20</a:t>
            </a:r>
            <a:r>
              <a:rPr lang="ja-JP" altLang="en-US" sz="2000"/>
              <a:t>）</a:t>
            </a:r>
            <a:endParaRPr lang="en-US" altLang="ja-JP" sz="2000" dirty="0"/>
          </a:p>
          <a:p>
            <a:pPr lvl="1"/>
            <a:r>
              <a:rPr kumimoji="1" lang="ja-JP" altLang="en-US" sz="2000"/>
              <a:t>出版：</a:t>
            </a:r>
            <a:r>
              <a:rPr kumimoji="1" lang="en-US" altLang="ja-JP" sz="2000" dirty="0"/>
              <a:t>Microsoft Research, Pennsylvania State University</a:t>
            </a:r>
          </a:p>
          <a:p>
            <a:r>
              <a:rPr lang="en-US" altLang="ja-JP" sz="2400" dirty="0"/>
              <a:t>DOI</a:t>
            </a:r>
          </a:p>
          <a:p>
            <a:pPr lvl="1"/>
            <a:r>
              <a:rPr lang="en" altLang="ja-JP" sz="2000" b="0" u="none" strike="noStrike" dirty="0">
                <a:effectLst/>
                <a:hlinkClick r:id="rId2"/>
              </a:rPr>
              <a:t>https://doi.org/10.48550/arXiv.2308.08155</a:t>
            </a:r>
            <a:endParaRPr kumimoji="1" lang="ja-JP" altLang="en-US" sz="2800"/>
          </a:p>
        </p:txBody>
      </p:sp>
      <p:sp>
        <p:nvSpPr>
          <p:cNvPr id="7" name="Rectangle 2">
            <a:extLst>
              <a:ext uri="{FF2B5EF4-FFF2-40B4-BE49-F238E27FC236}">
                <a16:creationId xmlns:a16="http://schemas.microsoft.com/office/drawing/2014/main" id="{F918ED71-B5DE-B5BD-AEC0-DCD8A3F6350F}"/>
              </a:ext>
            </a:extLst>
          </p:cNvPr>
          <p:cNvSpPr>
            <a:spLocks noChangeArrowheads="1"/>
          </p:cNvSpPr>
          <p:nvPr/>
        </p:nvSpPr>
        <p:spPr bwMode="auto">
          <a:xfrm>
            <a:off x="838200" y="3681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8" name="スライド番号プレースホルダー 7">
            <a:extLst>
              <a:ext uri="{FF2B5EF4-FFF2-40B4-BE49-F238E27FC236}">
                <a16:creationId xmlns:a16="http://schemas.microsoft.com/office/drawing/2014/main" id="{D2DDF42B-724F-76CC-2600-4DCE5849B584}"/>
              </a:ext>
            </a:extLst>
          </p:cNvPr>
          <p:cNvSpPr>
            <a:spLocks noGrp="1"/>
          </p:cNvSpPr>
          <p:nvPr>
            <p:ph type="sldNum" sz="quarter" idx="12"/>
          </p:nvPr>
        </p:nvSpPr>
        <p:spPr/>
        <p:txBody>
          <a:bodyPr/>
          <a:lstStyle/>
          <a:p>
            <a:fld id="{83831D9A-33C3-294C-A83B-0D46C22888D2}" type="slidenum">
              <a:rPr kumimoji="1" lang="ja-JP" altLang="en-US" smtClean="0"/>
              <a:t>3</a:t>
            </a:fld>
            <a:endParaRPr kumimoji="1" lang="ja-JP" altLang="en-US"/>
          </a:p>
        </p:txBody>
      </p:sp>
    </p:spTree>
    <p:extLst>
      <p:ext uri="{BB962C8B-B14F-4D97-AF65-F5344CB8AC3E}">
        <p14:creationId xmlns:p14="http://schemas.microsoft.com/office/powerpoint/2010/main" val="403675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6D84D-5E8E-55E9-4F1E-E7F67CF69F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E02676-0EC5-D062-62AB-DA3F6A18B63E}"/>
              </a:ext>
            </a:extLst>
          </p:cNvPr>
          <p:cNvSpPr>
            <a:spLocks noGrp="1"/>
          </p:cNvSpPr>
          <p:nvPr>
            <p:ph type="title"/>
          </p:nvPr>
        </p:nvSpPr>
        <p:spPr/>
        <p:txBody>
          <a:bodyPr/>
          <a:lstStyle/>
          <a:p>
            <a:r>
              <a:rPr lang="ja-JP" altLang="en-US"/>
              <a:t>研究の背景</a:t>
            </a:r>
            <a:endParaRPr kumimoji="1" lang="ja-JP" altLang="en-US"/>
          </a:p>
        </p:txBody>
      </p:sp>
      <p:sp>
        <p:nvSpPr>
          <p:cNvPr id="3" name="コンテンツ プレースホルダー 2">
            <a:extLst>
              <a:ext uri="{FF2B5EF4-FFF2-40B4-BE49-F238E27FC236}">
                <a16:creationId xmlns:a16="http://schemas.microsoft.com/office/drawing/2014/main" id="{4A72428D-80D0-3652-DBF9-7C788384131A}"/>
              </a:ext>
            </a:extLst>
          </p:cNvPr>
          <p:cNvSpPr>
            <a:spLocks noGrp="1"/>
          </p:cNvSpPr>
          <p:nvPr>
            <p:ph idx="1"/>
          </p:nvPr>
        </p:nvSpPr>
        <p:spPr>
          <a:xfrm>
            <a:off x="838200" y="1450793"/>
            <a:ext cx="10515600" cy="5088119"/>
          </a:xfrm>
        </p:spPr>
        <p:txBody>
          <a:bodyPr>
            <a:normAutofit/>
          </a:bodyPr>
          <a:lstStyle/>
          <a:p>
            <a:pPr marL="0" indent="0">
              <a:buNone/>
            </a:pPr>
            <a:r>
              <a:rPr lang="en-US" altLang="ja-JP" sz="2200" b="1" dirty="0">
                <a:latin typeface="Hiragino Sans W7" panose="020B0400000000000000" pitchFamily="34" charset="-128"/>
                <a:ea typeface="Hiragino Sans W7" panose="020B0400000000000000" pitchFamily="34" charset="-128"/>
              </a:rPr>
              <a:t>LLM</a:t>
            </a:r>
            <a:r>
              <a:rPr lang="ja-JP" altLang="en-US" sz="2200" b="1">
                <a:latin typeface="Hiragino Sans W7" panose="020B0400000000000000" pitchFamily="34" charset="-128"/>
                <a:ea typeface="Hiragino Sans W7" panose="020B0400000000000000" pitchFamily="34" charset="-128"/>
              </a:rPr>
              <a:t>アプリケーション開発におけるマルチエージェントシステムの必要性</a:t>
            </a:r>
            <a:endParaRPr lang="en-US" altLang="ja-JP" sz="2200" b="1" dirty="0">
              <a:latin typeface="Hiragino Sans W7" panose="020B0400000000000000" pitchFamily="34" charset="-128"/>
              <a:ea typeface="Hiragino Sans W7" panose="020B0400000000000000" pitchFamily="34" charset="-128"/>
            </a:endParaRPr>
          </a:p>
          <a:p>
            <a:pPr lvl="1"/>
            <a:r>
              <a:rPr kumimoji="1" lang="en-US" altLang="ja-JP" sz="1800" dirty="0"/>
              <a:t>LLM</a:t>
            </a:r>
            <a:r>
              <a:rPr kumimoji="1" lang="ja-JP" altLang="en-US" sz="1800"/>
              <a:t>は推論や外部ツールの活用など、複数のタスクをこなすエージェント開発の基盤となる</a:t>
            </a:r>
            <a:endParaRPr kumimoji="1" lang="en-US" altLang="ja-JP" sz="1800" dirty="0"/>
          </a:p>
          <a:p>
            <a:pPr lvl="1"/>
            <a:r>
              <a:rPr kumimoji="1" lang="en-US" altLang="ja-JP" sz="1800" dirty="0">
                <a:solidFill>
                  <a:srgbClr val="FF0000"/>
                </a:solidFill>
                <a:latin typeface="Hiragino Sans W5" panose="020B0400000000000000" pitchFamily="34" charset="-128"/>
                <a:ea typeface="Hiragino Sans W5" panose="020B0400000000000000" pitchFamily="34" charset="-128"/>
              </a:rPr>
              <a:t>LLM</a:t>
            </a:r>
            <a:r>
              <a:rPr kumimoji="1" lang="ja-JP" altLang="en-US" sz="1800">
                <a:solidFill>
                  <a:srgbClr val="FF0000"/>
                </a:solidFill>
                <a:latin typeface="Hiragino Sans W5" panose="020B0400000000000000" pitchFamily="34" charset="-128"/>
                <a:ea typeface="Hiragino Sans W5" panose="020B0400000000000000" pitchFamily="34" charset="-128"/>
              </a:rPr>
              <a:t>が対応可能なタスクの領域を増やすため</a:t>
            </a:r>
            <a:r>
              <a:rPr kumimoji="1" lang="ja-JP" altLang="en-US" sz="1800"/>
              <a:t>に、複数エージェントを利用する発想がある</a:t>
            </a:r>
            <a:endParaRPr kumimoji="1" lang="en-US" altLang="ja-JP" sz="1800" dirty="0"/>
          </a:p>
          <a:p>
            <a:pPr lvl="1"/>
            <a:r>
              <a:rPr lang="ja-JP" altLang="en-US" sz="1800"/>
              <a:t>実際に多様な思考の促進</a:t>
            </a:r>
            <a:r>
              <a:rPr lang="en-US" altLang="ja-JP" sz="1800" dirty="0"/>
              <a:t> </a:t>
            </a:r>
            <a:r>
              <a:rPr lang="en-US" altLang="ja-JP" sz="1200" dirty="0"/>
              <a:t>[Liang et al.,2023] </a:t>
            </a:r>
            <a:r>
              <a:rPr lang="ja-JP" altLang="en-US" sz="1800"/>
              <a:t>や、推論能力の向上などの効果がある</a:t>
            </a:r>
            <a:r>
              <a:rPr lang="en-US" altLang="ja-JP" sz="1800" dirty="0"/>
              <a:t> </a:t>
            </a:r>
            <a:r>
              <a:rPr lang="en-US" altLang="ja-JP" sz="1200" dirty="0"/>
              <a:t>[Naik et al.,2023]</a:t>
            </a:r>
            <a:endParaRPr kumimoji="1" lang="en-US" altLang="ja-JP" sz="1800" dirty="0"/>
          </a:p>
          <a:p>
            <a:pPr marL="0" indent="0">
              <a:buNone/>
            </a:pPr>
            <a:endParaRPr kumimoji="1" lang="en-US" altLang="ja-JP" sz="2200" dirty="0"/>
          </a:p>
          <a:p>
            <a:pPr marL="0" indent="0">
              <a:buNone/>
            </a:pPr>
            <a:r>
              <a:rPr kumimoji="1" lang="ja-JP" altLang="en-US" sz="2200" b="1">
                <a:latin typeface="Hiragino Sans W7" panose="020B0400000000000000" pitchFamily="34" charset="-128"/>
                <a:ea typeface="Hiragino Sans W7" panose="020B0400000000000000" pitchFamily="34" charset="-128"/>
              </a:rPr>
              <a:t>従来の</a:t>
            </a:r>
            <a:r>
              <a:rPr kumimoji="1" lang="en-US" altLang="ja-JP" sz="2200" b="1" dirty="0">
                <a:latin typeface="Hiragino Sans W7" panose="020B0400000000000000" pitchFamily="34" charset="-128"/>
                <a:ea typeface="Hiragino Sans W7" panose="020B0400000000000000" pitchFamily="34" charset="-128"/>
              </a:rPr>
              <a:t>LLM</a:t>
            </a:r>
            <a:r>
              <a:rPr kumimoji="1" lang="ja-JP" altLang="en-US" sz="2200" b="1">
                <a:latin typeface="Hiragino Sans W7" panose="020B0400000000000000" pitchFamily="34" charset="-128"/>
                <a:ea typeface="Hiragino Sans W7" panose="020B0400000000000000" pitchFamily="34" charset="-128"/>
              </a:rPr>
              <a:t>を用いたエージェントシステムの限界</a:t>
            </a:r>
            <a:endParaRPr kumimoji="1" lang="en-US" altLang="ja-JP" sz="2200" b="1" dirty="0">
              <a:latin typeface="Hiragino Sans W7" panose="020B0400000000000000" pitchFamily="34" charset="-128"/>
              <a:ea typeface="Hiragino Sans W7" panose="020B0400000000000000" pitchFamily="34" charset="-128"/>
            </a:endParaRPr>
          </a:p>
          <a:p>
            <a:pPr lvl="1"/>
            <a:r>
              <a:rPr lang="ja-JP" altLang="en-US" sz="1800"/>
              <a:t>既存の手法は特定のシナリオや問題解決に特化しているため、</a:t>
            </a:r>
            <a:r>
              <a:rPr lang="ja-JP" altLang="en-US" sz="1800">
                <a:solidFill>
                  <a:srgbClr val="FF0000"/>
                </a:solidFill>
                <a:latin typeface="Hiragino Sans W5" panose="020B0400000000000000" pitchFamily="34" charset="-128"/>
                <a:ea typeface="Hiragino Sans W5" panose="020B0400000000000000" pitchFamily="34" charset="-128"/>
              </a:rPr>
              <a:t>汎用性に欠ける</a:t>
            </a:r>
            <a:endParaRPr lang="en-US" altLang="ja-JP" sz="1800" dirty="0">
              <a:solidFill>
                <a:srgbClr val="FF0000"/>
              </a:solidFill>
              <a:latin typeface="Hiragino Sans W5" panose="020B0400000000000000" pitchFamily="34" charset="-128"/>
              <a:ea typeface="Hiragino Sans W5" panose="020B0400000000000000" pitchFamily="34" charset="-128"/>
            </a:endParaRPr>
          </a:p>
          <a:p>
            <a:pPr lvl="2"/>
            <a:r>
              <a:rPr kumimoji="1" lang="en-US" altLang="ja-JP" sz="1600" dirty="0"/>
              <a:t>MetaGPT </a:t>
            </a:r>
            <a:r>
              <a:rPr kumimoji="1" lang="en-US" altLang="ja-JP" sz="1200" dirty="0"/>
              <a:t>[Hong et al.,2023] </a:t>
            </a:r>
            <a:r>
              <a:rPr kumimoji="1" lang="ja-JP" altLang="en-US" sz="1600"/>
              <a:t>や</a:t>
            </a:r>
            <a:r>
              <a:rPr kumimoji="1" lang="en-US" altLang="ja-JP" sz="1600" dirty="0"/>
              <a:t> ChatDev </a:t>
            </a:r>
            <a:r>
              <a:rPr kumimoji="1" lang="en-US" altLang="ja-JP" sz="1200" dirty="0"/>
              <a:t>[Qian et al.,2023] </a:t>
            </a:r>
            <a:r>
              <a:rPr kumimoji="1" lang="ja-JP" altLang="en-US" sz="1600"/>
              <a:t>は、ソフトウェアのエンジニアリングのタスクに特化している</a:t>
            </a:r>
            <a:endParaRPr kumimoji="1" lang="en-US" altLang="ja-JP" sz="1600" dirty="0"/>
          </a:p>
          <a:p>
            <a:pPr lvl="2"/>
            <a:r>
              <a:rPr kumimoji="1" lang="en-US" altLang="ja-JP" sz="1600" dirty="0"/>
              <a:t>AgentVerse </a:t>
            </a:r>
            <a:r>
              <a:rPr kumimoji="1" lang="en-US" altLang="ja-JP" sz="1200" dirty="0"/>
              <a:t>[Chen et al.,2023] </a:t>
            </a:r>
            <a:r>
              <a:rPr kumimoji="1" lang="ja-JP" altLang="en-US" sz="1600"/>
              <a:t>は、あらかじめ決められた手順に従い、問題解決のプロセスをシミュレーションすることに特化している</a:t>
            </a:r>
            <a:endParaRPr kumimoji="1" lang="en-US" altLang="ja-JP" sz="1600" dirty="0"/>
          </a:p>
          <a:p>
            <a:pPr lvl="1"/>
            <a:r>
              <a:rPr kumimoji="1" lang="ja-JP" altLang="en-US" sz="1800"/>
              <a:t>エージェントの数や会話のパターン</a:t>
            </a:r>
            <a:r>
              <a:rPr lang="ja-JP" altLang="en-US" sz="1800"/>
              <a:t>も制限されているため、</a:t>
            </a:r>
            <a:r>
              <a:rPr lang="ja-JP" altLang="en-US" sz="1800">
                <a:solidFill>
                  <a:srgbClr val="FF0000"/>
                </a:solidFill>
                <a:latin typeface="Hiragino Sans W5" panose="020B0400000000000000" pitchFamily="34" charset="-128"/>
                <a:ea typeface="Hiragino Sans W5" panose="020B0400000000000000" pitchFamily="34" charset="-128"/>
              </a:rPr>
              <a:t>複雑な</a:t>
            </a:r>
            <a:r>
              <a:rPr lang="en-US" altLang="ja-JP" sz="1800" dirty="0">
                <a:solidFill>
                  <a:srgbClr val="FF0000"/>
                </a:solidFill>
                <a:latin typeface="Hiragino Sans W5" panose="020B0400000000000000" pitchFamily="34" charset="-128"/>
                <a:ea typeface="Hiragino Sans W5" panose="020B0400000000000000" pitchFamily="34" charset="-128"/>
              </a:rPr>
              <a:t>LLM</a:t>
            </a:r>
            <a:r>
              <a:rPr lang="ja-JP" altLang="en-US" sz="1800">
                <a:solidFill>
                  <a:srgbClr val="FF0000"/>
                </a:solidFill>
                <a:latin typeface="Hiragino Sans W5" panose="020B0400000000000000" pitchFamily="34" charset="-128"/>
                <a:ea typeface="Hiragino Sans W5" panose="020B0400000000000000" pitchFamily="34" charset="-128"/>
              </a:rPr>
              <a:t>アプリケーションの開発には不向き</a:t>
            </a:r>
            <a:r>
              <a:rPr lang="ja-JP" altLang="en-US" sz="1800"/>
              <a:t>である</a:t>
            </a:r>
            <a:endParaRPr kumimoji="1" lang="ja-JP" altLang="en-US" sz="1800"/>
          </a:p>
        </p:txBody>
      </p:sp>
      <p:sp>
        <p:nvSpPr>
          <p:cNvPr id="4" name="スライド番号プレースホルダー 3">
            <a:extLst>
              <a:ext uri="{FF2B5EF4-FFF2-40B4-BE49-F238E27FC236}">
                <a16:creationId xmlns:a16="http://schemas.microsoft.com/office/drawing/2014/main" id="{1F6EE34F-2A11-8E77-8583-186685B7B815}"/>
              </a:ext>
            </a:extLst>
          </p:cNvPr>
          <p:cNvSpPr>
            <a:spLocks noGrp="1"/>
          </p:cNvSpPr>
          <p:nvPr>
            <p:ph type="sldNum" sz="quarter" idx="12"/>
          </p:nvPr>
        </p:nvSpPr>
        <p:spPr/>
        <p:txBody>
          <a:bodyPr/>
          <a:lstStyle/>
          <a:p>
            <a:fld id="{83831D9A-33C3-294C-A83B-0D46C22888D2}" type="slidenum">
              <a:rPr kumimoji="1" lang="ja-JP" altLang="en-US" smtClean="0"/>
              <a:t>4</a:t>
            </a:fld>
            <a:endParaRPr kumimoji="1" lang="ja-JP" altLang="en-US"/>
          </a:p>
        </p:txBody>
      </p:sp>
    </p:spTree>
    <p:extLst>
      <p:ext uri="{BB962C8B-B14F-4D97-AF65-F5344CB8AC3E}">
        <p14:creationId xmlns:p14="http://schemas.microsoft.com/office/powerpoint/2010/main" val="2340706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D724B-5513-50B7-D391-0696AC541C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C75F11-C776-D5E1-D7D8-792C1129B46D}"/>
              </a:ext>
            </a:extLst>
          </p:cNvPr>
          <p:cNvSpPr>
            <a:spLocks noGrp="1"/>
          </p:cNvSpPr>
          <p:nvPr>
            <p:ph type="title"/>
          </p:nvPr>
        </p:nvSpPr>
        <p:spPr/>
        <p:txBody>
          <a:bodyPr/>
          <a:lstStyle/>
          <a:p>
            <a:r>
              <a:rPr lang="ja-JP" altLang="en-US"/>
              <a:t>研究の目的</a:t>
            </a:r>
            <a:endParaRPr kumimoji="1" lang="ja-JP" altLang="en-US"/>
          </a:p>
        </p:txBody>
      </p:sp>
      <p:sp>
        <p:nvSpPr>
          <p:cNvPr id="3" name="コンテンツ プレースホルダー 2">
            <a:extLst>
              <a:ext uri="{FF2B5EF4-FFF2-40B4-BE49-F238E27FC236}">
                <a16:creationId xmlns:a16="http://schemas.microsoft.com/office/drawing/2014/main" id="{D794DFD5-369F-B90B-61E9-6D3B9592A87B}"/>
              </a:ext>
            </a:extLst>
          </p:cNvPr>
          <p:cNvSpPr>
            <a:spLocks noGrp="1"/>
          </p:cNvSpPr>
          <p:nvPr>
            <p:ph idx="1"/>
          </p:nvPr>
        </p:nvSpPr>
        <p:spPr>
          <a:xfrm>
            <a:off x="419099" y="944357"/>
            <a:ext cx="11353800" cy="2552179"/>
          </a:xfrm>
        </p:spPr>
        <p:txBody>
          <a:bodyPr>
            <a:normAutofit/>
          </a:bodyPr>
          <a:lstStyle/>
          <a:p>
            <a:r>
              <a:rPr lang="ja-JP" altLang="en-US" sz="2000" b="1">
                <a:latin typeface="Hiragino Sans W6" panose="020B0400000000000000" pitchFamily="34" charset="-128"/>
                <a:ea typeface="Hiragino Sans W6" panose="020B0400000000000000" pitchFamily="34" charset="-128"/>
              </a:rPr>
              <a:t>多様な</a:t>
            </a:r>
            <a:r>
              <a:rPr lang="en-US" altLang="ja-JP" sz="2000" b="1" dirty="0">
                <a:latin typeface="Hiragino Sans W6" panose="020B0400000000000000" pitchFamily="34" charset="-128"/>
                <a:ea typeface="Hiragino Sans W6" panose="020B0400000000000000" pitchFamily="34" charset="-128"/>
              </a:rPr>
              <a:t>LLM</a:t>
            </a:r>
            <a:r>
              <a:rPr lang="ja-JP" altLang="en-US" sz="2000" b="1">
                <a:latin typeface="Hiragino Sans W6" panose="020B0400000000000000" pitchFamily="34" charset="-128"/>
                <a:ea typeface="Hiragino Sans W6" panose="020B0400000000000000" pitchFamily="34" charset="-128"/>
              </a:rPr>
              <a:t>アプリケーションの形態に対応するための</a:t>
            </a:r>
            <a:r>
              <a:rPr kumimoji="1" lang="ja-JP" altLang="en-US" sz="2000" b="1">
                <a:latin typeface="Hiragino Sans W6" panose="020B0400000000000000" pitchFamily="34" charset="-128"/>
                <a:ea typeface="Hiragino Sans W6" panose="020B0400000000000000" pitchFamily="34" charset="-128"/>
              </a:rPr>
              <a:t>マルチエージェント</a:t>
            </a:r>
            <a:r>
              <a:rPr lang="ja-JP" altLang="en-US" sz="2000" b="1">
                <a:latin typeface="Hiragino Sans W6" panose="020B0400000000000000" pitchFamily="34" charset="-128"/>
                <a:ea typeface="Hiragino Sans W6" panose="020B0400000000000000" pitchFamily="34" charset="-128"/>
              </a:rPr>
              <a:t>開発を目的とする</a:t>
            </a:r>
            <a:endParaRPr kumimoji="1" lang="en-US" altLang="ja-JP" sz="2000" b="1" dirty="0">
              <a:latin typeface="Hiragino Sans W6" panose="020B0400000000000000" pitchFamily="34" charset="-128"/>
              <a:ea typeface="Hiragino Sans W6" panose="020B0400000000000000" pitchFamily="34" charset="-128"/>
            </a:endParaRPr>
          </a:p>
          <a:p>
            <a:r>
              <a:rPr kumimoji="1" lang="en-US" altLang="ja-JP" sz="2000" dirty="0"/>
              <a:t>AutoGen</a:t>
            </a:r>
            <a:r>
              <a:rPr lang="ja-JP" altLang="en-US" sz="2000"/>
              <a:t>が持つ主要な機能は以下の</a:t>
            </a:r>
            <a:r>
              <a:rPr lang="en-US" altLang="ja-JP" sz="2000" dirty="0"/>
              <a:t>3</a:t>
            </a:r>
            <a:r>
              <a:rPr lang="ja-JP" altLang="en-US" sz="2000"/>
              <a:t>つである</a:t>
            </a:r>
            <a:endParaRPr kumimoji="1" lang="en-US" altLang="ja-JP" sz="2000" dirty="0"/>
          </a:p>
          <a:p>
            <a:pPr marL="800100" lvl="1" indent="-342900">
              <a:buFont typeface="+mj-lt"/>
              <a:buAutoNum type="arabicPeriod"/>
            </a:pPr>
            <a:r>
              <a:rPr kumimoji="1" lang="ja-JP" altLang="en-US" sz="1800" b="1">
                <a:latin typeface="Hiragino Sans W6" panose="020B0400000000000000" pitchFamily="34" charset="-128"/>
                <a:ea typeface="Hiragino Sans W6" panose="020B0400000000000000" pitchFamily="34" charset="-128"/>
              </a:rPr>
              <a:t>カスタマイズ可能なエージェント</a:t>
            </a:r>
            <a:r>
              <a:rPr kumimoji="1" lang="ja-JP" altLang="en-US" sz="1800"/>
              <a:t>：</a:t>
            </a:r>
            <a:r>
              <a:rPr kumimoji="1" lang="en-US" altLang="ja-JP" sz="1800" dirty="0"/>
              <a:t>LLM</a:t>
            </a:r>
            <a:r>
              <a:rPr kumimoji="1" lang="ja-JP" altLang="en-US" sz="1800"/>
              <a:t>や人からの入力、ツールの組み合わせを自由に設計できる。</a:t>
            </a:r>
            <a:r>
              <a:rPr lang="ja-JP" altLang="en-US" sz="1800"/>
              <a:t>新たな機能を付与したい場合も簡単にエージェントを作成できる仕組みにする</a:t>
            </a:r>
            <a:endParaRPr lang="en-US" altLang="ja-JP" sz="1800" dirty="0"/>
          </a:p>
          <a:p>
            <a:pPr marL="800100" lvl="1" indent="-342900">
              <a:buFont typeface="+mj-lt"/>
              <a:buAutoNum type="arabicPeriod"/>
            </a:pPr>
            <a:r>
              <a:rPr kumimoji="1" lang="ja-JP" altLang="en-US" sz="1800" b="1">
                <a:latin typeface="Hiragino Sans W6" panose="020B0400000000000000" pitchFamily="34" charset="-128"/>
                <a:ea typeface="Hiragino Sans W6" panose="020B0400000000000000" pitchFamily="34" charset="-128"/>
              </a:rPr>
              <a:t>会話可能なエージェント</a:t>
            </a:r>
            <a:r>
              <a:rPr kumimoji="1" lang="ja-JP" altLang="en-US" sz="1800"/>
              <a:t>：全てのエージェントはメッセージを受け取り、応答することができ、</a:t>
            </a:r>
            <a:r>
              <a:rPr kumimoji="1" lang="en-US" altLang="ja-JP" sz="1800" dirty="0"/>
              <a:t>LLM</a:t>
            </a:r>
            <a:r>
              <a:rPr lang="ja-JP" altLang="en-US" sz="1800"/>
              <a:t>間と</a:t>
            </a:r>
            <a:r>
              <a:rPr lang="en-US" altLang="ja-JP" sz="1800" dirty="0"/>
              <a:t>LLM-</a:t>
            </a:r>
            <a:r>
              <a:rPr lang="ja-JP" altLang="en-US" sz="1800"/>
              <a:t>人間の両方に対応する</a:t>
            </a:r>
            <a:endParaRPr lang="en-US" altLang="ja-JP" sz="1800" dirty="0"/>
          </a:p>
          <a:p>
            <a:pPr marL="800100" lvl="1" indent="-342900">
              <a:buFont typeface="+mj-lt"/>
              <a:buAutoNum type="arabicPeriod"/>
            </a:pPr>
            <a:r>
              <a:rPr lang="ja-JP" altLang="en-US" sz="1800" b="1">
                <a:latin typeface="Hiragino Sans W6" panose="020B0400000000000000" pitchFamily="34" charset="-128"/>
                <a:ea typeface="Hiragino Sans W6" panose="020B0400000000000000" pitchFamily="34" charset="-128"/>
              </a:rPr>
              <a:t>会話型のプログラミング</a:t>
            </a:r>
            <a:r>
              <a:rPr lang="ja-JP" altLang="en-US" sz="1800"/>
              <a:t>：エージェント同士の会話によってアプリケーションを構築する</a:t>
            </a:r>
            <a:endParaRPr kumimoji="1" lang="ja-JP" altLang="en-US" sz="1800"/>
          </a:p>
        </p:txBody>
      </p:sp>
      <p:sp>
        <p:nvSpPr>
          <p:cNvPr id="4" name="スライド番号プレースホルダー 3">
            <a:extLst>
              <a:ext uri="{FF2B5EF4-FFF2-40B4-BE49-F238E27FC236}">
                <a16:creationId xmlns:a16="http://schemas.microsoft.com/office/drawing/2014/main" id="{7B922A05-675E-2FA1-01E9-95B7E0DE1342}"/>
              </a:ext>
            </a:extLst>
          </p:cNvPr>
          <p:cNvSpPr>
            <a:spLocks noGrp="1"/>
          </p:cNvSpPr>
          <p:nvPr>
            <p:ph type="sldNum" sz="quarter" idx="12"/>
          </p:nvPr>
        </p:nvSpPr>
        <p:spPr/>
        <p:txBody>
          <a:bodyPr/>
          <a:lstStyle/>
          <a:p>
            <a:fld id="{83831D9A-33C3-294C-A83B-0D46C22888D2}" type="slidenum">
              <a:rPr kumimoji="1" lang="ja-JP" altLang="en-US" smtClean="0"/>
              <a:t>5</a:t>
            </a:fld>
            <a:endParaRPr kumimoji="1" lang="ja-JP" altLang="en-US"/>
          </a:p>
        </p:txBody>
      </p:sp>
      <p:pic>
        <p:nvPicPr>
          <p:cNvPr id="6" name="図 5" descr="グラフィカル ユーザー インターフェイス, テキスト, アプリケーション&#10;&#10;自動的に生成された説明">
            <a:extLst>
              <a:ext uri="{FF2B5EF4-FFF2-40B4-BE49-F238E27FC236}">
                <a16:creationId xmlns:a16="http://schemas.microsoft.com/office/drawing/2014/main" id="{2DB9535A-8F7A-17DF-B70F-0639853268CB}"/>
              </a:ext>
            </a:extLst>
          </p:cNvPr>
          <p:cNvPicPr>
            <a:picLocks noChangeAspect="1"/>
          </p:cNvPicPr>
          <p:nvPr/>
        </p:nvPicPr>
        <p:blipFill>
          <a:blip r:embed="rId2"/>
          <a:stretch>
            <a:fillRect/>
          </a:stretch>
        </p:blipFill>
        <p:spPr>
          <a:xfrm>
            <a:off x="1275594" y="3429000"/>
            <a:ext cx="9640811" cy="3000830"/>
          </a:xfrm>
          <a:prstGeom prst="rect">
            <a:avLst/>
          </a:prstGeom>
        </p:spPr>
      </p:pic>
      <p:sp>
        <p:nvSpPr>
          <p:cNvPr id="7" name="正方形/長方形 6">
            <a:extLst>
              <a:ext uri="{FF2B5EF4-FFF2-40B4-BE49-F238E27FC236}">
                <a16:creationId xmlns:a16="http://schemas.microsoft.com/office/drawing/2014/main" id="{404C5CAC-C706-3326-65BB-50EE39C0D80A}"/>
              </a:ext>
            </a:extLst>
          </p:cNvPr>
          <p:cNvSpPr/>
          <p:nvPr/>
        </p:nvSpPr>
        <p:spPr>
          <a:xfrm>
            <a:off x="1378424" y="3429000"/>
            <a:ext cx="2743200" cy="1402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B92019F9-4E29-9AE1-AE87-2B1B6F4B1814}"/>
              </a:ext>
            </a:extLst>
          </p:cNvPr>
          <p:cNvSpPr/>
          <p:nvPr/>
        </p:nvSpPr>
        <p:spPr>
          <a:xfrm>
            <a:off x="4224454" y="3429000"/>
            <a:ext cx="2053516" cy="1402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8E51FB64-00EB-A0AF-1BAE-BE13C78650BA}"/>
              </a:ext>
            </a:extLst>
          </p:cNvPr>
          <p:cNvSpPr/>
          <p:nvPr/>
        </p:nvSpPr>
        <p:spPr>
          <a:xfrm>
            <a:off x="1378424" y="4935128"/>
            <a:ext cx="4899546" cy="14947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EFA9865-0D51-DA4A-9B6E-F662DFA6B5E8}"/>
              </a:ext>
            </a:extLst>
          </p:cNvPr>
          <p:cNvSpPr txBox="1"/>
          <p:nvPr/>
        </p:nvSpPr>
        <p:spPr>
          <a:xfrm>
            <a:off x="1378424" y="3428999"/>
            <a:ext cx="614149" cy="369332"/>
          </a:xfrm>
          <a:prstGeom prst="rect">
            <a:avLst/>
          </a:prstGeom>
          <a:noFill/>
        </p:spPr>
        <p:txBody>
          <a:bodyPr wrap="square" rtlCol="0">
            <a:spAutoFit/>
          </a:bodyPr>
          <a:lstStyle/>
          <a:p>
            <a:r>
              <a:rPr kumimoji="1" lang="en-US" altLang="ja-JP" dirty="0">
                <a:solidFill>
                  <a:srgbClr val="FF0000"/>
                </a:solidFill>
              </a:rPr>
              <a:t>①</a:t>
            </a:r>
            <a:endParaRPr kumimoji="1" lang="ja-JP" altLang="en-US">
              <a:solidFill>
                <a:srgbClr val="FF0000"/>
              </a:solidFill>
            </a:endParaRPr>
          </a:p>
        </p:txBody>
      </p:sp>
      <p:sp>
        <p:nvSpPr>
          <p:cNvPr id="11" name="テキスト ボックス 10">
            <a:extLst>
              <a:ext uri="{FF2B5EF4-FFF2-40B4-BE49-F238E27FC236}">
                <a16:creationId xmlns:a16="http://schemas.microsoft.com/office/drawing/2014/main" id="{D44CDE3D-642F-21A7-1631-369D40113C9F}"/>
              </a:ext>
            </a:extLst>
          </p:cNvPr>
          <p:cNvSpPr txBox="1"/>
          <p:nvPr/>
        </p:nvSpPr>
        <p:spPr>
          <a:xfrm>
            <a:off x="4190668" y="3428999"/>
            <a:ext cx="614149" cy="369332"/>
          </a:xfrm>
          <a:prstGeom prst="rect">
            <a:avLst/>
          </a:prstGeom>
          <a:noFill/>
        </p:spPr>
        <p:txBody>
          <a:bodyPr wrap="square" rtlCol="0">
            <a:spAutoFit/>
          </a:bodyPr>
          <a:lstStyle/>
          <a:p>
            <a:r>
              <a:rPr lang="en-US" altLang="ja-JP" dirty="0">
                <a:solidFill>
                  <a:srgbClr val="FF0000"/>
                </a:solidFill>
              </a:rPr>
              <a:t>②</a:t>
            </a:r>
            <a:endParaRPr kumimoji="1" lang="ja-JP" altLang="en-US">
              <a:solidFill>
                <a:srgbClr val="FF0000"/>
              </a:solidFill>
            </a:endParaRPr>
          </a:p>
        </p:txBody>
      </p:sp>
      <p:sp>
        <p:nvSpPr>
          <p:cNvPr id="12" name="テキスト ボックス 11">
            <a:extLst>
              <a:ext uri="{FF2B5EF4-FFF2-40B4-BE49-F238E27FC236}">
                <a16:creationId xmlns:a16="http://schemas.microsoft.com/office/drawing/2014/main" id="{B838A748-EFD3-A72E-6836-907048A5FE76}"/>
              </a:ext>
            </a:extLst>
          </p:cNvPr>
          <p:cNvSpPr txBox="1"/>
          <p:nvPr/>
        </p:nvSpPr>
        <p:spPr>
          <a:xfrm>
            <a:off x="1384914" y="6060497"/>
            <a:ext cx="614149" cy="369332"/>
          </a:xfrm>
          <a:prstGeom prst="rect">
            <a:avLst/>
          </a:prstGeom>
          <a:noFill/>
        </p:spPr>
        <p:txBody>
          <a:bodyPr wrap="square" rtlCol="0">
            <a:spAutoFit/>
          </a:bodyPr>
          <a:lstStyle/>
          <a:p>
            <a:r>
              <a:rPr lang="en-US" altLang="ja-JP" dirty="0">
                <a:solidFill>
                  <a:srgbClr val="FF0000"/>
                </a:solidFill>
              </a:rPr>
              <a:t>③</a:t>
            </a:r>
            <a:endParaRPr kumimoji="1" lang="ja-JP" altLang="en-US">
              <a:solidFill>
                <a:srgbClr val="FF0000"/>
              </a:solidFill>
            </a:endParaRPr>
          </a:p>
        </p:txBody>
      </p:sp>
      <p:sp>
        <p:nvSpPr>
          <p:cNvPr id="13" name="テキスト ボックス 12">
            <a:extLst>
              <a:ext uri="{FF2B5EF4-FFF2-40B4-BE49-F238E27FC236}">
                <a16:creationId xmlns:a16="http://schemas.microsoft.com/office/drawing/2014/main" id="{8518D726-C094-C560-0495-531BE5356842}"/>
              </a:ext>
            </a:extLst>
          </p:cNvPr>
          <p:cNvSpPr txBox="1"/>
          <p:nvPr/>
        </p:nvSpPr>
        <p:spPr>
          <a:xfrm>
            <a:off x="3113965" y="6481067"/>
            <a:ext cx="5606955"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kumimoji="1" lang="en-US" altLang="ja-JP" dirty="0">
                <a:latin typeface="Hiragino Sans W4" panose="020B0400000000000000" pitchFamily="34" charset="-128"/>
                <a:ea typeface="Hiragino Sans W4" panose="020B0400000000000000" pitchFamily="34" charset="-128"/>
              </a:rPr>
              <a:t>AutoGen</a:t>
            </a:r>
            <a:r>
              <a:rPr kumimoji="1" lang="ja-JP" altLang="en-US">
                <a:latin typeface="Hiragino Sans W4" panose="020B0400000000000000" pitchFamily="34" charset="-128"/>
                <a:ea typeface="Hiragino Sans W4" panose="020B0400000000000000" pitchFamily="34" charset="-128"/>
              </a:rPr>
              <a:t>の主要な機能</a:t>
            </a:r>
          </a:p>
        </p:txBody>
      </p:sp>
    </p:spTree>
    <p:extLst>
      <p:ext uri="{BB962C8B-B14F-4D97-AF65-F5344CB8AC3E}">
        <p14:creationId xmlns:p14="http://schemas.microsoft.com/office/powerpoint/2010/main" val="2554104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CFA7-7A88-0643-B170-BA7E0E609D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43D5C96-F115-8E01-6537-1207B94BD689}"/>
              </a:ext>
            </a:extLst>
          </p:cNvPr>
          <p:cNvSpPr>
            <a:spLocks noGrp="1"/>
          </p:cNvSpPr>
          <p:nvPr>
            <p:ph type="title"/>
          </p:nvPr>
        </p:nvSpPr>
        <p:spPr/>
        <p:txBody>
          <a:bodyPr/>
          <a:lstStyle/>
          <a:p>
            <a:r>
              <a:rPr kumimoji="1" lang="ja-JP" altLang="en-US"/>
              <a:t>手法</a:t>
            </a:r>
          </a:p>
        </p:txBody>
      </p:sp>
      <p:sp>
        <p:nvSpPr>
          <p:cNvPr id="3" name="コンテンツ プレースホルダー 2">
            <a:extLst>
              <a:ext uri="{FF2B5EF4-FFF2-40B4-BE49-F238E27FC236}">
                <a16:creationId xmlns:a16="http://schemas.microsoft.com/office/drawing/2014/main" id="{127D71E6-09B8-D2D9-54EB-9DDA8356772C}"/>
              </a:ext>
            </a:extLst>
          </p:cNvPr>
          <p:cNvSpPr>
            <a:spLocks noGrp="1"/>
          </p:cNvSpPr>
          <p:nvPr>
            <p:ph idx="1"/>
          </p:nvPr>
        </p:nvSpPr>
        <p:spPr>
          <a:xfrm>
            <a:off x="838200" y="1175631"/>
            <a:ext cx="10515600" cy="5088119"/>
          </a:xfrm>
        </p:spPr>
        <p:txBody>
          <a:bodyPr>
            <a:normAutofit/>
          </a:bodyPr>
          <a:lstStyle/>
          <a:p>
            <a:pPr marL="0" indent="0">
              <a:buNone/>
            </a:pPr>
            <a:r>
              <a:rPr lang="en-US" altLang="ja-JP" dirty="0"/>
              <a:t>AutoGen</a:t>
            </a:r>
            <a:r>
              <a:rPr lang="ja-JP" altLang="en-US"/>
              <a:t>を作成するにあたって、</a:t>
            </a:r>
            <a:r>
              <a:rPr lang="ja-JP" altLang="en-US" b="1">
                <a:solidFill>
                  <a:srgbClr val="FF0000"/>
                </a:solidFill>
                <a:latin typeface="Hiragino Sans W6" panose="020B0400000000000000" pitchFamily="34" charset="-128"/>
                <a:ea typeface="Hiragino Sans W6" panose="020B0400000000000000" pitchFamily="34" charset="-128"/>
              </a:rPr>
              <a:t>会話可能なエージェントと会話プログラミング</a:t>
            </a:r>
            <a:r>
              <a:rPr lang="ja-JP" altLang="en-US"/>
              <a:t>という</a:t>
            </a:r>
            <a:r>
              <a:rPr lang="en-US" altLang="ja-JP" dirty="0"/>
              <a:t>2</a:t>
            </a:r>
            <a:r>
              <a:rPr lang="ja-JP" altLang="en-US"/>
              <a:t>つの概念が重要となる。</a:t>
            </a:r>
            <a:endParaRPr lang="en-US" altLang="ja-JP" dirty="0"/>
          </a:p>
          <a:p>
            <a:pPr marL="0" indent="0">
              <a:buNone/>
            </a:pPr>
            <a:endParaRPr lang="en-US" altLang="ja-JP" dirty="0"/>
          </a:p>
          <a:p>
            <a:pPr marL="457200" indent="-457200">
              <a:buFont typeface="+mj-lt"/>
              <a:buAutoNum type="arabicPeriod"/>
            </a:pPr>
            <a:r>
              <a:rPr lang="ja-JP" altLang="en-US" b="1">
                <a:latin typeface="Hiragino Sans W6" panose="020B0400000000000000" pitchFamily="34" charset="-128"/>
                <a:ea typeface="Hiragino Sans W6" panose="020B0400000000000000" pitchFamily="34" charset="-128"/>
              </a:rPr>
              <a:t>会話可能なエージェントの開発</a:t>
            </a:r>
            <a:endParaRPr lang="en-US" altLang="ja-JP" b="1" dirty="0">
              <a:latin typeface="Hiragino Sans W6" panose="020B0400000000000000" pitchFamily="34" charset="-128"/>
              <a:ea typeface="Hiragino Sans W6" panose="020B0400000000000000" pitchFamily="34" charset="-128"/>
            </a:endParaRPr>
          </a:p>
          <a:p>
            <a:r>
              <a:rPr kumimoji="1" lang="ja-JP" altLang="en-US"/>
              <a:t>他のエージェントや人間と対話するための能力を実現する。複雑なタスクを処理するためにエージェント間の会話が円滑に行われるようにする。</a:t>
            </a:r>
            <a:endParaRPr kumimoji="1" lang="en-US" altLang="ja-JP" dirty="0"/>
          </a:p>
          <a:p>
            <a:r>
              <a:rPr kumimoji="1" lang="en-US" altLang="ja-JP" dirty="0"/>
              <a:t>LLMs</a:t>
            </a:r>
            <a:r>
              <a:rPr kumimoji="1" lang="ja-JP" altLang="en-US"/>
              <a:t>と</a:t>
            </a:r>
            <a:r>
              <a:rPr kumimoji="1" lang="en-US" altLang="ja-JP" dirty="0"/>
              <a:t>Humans</a:t>
            </a:r>
            <a:r>
              <a:rPr kumimoji="1" lang="ja-JP" altLang="en-US"/>
              <a:t>、</a:t>
            </a:r>
            <a:r>
              <a:rPr kumimoji="1" lang="en-US" altLang="ja-JP" dirty="0"/>
              <a:t>Tools</a:t>
            </a:r>
            <a:r>
              <a:rPr kumimoji="1" lang="ja-JP" altLang="en-US"/>
              <a:t>の</a:t>
            </a:r>
            <a:r>
              <a:rPr kumimoji="1" lang="en-US" altLang="ja-JP" dirty="0"/>
              <a:t>3</a:t>
            </a:r>
            <a:r>
              <a:rPr kumimoji="1" lang="ja-JP" altLang="en-US"/>
              <a:t>つが構成要素としてある。</a:t>
            </a:r>
            <a:endParaRPr kumimoji="1" lang="en-US" altLang="ja-JP" dirty="0"/>
          </a:p>
          <a:p>
            <a:pPr lvl="1"/>
            <a:r>
              <a:rPr lang="en-US" altLang="ja-JP" b="1" dirty="0">
                <a:latin typeface="Hiragino Sans W6" panose="020B0400000000000000" pitchFamily="34" charset="-128"/>
                <a:ea typeface="Hiragino Sans W6" panose="020B0400000000000000" pitchFamily="34" charset="-128"/>
              </a:rPr>
              <a:t>LLMs</a:t>
            </a:r>
            <a:r>
              <a:rPr lang="ja-JP" altLang="en-US"/>
              <a:t>：</a:t>
            </a:r>
            <a:r>
              <a:rPr lang="en-US" altLang="ja-JP" dirty="0"/>
              <a:t>LLM</a:t>
            </a:r>
            <a:r>
              <a:rPr lang="ja-JP" altLang="en-US"/>
              <a:t>を元にしたエージェントは役割の演じ分け、会話の履歴に基づき暗黙的な示唆を推察すること、など高度な能力を活用。プロンプトの技術によって実現される。</a:t>
            </a:r>
            <a:endParaRPr lang="en-US" altLang="ja-JP" dirty="0"/>
          </a:p>
          <a:p>
            <a:pPr lvl="1"/>
            <a:r>
              <a:rPr kumimoji="1" lang="en-US" altLang="ja-JP" b="1" dirty="0">
                <a:latin typeface="Hiragino Sans W6" panose="020B0400000000000000" pitchFamily="34" charset="-128"/>
                <a:ea typeface="Hiragino Sans W6" panose="020B0400000000000000" pitchFamily="34" charset="-128"/>
              </a:rPr>
              <a:t>Humans</a:t>
            </a:r>
            <a:r>
              <a:rPr kumimoji="1" lang="ja-JP" altLang="en-US"/>
              <a:t>：人間を元にしたエージェントを通じて、人間が会話に参加できるような仕組みにする。人間の入力の頻度や条件も変えることができる。</a:t>
            </a:r>
            <a:endParaRPr kumimoji="1" lang="en-US" altLang="ja-JP" dirty="0"/>
          </a:p>
          <a:p>
            <a:pPr lvl="1"/>
            <a:r>
              <a:rPr lang="en-US" altLang="ja-JP" b="1" dirty="0">
                <a:latin typeface="Hiragino Sans W6" panose="020B0400000000000000" pitchFamily="34" charset="-128"/>
                <a:ea typeface="Hiragino Sans W6" panose="020B0400000000000000" pitchFamily="34" charset="-128"/>
              </a:rPr>
              <a:t>Tools</a:t>
            </a:r>
            <a:r>
              <a:rPr lang="ja-JP" altLang="en-US"/>
              <a:t>：コードの自動生成や関数の呼び出しによるデータ処理を自動的に行う。</a:t>
            </a:r>
            <a:endParaRPr lang="en-US" altLang="ja-JP" dirty="0"/>
          </a:p>
          <a:p>
            <a:pPr marL="0" indent="0">
              <a:buNone/>
            </a:pPr>
            <a:endParaRPr kumimoji="1" lang="en-US" altLang="ja-JP" dirty="0"/>
          </a:p>
          <a:p>
            <a:pPr marL="0" indent="0">
              <a:buNone/>
            </a:pPr>
            <a:endParaRPr kumimoji="1" lang="ja-JP" altLang="en-US"/>
          </a:p>
        </p:txBody>
      </p:sp>
      <p:sp>
        <p:nvSpPr>
          <p:cNvPr id="4" name="スライド番号プレースホルダー 3">
            <a:extLst>
              <a:ext uri="{FF2B5EF4-FFF2-40B4-BE49-F238E27FC236}">
                <a16:creationId xmlns:a16="http://schemas.microsoft.com/office/drawing/2014/main" id="{7F254BBB-A832-ADF0-BC87-904B9175C604}"/>
              </a:ext>
            </a:extLst>
          </p:cNvPr>
          <p:cNvSpPr>
            <a:spLocks noGrp="1"/>
          </p:cNvSpPr>
          <p:nvPr>
            <p:ph type="sldNum" sz="quarter" idx="12"/>
          </p:nvPr>
        </p:nvSpPr>
        <p:spPr/>
        <p:txBody>
          <a:bodyPr/>
          <a:lstStyle/>
          <a:p>
            <a:fld id="{83831D9A-33C3-294C-A83B-0D46C22888D2}" type="slidenum">
              <a:rPr kumimoji="1" lang="ja-JP" altLang="en-US" smtClean="0"/>
              <a:t>6</a:t>
            </a:fld>
            <a:endParaRPr kumimoji="1" lang="ja-JP" altLang="en-US"/>
          </a:p>
        </p:txBody>
      </p:sp>
    </p:spTree>
    <p:extLst>
      <p:ext uri="{BB962C8B-B14F-4D97-AF65-F5344CB8AC3E}">
        <p14:creationId xmlns:p14="http://schemas.microsoft.com/office/powerpoint/2010/main" val="53244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B18C6-EC60-09C7-EA1D-370FFD9589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47D534-6391-96AE-2312-DF2F95B8EE31}"/>
              </a:ext>
            </a:extLst>
          </p:cNvPr>
          <p:cNvSpPr>
            <a:spLocks noGrp="1"/>
          </p:cNvSpPr>
          <p:nvPr>
            <p:ph type="title"/>
          </p:nvPr>
        </p:nvSpPr>
        <p:spPr/>
        <p:txBody>
          <a:bodyPr/>
          <a:lstStyle/>
          <a:p>
            <a:r>
              <a:rPr kumimoji="1" lang="ja-JP" altLang="en-US"/>
              <a:t>手法</a:t>
            </a:r>
          </a:p>
        </p:txBody>
      </p:sp>
      <p:sp>
        <p:nvSpPr>
          <p:cNvPr id="3" name="コンテンツ プレースホルダー 2">
            <a:extLst>
              <a:ext uri="{FF2B5EF4-FFF2-40B4-BE49-F238E27FC236}">
                <a16:creationId xmlns:a16="http://schemas.microsoft.com/office/drawing/2014/main" id="{74FE028F-673E-6DB4-82C2-14204001EF2B}"/>
              </a:ext>
            </a:extLst>
          </p:cNvPr>
          <p:cNvSpPr>
            <a:spLocks noGrp="1"/>
          </p:cNvSpPr>
          <p:nvPr>
            <p:ph idx="1"/>
          </p:nvPr>
        </p:nvSpPr>
        <p:spPr>
          <a:xfrm>
            <a:off x="838200" y="1056409"/>
            <a:ext cx="10515600" cy="2360792"/>
          </a:xfrm>
        </p:spPr>
        <p:txBody>
          <a:bodyPr>
            <a:normAutofit/>
          </a:bodyPr>
          <a:lstStyle/>
          <a:p>
            <a:pPr marL="457200" indent="-457200">
              <a:buFont typeface="+mj-lt"/>
              <a:buAutoNum type="arabicPeriod" startAt="2"/>
            </a:pPr>
            <a:r>
              <a:rPr kumimoji="1" lang="ja-JP" altLang="en-US" b="1">
                <a:latin typeface="Hiragino Sans W6" panose="020B0400000000000000" pitchFamily="34" charset="-128"/>
                <a:ea typeface="Hiragino Sans W6" panose="020B0400000000000000" pitchFamily="34" charset="-128"/>
              </a:rPr>
              <a:t>会話型プログラミング</a:t>
            </a:r>
            <a:endParaRPr kumimoji="1" lang="en-US" altLang="ja-JP" b="1" dirty="0">
              <a:latin typeface="Hiragino Sans W6" panose="020B0400000000000000" pitchFamily="34" charset="-128"/>
              <a:ea typeface="Hiragino Sans W6" panose="020B0400000000000000" pitchFamily="34" charset="-128"/>
            </a:endParaRPr>
          </a:p>
          <a:p>
            <a:pPr marL="0" indent="0">
              <a:buNone/>
            </a:pPr>
            <a:r>
              <a:rPr lang="ja-JP" altLang="en-US" sz="2000"/>
              <a:t>会話プログラミングは二つの概念によって成り立つ。</a:t>
            </a:r>
            <a:endParaRPr lang="en-US" altLang="ja-JP" sz="2000" dirty="0"/>
          </a:p>
          <a:p>
            <a:r>
              <a:rPr kumimoji="1" lang="en-US" altLang="ja-JP" sz="2000" b="1" dirty="0">
                <a:latin typeface="Hiragino Sans W6" panose="020B0400000000000000" pitchFamily="34" charset="-128"/>
                <a:ea typeface="Hiragino Sans W6" panose="020B0400000000000000" pitchFamily="34" charset="-128"/>
              </a:rPr>
              <a:t>Computation</a:t>
            </a:r>
            <a:r>
              <a:rPr kumimoji="1" lang="ja-JP" altLang="en-US" sz="2000"/>
              <a:t>：自分が関与する会話に基づき行動を取り、行動が次の会話のためのメッセージの送信内容と関連する</a:t>
            </a:r>
            <a:endParaRPr kumimoji="1" lang="en-US" altLang="ja-JP" sz="2000" dirty="0"/>
          </a:p>
          <a:p>
            <a:r>
              <a:rPr kumimoji="1" lang="en-US" altLang="ja-JP" sz="2000" b="1" dirty="0">
                <a:latin typeface="Hiragino Sans W6" panose="020B0400000000000000" pitchFamily="34" charset="-128"/>
                <a:ea typeface="Hiragino Sans W6" panose="020B0400000000000000" pitchFamily="34" charset="-128"/>
              </a:rPr>
              <a:t>Control Flow</a:t>
            </a:r>
            <a:r>
              <a:rPr kumimoji="1" lang="ja-JP" altLang="en-US" sz="2000"/>
              <a:t>：参加するエージェントの意思決定（どのエージェントにメッセージを送るのかなど）は、エージェント間の会話に依存する</a:t>
            </a:r>
            <a:endParaRPr kumimoji="1" lang="en-US" altLang="ja-JP" sz="2000" dirty="0"/>
          </a:p>
          <a:p>
            <a:pPr marL="0" indent="0">
              <a:buNone/>
            </a:pPr>
            <a:endParaRPr kumimoji="1" lang="ja-JP" altLang="en-US" sz="2000"/>
          </a:p>
        </p:txBody>
      </p:sp>
      <p:sp>
        <p:nvSpPr>
          <p:cNvPr id="4" name="スライド番号プレースホルダー 3">
            <a:extLst>
              <a:ext uri="{FF2B5EF4-FFF2-40B4-BE49-F238E27FC236}">
                <a16:creationId xmlns:a16="http://schemas.microsoft.com/office/drawing/2014/main" id="{F0BAA004-40A2-E481-4F8E-1190D0D2D1EA}"/>
              </a:ext>
            </a:extLst>
          </p:cNvPr>
          <p:cNvSpPr>
            <a:spLocks noGrp="1"/>
          </p:cNvSpPr>
          <p:nvPr>
            <p:ph type="sldNum" sz="quarter" idx="12"/>
          </p:nvPr>
        </p:nvSpPr>
        <p:spPr/>
        <p:txBody>
          <a:bodyPr/>
          <a:lstStyle/>
          <a:p>
            <a:fld id="{83831D9A-33C3-294C-A83B-0D46C22888D2}" type="slidenum">
              <a:rPr kumimoji="1" lang="ja-JP" altLang="en-US" smtClean="0"/>
              <a:t>7</a:t>
            </a:fld>
            <a:endParaRPr kumimoji="1" lang="ja-JP" altLang="en-US"/>
          </a:p>
        </p:txBody>
      </p:sp>
      <p:pic>
        <p:nvPicPr>
          <p:cNvPr id="5" name="図 4" descr="グラフィカル ユーザー インターフェイス, テキスト, アプリケーション&#10;&#10;自動的に生成された説明">
            <a:extLst>
              <a:ext uri="{FF2B5EF4-FFF2-40B4-BE49-F238E27FC236}">
                <a16:creationId xmlns:a16="http://schemas.microsoft.com/office/drawing/2014/main" id="{F823F3C0-310E-BCA5-DE0C-60299966D47C}"/>
              </a:ext>
            </a:extLst>
          </p:cNvPr>
          <p:cNvPicPr>
            <a:picLocks noChangeAspect="1"/>
          </p:cNvPicPr>
          <p:nvPr/>
        </p:nvPicPr>
        <p:blipFill>
          <a:blip r:embed="rId2"/>
          <a:srcRect t="46022" r="47748" b="8920"/>
          <a:stretch/>
        </p:blipFill>
        <p:spPr>
          <a:xfrm>
            <a:off x="1318488" y="3782889"/>
            <a:ext cx="8660397" cy="2324509"/>
          </a:xfrm>
          <a:prstGeom prst="rect">
            <a:avLst/>
          </a:prstGeom>
        </p:spPr>
      </p:pic>
      <p:sp>
        <p:nvSpPr>
          <p:cNvPr id="6" name="コンテンツ プレースホルダー 2">
            <a:extLst>
              <a:ext uri="{FF2B5EF4-FFF2-40B4-BE49-F238E27FC236}">
                <a16:creationId xmlns:a16="http://schemas.microsoft.com/office/drawing/2014/main" id="{02459804-6C82-4475-BD1B-F3A93A36AEE2}"/>
              </a:ext>
            </a:extLst>
          </p:cNvPr>
          <p:cNvSpPr txBox="1">
            <a:spLocks/>
          </p:cNvSpPr>
          <p:nvPr/>
        </p:nvSpPr>
        <p:spPr>
          <a:xfrm>
            <a:off x="2445570" y="3643534"/>
            <a:ext cx="1000966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Nested</a:t>
            </a:r>
            <a:r>
              <a:rPr lang="ja-JP" altLang="en-US" sz="1600" b="1">
                <a:solidFill>
                  <a:srgbClr val="FF0000"/>
                </a:solidFill>
                <a:latin typeface="Hiragino Sans W6" panose="020B0400000000000000" pitchFamily="34" charset="-128"/>
                <a:ea typeface="Hiragino Sans W6" panose="020B0400000000000000" pitchFamily="34" charset="-128"/>
              </a:rPr>
              <a:t>：基本的には</a:t>
            </a:r>
            <a:r>
              <a:rPr lang="en-US" altLang="ja-JP" sz="1600" b="1" dirty="0">
                <a:solidFill>
                  <a:srgbClr val="FF0000"/>
                </a:solidFill>
                <a:latin typeface="Hiragino Sans W6" panose="020B0400000000000000" pitchFamily="34" charset="-128"/>
                <a:ea typeface="Hiragino Sans W6" panose="020B0400000000000000" pitchFamily="34" charset="-128"/>
              </a:rPr>
              <a:t>2</a:t>
            </a:r>
            <a:r>
              <a:rPr lang="ja-JP" altLang="en-US" sz="1600" b="1">
                <a:solidFill>
                  <a:srgbClr val="FF0000"/>
                </a:solidFill>
                <a:latin typeface="Hiragino Sans W6" panose="020B0400000000000000" pitchFamily="34" charset="-128"/>
                <a:ea typeface="Hiragino Sans W6" panose="020B0400000000000000" pitchFamily="34" charset="-128"/>
              </a:rPr>
              <a:t>つのエージェント間の会話だが、何かの処理をして返答したい時に有効</a:t>
            </a:r>
            <a:endParaRPr lang="en-US" altLang="ja-JP" sz="1600" b="1" dirty="0">
              <a:solidFill>
                <a:srgbClr val="FF0000"/>
              </a:solidFill>
              <a:latin typeface="Hiragino Sans W6" panose="020B0400000000000000" pitchFamily="34" charset="-128"/>
              <a:ea typeface="Hiragino Sans W6" panose="020B0400000000000000" pitchFamily="34" charset="-128"/>
            </a:endParaRPr>
          </a:p>
          <a:p>
            <a:pPr marL="0" indent="0">
              <a:buFont typeface="Arial" panose="020B0604020202020204" pitchFamily="34" charset="0"/>
              <a:buNone/>
            </a:pP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7" name="テキスト ボックス 6">
            <a:extLst>
              <a:ext uri="{FF2B5EF4-FFF2-40B4-BE49-F238E27FC236}">
                <a16:creationId xmlns:a16="http://schemas.microsoft.com/office/drawing/2014/main" id="{59F5409A-134F-A911-EF29-B52ED1D17E50}"/>
              </a:ext>
            </a:extLst>
          </p:cNvPr>
          <p:cNvSpPr txBox="1"/>
          <p:nvPr/>
        </p:nvSpPr>
        <p:spPr>
          <a:xfrm>
            <a:off x="3113964" y="6161750"/>
            <a:ext cx="5606955" cy="369332"/>
          </a:xfrm>
          <a:prstGeom prst="rect">
            <a:avLst/>
          </a:prstGeom>
          <a:noFill/>
        </p:spPr>
        <p:txBody>
          <a:bodyPr wrap="square" rtlCol="0">
            <a:spAutoFit/>
          </a:bodyPr>
          <a:lstStyle/>
          <a:p>
            <a:pPr algn="ctr"/>
            <a:r>
              <a:rPr kumimoji="1" lang="ja-JP" altLang="en-US" b="1">
                <a:latin typeface="Hiragino Sans W6" panose="020B0400000000000000" pitchFamily="34" charset="-128"/>
                <a:ea typeface="Hiragino Sans W6" panose="020B0400000000000000" pitchFamily="34" charset="-128"/>
              </a:rPr>
              <a:t>図：</a:t>
            </a:r>
            <a:r>
              <a:rPr lang="ja-JP" altLang="en-US" b="1">
                <a:latin typeface="Hiragino Sans W6" panose="020B0400000000000000" pitchFamily="34" charset="-128"/>
                <a:ea typeface="Hiragino Sans W6" panose="020B0400000000000000" pitchFamily="34" charset="-128"/>
              </a:rPr>
              <a:t>会話のパターン</a:t>
            </a:r>
            <a:endParaRPr kumimoji="1" lang="ja-JP" altLang="en-US" b="1">
              <a:latin typeface="Hiragino Sans W6" panose="020B0400000000000000" pitchFamily="34" charset="-128"/>
              <a:ea typeface="Hiragino Sans W6" panose="020B0400000000000000" pitchFamily="34" charset="-128"/>
            </a:endParaRPr>
          </a:p>
        </p:txBody>
      </p:sp>
      <p:sp>
        <p:nvSpPr>
          <p:cNvPr id="8" name="正方形/長方形 7">
            <a:extLst>
              <a:ext uri="{FF2B5EF4-FFF2-40B4-BE49-F238E27FC236}">
                <a16:creationId xmlns:a16="http://schemas.microsoft.com/office/drawing/2014/main" id="{42AA37BF-CB7D-1E5B-1BBA-BBC096F1035E}"/>
              </a:ext>
            </a:extLst>
          </p:cNvPr>
          <p:cNvSpPr/>
          <p:nvPr/>
        </p:nvSpPr>
        <p:spPr>
          <a:xfrm>
            <a:off x="4042484" y="4120448"/>
            <a:ext cx="728299" cy="15249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コンテンツ プレースホルダー 2">
            <a:extLst>
              <a:ext uri="{FF2B5EF4-FFF2-40B4-BE49-F238E27FC236}">
                <a16:creationId xmlns:a16="http://schemas.microsoft.com/office/drawing/2014/main" id="{2DF729E2-3647-FB97-2E37-008D3C4278D2}"/>
              </a:ext>
            </a:extLst>
          </p:cNvPr>
          <p:cNvSpPr txBox="1">
            <a:spLocks/>
          </p:cNvSpPr>
          <p:nvPr/>
        </p:nvSpPr>
        <p:spPr>
          <a:xfrm>
            <a:off x="528970" y="6140103"/>
            <a:ext cx="3316199" cy="7164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Sequential</a:t>
            </a:r>
            <a:r>
              <a:rPr lang="ja-JP" altLang="en-US" sz="1600" b="1">
                <a:solidFill>
                  <a:srgbClr val="FF0000"/>
                </a:solidFill>
                <a:latin typeface="Hiragino Sans W6" panose="020B0400000000000000" pitchFamily="34" charset="-128"/>
                <a:ea typeface="Hiragino Sans W6" panose="020B0400000000000000" pitchFamily="34" charset="-128"/>
              </a:rPr>
              <a:t>：</a:t>
            </a:r>
            <a:r>
              <a:rPr lang="en-US" altLang="ja-JP" sz="1600" b="1" dirty="0">
                <a:solidFill>
                  <a:srgbClr val="FF0000"/>
                </a:solidFill>
                <a:latin typeface="Hiragino Sans W6" panose="020B0400000000000000" pitchFamily="34" charset="-128"/>
                <a:ea typeface="Hiragino Sans W6" panose="020B0400000000000000" pitchFamily="34" charset="-128"/>
              </a:rPr>
              <a:t>2</a:t>
            </a:r>
            <a:r>
              <a:rPr lang="ja-JP" altLang="en-US" sz="1600" b="1">
                <a:solidFill>
                  <a:srgbClr val="FF0000"/>
                </a:solidFill>
                <a:latin typeface="Hiragino Sans W6" panose="020B0400000000000000" pitchFamily="34" charset="-128"/>
                <a:ea typeface="Hiragino Sans W6" panose="020B0400000000000000" pitchFamily="34" charset="-128"/>
              </a:rPr>
              <a:t>つのエージェント間の会話が相互依存的に関わる時に有効</a:t>
            </a:r>
            <a:endParaRPr lang="en-US" altLang="ja-JP" sz="1600" b="1" dirty="0">
              <a:solidFill>
                <a:srgbClr val="FF0000"/>
              </a:solidFill>
              <a:latin typeface="Hiragino Sans W6" panose="020B0400000000000000" pitchFamily="34" charset="-128"/>
              <a:ea typeface="Hiragino Sans W6" panose="020B0400000000000000" pitchFamily="34" charset="-128"/>
            </a:endParaRPr>
          </a:p>
          <a:p>
            <a:pPr marL="0" indent="0">
              <a:buFont typeface="Arial" panose="020B0604020202020204" pitchFamily="34" charset="0"/>
              <a:buNone/>
            </a:pP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1" name="正方形/長方形 10">
            <a:extLst>
              <a:ext uri="{FF2B5EF4-FFF2-40B4-BE49-F238E27FC236}">
                <a16:creationId xmlns:a16="http://schemas.microsoft.com/office/drawing/2014/main" id="{79D06DAC-744D-9406-362A-730D9E3C210E}"/>
              </a:ext>
            </a:extLst>
          </p:cNvPr>
          <p:cNvSpPr/>
          <p:nvPr/>
        </p:nvSpPr>
        <p:spPr>
          <a:xfrm>
            <a:off x="1745673" y="4008659"/>
            <a:ext cx="1939636" cy="163676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コンテンツ プレースホルダー 2">
            <a:extLst>
              <a:ext uri="{FF2B5EF4-FFF2-40B4-BE49-F238E27FC236}">
                <a16:creationId xmlns:a16="http://schemas.microsoft.com/office/drawing/2014/main" id="{AA59A4D0-A350-9307-E962-8BC019F2F884}"/>
              </a:ext>
            </a:extLst>
          </p:cNvPr>
          <p:cNvSpPr txBox="1">
            <a:spLocks/>
          </p:cNvSpPr>
          <p:nvPr/>
        </p:nvSpPr>
        <p:spPr>
          <a:xfrm>
            <a:off x="7670095" y="6107398"/>
            <a:ext cx="4507963" cy="9205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Group</a:t>
            </a:r>
            <a:r>
              <a:rPr lang="ja-JP" altLang="en-US" sz="1600" b="1">
                <a:solidFill>
                  <a:srgbClr val="FF0000"/>
                </a:solidFill>
                <a:latin typeface="Hiragino Sans W6" panose="020B0400000000000000" pitchFamily="34" charset="-128"/>
                <a:ea typeface="Hiragino Sans W6" panose="020B0400000000000000" pitchFamily="34" charset="-128"/>
              </a:rPr>
              <a:t>：参加している全てのエージェントが会話の内容や文脈を共有させたい時に有効</a:t>
            </a:r>
          </a:p>
          <a:p>
            <a:pPr marL="0" indent="0">
              <a:buFont typeface="Arial" panose="020B0604020202020204" pitchFamily="34" charset="0"/>
              <a:buNone/>
            </a:pP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4" name="正方形/長方形 13">
            <a:extLst>
              <a:ext uri="{FF2B5EF4-FFF2-40B4-BE49-F238E27FC236}">
                <a16:creationId xmlns:a16="http://schemas.microsoft.com/office/drawing/2014/main" id="{5625157D-D768-D6C0-5C1D-B9B6A967DE65}"/>
              </a:ext>
            </a:extLst>
          </p:cNvPr>
          <p:cNvSpPr/>
          <p:nvPr/>
        </p:nvSpPr>
        <p:spPr>
          <a:xfrm>
            <a:off x="5917442" y="4068262"/>
            <a:ext cx="1370049" cy="15771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28018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D3E5D-03D5-6CB3-6240-C208095F83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BEF9CB-00F5-C68B-4925-EBEE2F3B8D3D}"/>
              </a:ext>
            </a:extLst>
          </p:cNvPr>
          <p:cNvSpPr>
            <a:spLocks noGrp="1"/>
          </p:cNvSpPr>
          <p:nvPr>
            <p:ph type="title"/>
          </p:nvPr>
        </p:nvSpPr>
        <p:spPr/>
        <p:txBody>
          <a:bodyPr/>
          <a:lstStyle/>
          <a:p>
            <a:r>
              <a:rPr kumimoji="1" lang="ja-JP" altLang="en-US"/>
              <a:t>手法</a:t>
            </a:r>
          </a:p>
        </p:txBody>
      </p:sp>
      <p:sp>
        <p:nvSpPr>
          <p:cNvPr id="4" name="スライド番号プレースホルダー 3">
            <a:extLst>
              <a:ext uri="{FF2B5EF4-FFF2-40B4-BE49-F238E27FC236}">
                <a16:creationId xmlns:a16="http://schemas.microsoft.com/office/drawing/2014/main" id="{02EED5D6-B20C-EBDC-3EAF-E695F8FD526E}"/>
              </a:ext>
            </a:extLst>
          </p:cNvPr>
          <p:cNvSpPr>
            <a:spLocks noGrp="1"/>
          </p:cNvSpPr>
          <p:nvPr>
            <p:ph type="sldNum" sz="quarter" idx="12"/>
          </p:nvPr>
        </p:nvSpPr>
        <p:spPr/>
        <p:txBody>
          <a:bodyPr/>
          <a:lstStyle/>
          <a:p>
            <a:fld id="{83831D9A-33C3-294C-A83B-0D46C22888D2}" type="slidenum">
              <a:rPr kumimoji="1" lang="ja-JP" altLang="en-US" smtClean="0"/>
              <a:t>8</a:t>
            </a:fld>
            <a:endParaRPr kumimoji="1" lang="ja-JP" altLang="en-US"/>
          </a:p>
        </p:txBody>
      </p:sp>
      <p:pic>
        <p:nvPicPr>
          <p:cNvPr id="10" name="図 9" descr="ダイアグラム&#10;&#10;中程度の精度で自動的に生成された説明">
            <a:extLst>
              <a:ext uri="{FF2B5EF4-FFF2-40B4-BE49-F238E27FC236}">
                <a16:creationId xmlns:a16="http://schemas.microsoft.com/office/drawing/2014/main" id="{78D9B849-803C-6CE3-8C58-8FD52CC2A646}"/>
              </a:ext>
            </a:extLst>
          </p:cNvPr>
          <p:cNvPicPr>
            <a:picLocks noChangeAspect="1"/>
          </p:cNvPicPr>
          <p:nvPr/>
        </p:nvPicPr>
        <p:blipFill>
          <a:blip r:embed="rId2"/>
          <a:stretch>
            <a:fillRect/>
          </a:stretch>
        </p:blipFill>
        <p:spPr>
          <a:xfrm>
            <a:off x="4589539" y="166025"/>
            <a:ext cx="7602461" cy="6427708"/>
          </a:xfrm>
          <a:prstGeom prst="rect">
            <a:avLst/>
          </a:prstGeom>
        </p:spPr>
      </p:pic>
      <p:pic>
        <p:nvPicPr>
          <p:cNvPr id="12" name="図 11" descr="グラフィカル ユーザー インターフェイス, アプリケーション&#10;&#10;自動的に生成された説明">
            <a:extLst>
              <a:ext uri="{FF2B5EF4-FFF2-40B4-BE49-F238E27FC236}">
                <a16:creationId xmlns:a16="http://schemas.microsoft.com/office/drawing/2014/main" id="{D8AED178-AD72-44F5-7E7E-27B517023942}"/>
              </a:ext>
            </a:extLst>
          </p:cNvPr>
          <p:cNvPicPr>
            <a:picLocks noChangeAspect="1"/>
          </p:cNvPicPr>
          <p:nvPr/>
        </p:nvPicPr>
        <p:blipFill>
          <a:blip r:embed="rId3"/>
          <a:stretch>
            <a:fillRect/>
          </a:stretch>
        </p:blipFill>
        <p:spPr>
          <a:xfrm>
            <a:off x="238816" y="5515817"/>
            <a:ext cx="1384300" cy="977900"/>
          </a:xfrm>
          <a:prstGeom prst="rect">
            <a:avLst/>
          </a:prstGeom>
        </p:spPr>
      </p:pic>
      <p:pic>
        <p:nvPicPr>
          <p:cNvPr id="14" name="図 13" descr="グラフィカル ユーザー インターフェイス, アプリケーション&#10;&#10;自動的に生成された説明">
            <a:extLst>
              <a:ext uri="{FF2B5EF4-FFF2-40B4-BE49-F238E27FC236}">
                <a16:creationId xmlns:a16="http://schemas.microsoft.com/office/drawing/2014/main" id="{80C66FFE-8073-F847-6F3F-1AFCD19D407B}"/>
              </a:ext>
            </a:extLst>
          </p:cNvPr>
          <p:cNvPicPr>
            <a:picLocks noChangeAspect="1"/>
          </p:cNvPicPr>
          <p:nvPr/>
        </p:nvPicPr>
        <p:blipFill>
          <a:blip r:embed="rId4"/>
          <a:stretch>
            <a:fillRect/>
          </a:stretch>
        </p:blipFill>
        <p:spPr>
          <a:xfrm>
            <a:off x="238816" y="1406311"/>
            <a:ext cx="1384300" cy="977900"/>
          </a:xfrm>
          <a:prstGeom prst="rect">
            <a:avLst/>
          </a:prstGeom>
        </p:spPr>
      </p:pic>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1326A5F4-A2AA-E584-7357-05BF3D1080DB}"/>
              </a:ext>
            </a:extLst>
          </p:cNvPr>
          <p:cNvPicPr>
            <a:picLocks noChangeAspect="1"/>
          </p:cNvPicPr>
          <p:nvPr/>
        </p:nvPicPr>
        <p:blipFill>
          <a:blip r:embed="rId5"/>
          <a:stretch>
            <a:fillRect/>
          </a:stretch>
        </p:blipFill>
        <p:spPr>
          <a:xfrm>
            <a:off x="238816" y="3328984"/>
            <a:ext cx="1384300" cy="1010539"/>
          </a:xfrm>
          <a:prstGeom prst="rect">
            <a:avLst/>
          </a:prstGeom>
        </p:spPr>
      </p:pic>
      <p:sp>
        <p:nvSpPr>
          <p:cNvPr id="17" name="コンテンツ プレースホルダー 2">
            <a:extLst>
              <a:ext uri="{FF2B5EF4-FFF2-40B4-BE49-F238E27FC236}">
                <a16:creationId xmlns:a16="http://schemas.microsoft.com/office/drawing/2014/main" id="{F1E68B6E-9DDE-1280-79DA-CF71D37A0B45}"/>
              </a:ext>
            </a:extLst>
          </p:cNvPr>
          <p:cNvSpPr>
            <a:spLocks noGrp="1"/>
          </p:cNvSpPr>
          <p:nvPr>
            <p:ph idx="1"/>
          </p:nvPr>
        </p:nvSpPr>
        <p:spPr>
          <a:xfrm>
            <a:off x="1702578" y="5132019"/>
            <a:ext cx="3263900" cy="1589599"/>
          </a:xfrm>
        </p:spPr>
        <p:txBody>
          <a:bodyPr>
            <a:normAutofit lnSpcReduction="10000"/>
          </a:bodyPr>
          <a:lstStyle/>
          <a:p>
            <a:pPr marL="0" indent="0">
              <a:buNone/>
            </a:pPr>
            <a:r>
              <a:rPr kumimoji="1" lang="en-US" altLang="ja-JP" sz="1400" b="1" u="sng" dirty="0">
                <a:latin typeface="Hiragino Sans W6" panose="020B0400000000000000" pitchFamily="34" charset="-128"/>
                <a:ea typeface="Hiragino Sans W6" panose="020B0400000000000000" pitchFamily="34" charset="-128"/>
              </a:rPr>
              <a:t>User Proxy Agent</a:t>
            </a:r>
            <a:r>
              <a:rPr kumimoji="1" lang="ja-JP" altLang="en-US" sz="1400" b="1" u="sng">
                <a:latin typeface="Hiragino Sans W6" panose="020B0400000000000000" pitchFamily="34" charset="-128"/>
                <a:ea typeface="Hiragino Sans W6" panose="020B0400000000000000" pitchFamily="34" charset="-128"/>
              </a:rPr>
              <a:t>（実装）</a:t>
            </a:r>
            <a:endParaRPr kumimoji="1" lang="en-US" altLang="ja-JP" sz="1400" b="1" u="sng" dirty="0">
              <a:latin typeface="Hiragino Sans W6" panose="020B0400000000000000" pitchFamily="34" charset="-128"/>
              <a:ea typeface="Hiragino Sans W6" panose="020B0400000000000000" pitchFamily="34" charset="-128"/>
            </a:endParaRPr>
          </a:p>
          <a:p>
            <a:r>
              <a:rPr kumimoji="1" lang="ja-JP" altLang="en-US" sz="1400">
                <a:latin typeface="Hiragino Sans W4" panose="020B0400000000000000" pitchFamily="34" charset="-128"/>
                <a:ea typeface="Hiragino Sans W4" panose="020B0400000000000000" pitchFamily="34" charset="-128"/>
              </a:rPr>
              <a:t>人間のユーザーからの入力を取得し、他のエージェントへ伝達</a:t>
            </a:r>
            <a:endParaRPr kumimoji="1" lang="en-US" altLang="ja-JP" sz="1400" dirty="0">
              <a:latin typeface="Hiragino Sans W4" panose="020B0400000000000000" pitchFamily="34" charset="-128"/>
              <a:ea typeface="Hiragino Sans W4" panose="020B0400000000000000" pitchFamily="34" charset="-128"/>
            </a:endParaRPr>
          </a:p>
          <a:p>
            <a:r>
              <a:rPr lang="en-US" altLang="ja-JP" sz="1400" dirty="0">
                <a:latin typeface="Hiragino Sans W4" panose="020B0400000000000000" pitchFamily="34" charset="-128"/>
                <a:ea typeface="Hiragino Sans W4" panose="020B0400000000000000" pitchFamily="34" charset="-128"/>
              </a:rPr>
              <a:t>Assistant Agent</a:t>
            </a:r>
            <a:r>
              <a:rPr lang="ja-JP" altLang="en-US" sz="1400">
                <a:latin typeface="Hiragino Sans W4" panose="020B0400000000000000" pitchFamily="34" charset="-128"/>
                <a:ea typeface="Hiragino Sans W4" panose="020B0400000000000000" pitchFamily="34" charset="-128"/>
              </a:rPr>
              <a:t>が生成したコードを実行し他のエージェントへ伝達</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コードの実行環境の管理</a:t>
            </a:r>
            <a:endParaRPr lang="en-US" altLang="ja-JP" sz="1400" dirty="0">
              <a:latin typeface="Hiragino Sans W4" panose="020B0400000000000000" pitchFamily="34" charset="-128"/>
              <a:ea typeface="Hiragino Sans W4" panose="020B0400000000000000" pitchFamily="34" charset="-128"/>
            </a:endParaRPr>
          </a:p>
          <a:p>
            <a:endParaRPr kumimoji="1" lang="en-US" altLang="ja-JP" sz="1400" b="1" dirty="0">
              <a:latin typeface="Hiragino Sans W6" panose="020B0400000000000000" pitchFamily="34" charset="-128"/>
              <a:ea typeface="Hiragino Sans W6" panose="020B0400000000000000" pitchFamily="34" charset="-128"/>
            </a:endParaRPr>
          </a:p>
        </p:txBody>
      </p:sp>
      <p:sp>
        <p:nvSpPr>
          <p:cNvPr id="18" name="コンテンツ プレースホルダー 2">
            <a:extLst>
              <a:ext uri="{FF2B5EF4-FFF2-40B4-BE49-F238E27FC236}">
                <a16:creationId xmlns:a16="http://schemas.microsoft.com/office/drawing/2014/main" id="{4E1B5649-34E0-0A93-BFEB-552FE3245D68}"/>
              </a:ext>
            </a:extLst>
          </p:cNvPr>
          <p:cNvSpPr txBox="1">
            <a:spLocks/>
          </p:cNvSpPr>
          <p:nvPr/>
        </p:nvSpPr>
        <p:spPr>
          <a:xfrm>
            <a:off x="1702578" y="3328984"/>
            <a:ext cx="3263900" cy="15895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b="1" u="sng" dirty="0">
                <a:latin typeface="Hiragino Sans W6" panose="020B0400000000000000" pitchFamily="34" charset="-128"/>
                <a:ea typeface="Hiragino Sans W6" panose="020B0400000000000000" pitchFamily="34" charset="-128"/>
              </a:rPr>
              <a:t>Assistant Agent</a:t>
            </a:r>
            <a:r>
              <a:rPr lang="ja-JP" altLang="en-US" sz="1400" b="1" u="sng">
                <a:latin typeface="Hiragino Sans W6" panose="020B0400000000000000" pitchFamily="34" charset="-128"/>
                <a:ea typeface="Hiragino Sans W6" panose="020B0400000000000000" pitchFamily="34" charset="-128"/>
              </a:rPr>
              <a:t>（実装）</a:t>
            </a:r>
            <a:endParaRPr lang="en-US" altLang="ja-JP" sz="1400" b="1" u="sng" dirty="0">
              <a:latin typeface="Hiragino Sans W6" panose="020B0400000000000000" pitchFamily="34" charset="-128"/>
              <a:ea typeface="Hiragino Sans W6" panose="020B0400000000000000" pitchFamily="34" charset="-128"/>
            </a:endParaRPr>
          </a:p>
          <a:p>
            <a:r>
              <a:rPr lang="en-US" altLang="ja-JP" sz="1400" dirty="0">
                <a:latin typeface="Hiragino Sans W4" panose="020B0400000000000000" pitchFamily="34" charset="-128"/>
                <a:ea typeface="Hiragino Sans W4" panose="020B0400000000000000" pitchFamily="34" charset="-128"/>
              </a:rPr>
              <a:t>LLM</a:t>
            </a:r>
            <a:r>
              <a:rPr lang="ja-JP" altLang="en-US" sz="1400">
                <a:latin typeface="Hiragino Sans W4" panose="020B0400000000000000" pitchFamily="34" charset="-128"/>
                <a:ea typeface="Hiragino Sans W4" panose="020B0400000000000000" pitchFamily="34" charset="-128"/>
              </a:rPr>
              <a:t>を元に構成される</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ユーザーの指示やタスクを理解し、解決策の提案やコードの生成を行う</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自然言語によってエージェントの役割や目標を設定できる</a:t>
            </a:r>
            <a:endParaRPr lang="en-US" altLang="ja-JP" sz="1400" dirty="0">
              <a:latin typeface="Hiragino Sans W4" panose="020B0400000000000000" pitchFamily="34" charset="-128"/>
              <a:ea typeface="Hiragino Sans W4" panose="020B0400000000000000" pitchFamily="34" charset="-128"/>
            </a:endParaRPr>
          </a:p>
        </p:txBody>
      </p:sp>
      <p:sp>
        <p:nvSpPr>
          <p:cNvPr id="19" name="コンテンツ プレースホルダー 2">
            <a:extLst>
              <a:ext uri="{FF2B5EF4-FFF2-40B4-BE49-F238E27FC236}">
                <a16:creationId xmlns:a16="http://schemas.microsoft.com/office/drawing/2014/main" id="{46DF6794-2E40-44AB-2F17-CC5BCCF9D926}"/>
              </a:ext>
            </a:extLst>
          </p:cNvPr>
          <p:cNvSpPr txBox="1">
            <a:spLocks/>
          </p:cNvSpPr>
          <p:nvPr/>
        </p:nvSpPr>
        <p:spPr>
          <a:xfrm>
            <a:off x="1804178" y="1406311"/>
            <a:ext cx="3263900" cy="16627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b="1" u="sng" dirty="0">
                <a:latin typeface="Hiragino Sans W6" panose="020B0400000000000000" pitchFamily="34" charset="-128"/>
                <a:ea typeface="Hiragino Sans W6" panose="020B0400000000000000" pitchFamily="34" charset="-128"/>
              </a:rPr>
              <a:t>Conversable Agent</a:t>
            </a:r>
            <a:r>
              <a:rPr lang="ja-JP" altLang="en-US" sz="1400" b="1" u="sng">
                <a:latin typeface="Hiragino Sans W6" panose="020B0400000000000000" pitchFamily="34" charset="-128"/>
                <a:ea typeface="Hiragino Sans W6" panose="020B0400000000000000" pitchFamily="34" charset="-128"/>
              </a:rPr>
              <a:t>（概念）</a:t>
            </a:r>
            <a:endParaRPr lang="en-US" altLang="ja-JP" sz="1400" b="1" u="sng" dirty="0">
              <a:latin typeface="Hiragino Sans W6" panose="020B0400000000000000" pitchFamily="34" charset="-128"/>
              <a:ea typeface="Hiragino Sans W6" panose="020B0400000000000000" pitchFamily="34" charset="-128"/>
            </a:endParaRPr>
          </a:p>
          <a:p>
            <a:r>
              <a:rPr lang="en-US" altLang="ja-JP" sz="1400" dirty="0">
                <a:latin typeface="Hiragino Sans W4" panose="020B0400000000000000" pitchFamily="34" charset="-128"/>
                <a:ea typeface="Hiragino Sans W4" panose="020B0400000000000000" pitchFamily="34" charset="-128"/>
              </a:rPr>
              <a:t>LLM</a:t>
            </a:r>
            <a:r>
              <a:rPr lang="ja-JP" altLang="en-US" sz="1400">
                <a:latin typeface="Hiragino Sans W4" panose="020B0400000000000000" pitchFamily="34" charset="-128"/>
                <a:ea typeface="Hiragino Sans W4" panose="020B0400000000000000" pitchFamily="34" charset="-128"/>
              </a:rPr>
              <a:t>を元に構成される</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ユーザーの指示やタスクを理解し、解決策の提案やコードの生成を行う</a:t>
            </a:r>
            <a:endParaRPr lang="en-US" altLang="ja-JP" sz="1400" dirty="0">
              <a:latin typeface="Hiragino Sans W4" panose="020B0400000000000000" pitchFamily="34" charset="-128"/>
              <a:ea typeface="Hiragino Sans W4" panose="020B0400000000000000" pitchFamily="34" charset="-128"/>
            </a:endParaRPr>
          </a:p>
          <a:p>
            <a:r>
              <a:rPr lang="ja-JP" altLang="en-US" sz="1400">
                <a:latin typeface="Hiragino Sans W4" panose="020B0400000000000000" pitchFamily="34" charset="-128"/>
                <a:ea typeface="Hiragino Sans W4" panose="020B0400000000000000" pitchFamily="34" charset="-128"/>
              </a:rPr>
              <a:t>自然言語によってエージェントの役割や目標を設定できる</a:t>
            </a:r>
            <a:endParaRPr lang="en-US" altLang="ja-JP" sz="1400" dirty="0">
              <a:latin typeface="Hiragino Sans W4" panose="020B0400000000000000" pitchFamily="34" charset="-128"/>
              <a:ea typeface="Hiragino Sans W4" panose="020B0400000000000000" pitchFamily="34" charset="-128"/>
            </a:endParaRPr>
          </a:p>
        </p:txBody>
      </p:sp>
      <p:sp>
        <p:nvSpPr>
          <p:cNvPr id="20" name="コンテンツ プレースホルダー 2">
            <a:extLst>
              <a:ext uri="{FF2B5EF4-FFF2-40B4-BE49-F238E27FC236}">
                <a16:creationId xmlns:a16="http://schemas.microsoft.com/office/drawing/2014/main" id="{D989177A-BD11-D74A-D747-151616E4EEE4}"/>
              </a:ext>
            </a:extLst>
          </p:cNvPr>
          <p:cNvSpPr txBox="1">
            <a:spLocks/>
          </p:cNvSpPr>
          <p:nvPr/>
        </p:nvSpPr>
        <p:spPr>
          <a:xfrm>
            <a:off x="2524816" y="903021"/>
            <a:ext cx="2986984"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2000" b="1" dirty="0">
                <a:latin typeface="Hiragino Sans W6" panose="020B0400000000000000" pitchFamily="34" charset="-128"/>
                <a:ea typeface="Hiragino Sans W6" panose="020B0400000000000000" pitchFamily="34" charset="-128"/>
              </a:rPr>
              <a:t>AutoGen</a:t>
            </a:r>
            <a:r>
              <a:rPr lang="ja-JP" altLang="en-US" sz="2000" b="1">
                <a:latin typeface="Hiragino Sans W6" panose="020B0400000000000000" pitchFamily="34" charset="-128"/>
                <a:ea typeface="Hiragino Sans W6" panose="020B0400000000000000" pitchFamily="34" charset="-128"/>
              </a:rPr>
              <a:t>の実装手順</a:t>
            </a:r>
            <a:r>
              <a:rPr lang="en-US" altLang="ja-JP" sz="2000" b="1" dirty="0">
                <a:latin typeface="Hiragino Sans W6" panose="020B0400000000000000" pitchFamily="34" charset="-128"/>
                <a:ea typeface="Hiragino Sans W6" panose="020B0400000000000000" pitchFamily="34" charset="-128"/>
              </a:rPr>
              <a:t>→</a:t>
            </a:r>
            <a:endParaRPr lang="ja-JP" altLang="en-US" sz="2000" b="1">
              <a:latin typeface="Hiragino Sans W6" panose="020B0400000000000000" pitchFamily="34" charset="-128"/>
              <a:ea typeface="Hiragino Sans W6" panose="020B0400000000000000" pitchFamily="34" charset="-128"/>
            </a:endParaRPr>
          </a:p>
        </p:txBody>
      </p:sp>
      <p:sp>
        <p:nvSpPr>
          <p:cNvPr id="21" name="正方形/長方形 20">
            <a:extLst>
              <a:ext uri="{FF2B5EF4-FFF2-40B4-BE49-F238E27FC236}">
                <a16:creationId xmlns:a16="http://schemas.microsoft.com/office/drawing/2014/main" id="{B3D0C2DA-24B3-09E2-6EC4-2FA18A8016FF}"/>
              </a:ext>
            </a:extLst>
          </p:cNvPr>
          <p:cNvSpPr/>
          <p:nvPr/>
        </p:nvSpPr>
        <p:spPr>
          <a:xfrm>
            <a:off x="5762752" y="297001"/>
            <a:ext cx="6333714" cy="20102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7A958243-9C5C-11CC-8095-DC63B6811DA6}"/>
              </a:ext>
            </a:extLst>
          </p:cNvPr>
          <p:cNvSpPr txBox="1">
            <a:spLocks/>
          </p:cNvSpPr>
          <p:nvPr/>
        </p:nvSpPr>
        <p:spPr>
          <a:xfrm>
            <a:off x="9036791" y="2015950"/>
            <a:ext cx="3155209"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各エージェントの役割と関係性</a:t>
            </a:r>
          </a:p>
        </p:txBody>
      </p:sp>
      <p:sp>
        <p:nvSpPr>
          <p:cNvPr id="23" name="正方形/長方形 22">
            <a:extLst>
              <a:ext uri="{FF2B5EF4-FFF2-40B4-BE49-F238E27FC236}">
                <a16:creationId xmlns:a16="http://schemas.microsoft.com/office/drawing/2014/main" id="{D7C2BF83-A47B-D868-72A7-E16977326FDD}"/>
              </a:ext>
            </a:extLst>
          </p:cNvPr>
          <p:cNvSpPr/>
          <p:nvPr/>
        </p:nvSpPr>
        <p:spPr>
          <a:xfrm>
            <a:off x="5762752" y="2359046"/>
            <a:ext cx="6333714" cy="17932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コンテンツ プレースホルダー 2">
            <a:extLst>
              <a:ext uri="{FF2B5EF4-FFF2-40B4-BE49-F238E27FC236}">
                <a16:creationId xmlns:a16="http://schemas.microsoft.com/office/drawing/2014/main" id="{798DA750-AFBD-CE66-783A-917E6F03EE44}"/>
              </a:ext>
            </a:extLst>
          </p:cNvPr>
          <p:cNvSpPr txBox="1">
            <a:spLocks/>
          </p:cNvSpPr>
          <p:nvPr/>
        </p:nvSpPr>
        <p:spPr>
          <a:xfrm>
            <a:off x="9646032" y="3838395"/>
            <a:ext cx="25937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各エージェントの実装例</a:t>
            </a:r>
          </a:p>
        </p:txBody>
      </p:sp>
      <p:sp>
        <p:nvSpPr>
          <p:cNvPr id="25" name="正方形/長方形 24">
            <a:extLst>
              <a:ext uri="{FF2B5EF4-FFF2-40B4-BE49-F238E27FC236}">
                <a16:creationId xmlns:a16="http://schemas.microsoft.com/office/drawing/2014/main" id="{D43A28D2-6C2E-9D48-3524-D25A927B2171}"/>
              </a:ext>
            </a:extLst>
          </p:cNvPr>
          <p:cNvSpPr/>
          <p:nvPr/>
        </p:nvSpPr>
        <p:spPr>
          <a:xfrm>
            <a:off x="5762752" y="4233552"/>
            <a:ext cx="6333714" cy="22159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コンテンツ プレースホルダー 2">
            <a:extLst>
              <a:ext uri="{FF2B5EF4-FFF2-40B4-BE49-F238E27FC236}">
                <a16:creationId xmlns:a16="http://schemas.microsoft.com/office/drawing/2014/main" id="{EDA30E82-A985-03AB-9D66-1C085C51B5AF}"/>
              </a:ext>
            </a:extLst>
          </p:cNvPr>
          <p:cNvSpPr txBox="1">
            <a:spLocks/>
          </p:cNvSpPr>
          <p:nvPr/>
        </p:nvSpPr>
        <p:spPr>
          <a:xfrm>
            <a:off x="10904811" y="6185701"/>
            <a:ext cx="1287189"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会話の流れ</a:t>
            </a:r>
          </a:p>
        </p:txBody>
      </p:sp>
    </p:spTree>
    <p:extLst>
      <p:ext uri="{BB962C8B-B14F-4D97-AF65-F5344CB8AC3E}">
        <p14:creationId xmlns:p14="http://schemas.microsoft.com/office/powerpoint/2010/main" val="1318049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30C45-779D-AAEE-BD7A-AE52EBAE5F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3D658D-2052-BAF8-DA8F-C4110B83DABE}"/>
              </a:ext>
            </a:extLst>
          </p:cNvPr>
          <p:cNvSpPr>
            <a:spLocks noGrp="1"/>
          </p:cNvSpPr>
          <p:nvPr>
            <p:ph type="title"/>
          </p:nvPr>
        </p:nvSpPr>
        <p:spPr/>
        <p:txBody>
          <a:bodyPr/>
          <a:lstStyle/>
          <a:p>
            <a:r>
              <a:rPr kumimoji="1" lang="ja-JP" altLang="en-US"/>
              <a:t>適用例</a:t>
            </a:r>
            <a:r>
              <a:rPr kumimoji="1" lang="en-US" altLang="ja-JP" dirty="0"/>
              <a:t> </a:t>
            </a:r>
            <a:r>
              <a:rPr kumimoji="1" lang="en-US" altLang="ja-JP" sz="2400" dirty="0"/>
              <a:t>–</a:t>
            </a:r>
            <a:r>
              <a:rPr kumimoji="1" lang="ja-JP" altLang="en-US" sz="2400"/>
              <a:t>数学の問題の解答</a:t>
            </a:r>
            <a:r>
              <a:rPr kumimoji="1" lang="en-US" altLang="ja-JP" sz="2400" dirty="0"/>
              <a:t>-</a:t>
            </a:r>
            <a:endParaRPr kumimoji="1" lang="ja-JP" altLang="en-US"/>
          </a:p>
        </p:txBody>
      </p:sp>
      <p:sp>
        <p:nvSpPr>
          <p:cNvPr id="3" name="コンテンツ プレースホルダー 2">
            <a:extLst>
              <a:ext uri="{FF2B5EF4-FFF2-40B4-BE49-F238E27FC236}">
                <a16:creationId xmlns:a16="http://schemas.microsoft.com/office/drawing/2014/main" id="{E56FC509-B584-0E99-090F-989B79C6434C}"/>
              </a:ext>
            </a:extLst>
          </p:cNvPr>
          <p:cNvSpPr>
            <a:spLocks noGrp="1"/>
          </p:cNvSpPr>
          <p:nvPr>
            <p:ph idx="1"/>
          </p:nvPr>
        </p:nvSpPr>
        <p:spPr>
          <a:xfrm>
            <a:off x="838200" y="937153"/>
            <a:ext cx="10515600" cy="1930592"/>
          </a:xfrm>
        </p:spPr>
        <p:txBody>
          <a:bodyPr>
            <a:normAutofit/>
          </a:bodyPr>
          <a:lstStyle/>
          <a:p>
            <a:pPr marL="0" indent="0">
              <a:buNone/>
            </a:pPr>
            <a:r>
              <a:rPr lang="ja-JP" altLang="en-US" sz="2000">
                <a:latin typeface="Hiragino Sans W5" panose="020B0400000000000000" pitchFamily="34" charset="-128"/>
                <a:ea typeface="Hiragino Sans W5" panose="020B0400000000000000" pitchFamily="34" charset="-128"/>
              </a:rPr>
              <a:t>シナリオ１</a:t>
            </a:r>
            <a:r>
              <a:rPr lang="ja-JP" altLang="en-US" sz="2000"/>
              <a:t>：</a:t>
            </a:r>
            <a:r>
              <a:rPr lang="en-US" altLang="ja-JP" sz="2000" dirty="0">
                <a:solidFill>
                  <a:srgbClr val="FF0000"/>
                </a:solidFill>
                <a:latin typeface="Hiragino Sans W5" panose="020B0400000000000000" pitchFamily="34" charset="-128"/>
                <a:ea typeface="Hiragino Sans W5" panose="020B0400000000000000" pitchFamily="34" charset="-128"/>
              </a:rPr>
              <a:t>LLM</a:t>
            </a:r>
            <a:r>
              <a:rPr lang="ja-JP" altLang="en-US" sz="2000">
                <a:solidFill>
                  <a:srgbClr val="FF0000"/>
                </a:solidFill>
                <a:latin typeface="Hiragino Sans W5" panose="020B0400000000000000" pitchFamily="34" charset="-128"/>
                <a:ea typeface="Hiragino Sans W5" panose="020B0400000000000000" pitchFamily="34" charset="-128"/>
              </a:rPr>
              <a:t>を元にしたエージェントのみ</a:t>
            </a:r>
            <a:r>
              <a:rPr lang="ja-JP" altLang="en-US" sz="2000"/>
              <a:t>で数学の問題に解答。</a:t>
            </a:r>
            <a:endParaRPr lang="en-US" altLang="ja-JP" sz="2000" dirty="0"/>
          </a:p>
          <a:p>
            <a:pPr marL="0" indent="0">
              <a:buNone/>
            </a:pPr>
            <a:r>
              <a:rPr lang="ja-JP" altLang="en-US" sz="2000">
                <a:latin typeface="Hiragino Sans W5" panose="020B0400000000000000" pitchFamily="34" charset="-128"/>
                <a:ea typeface="Hiragino Sans W5" panose="020B0400000000000000" pitchFamily="34" charset="-128"/>
              </a:rPr>
              <a:t>シナリオ２</a:t>
            </a:r>
            <a:r>
              <a:rPr lang="ja-JP" altLang="en-US" sz="2000"/>
              <a:t>：</a:t>
            </a:r>
            <a:r>
              <a:rPr lang="en-US" altLang="ja-JP" sz="2000" dirty="0"/>
              <a:t>LLM</a:t>
            </a:r>
            <a:r>
              <a:rPr lang="ja-JP" altLang="en-US" sz="2000"/>
              <a:t>が自律的に解答することが難しい問題に関しては</a:t>
            </a:r>
            <a:r>
              <a:rPr lang="ja-JP" altLang="en-US" sz="2000">
                <a:solidFill>
                  <a:srgbClr val="FF0000"/>
                </a:solidFill>
                <a:latin typeface="Hiragino Sans W5" panose="020B0400000000000000" pitchFamily="34" charset="-128"/>
                <a:ea typeface="Hiragino Sans W5" panose="020B0400000000000000" pitchFamily="34" charset="-128"/>
              </a:rPr>
              <a:t>人間からのフィードバックを有効</a:t>
            </a:r>
            <a:r>
              <a:rPr lang="ja-JP" altLang="en-US" sz="2000"/>
              <a:t>にする。他のモデルに対して、解答精度が高いことが示される。</a:t>
            </a:r>
            <a:endParaRPr lang="en-US" altLang="ja-JP" sz="2000" dirty="0"/>
          </a:p>
          <a:p>
            <a:pPr marL="0" indent="0">
              <a:buNone/>
            </a:pPr>
            <a:r>
              <a:rPr kumimoji="1" lang="ja-JP" altLang="en-US" sz="2000">
                <a:latin typeface="Hiragino Sans W5" panose="020B0400000000000000" pitchFamily="34" charset="-128"/>
                <a:ea typeface="Hiragino Sans W5" panose="020B0400000000000000" pitchFamily="34" charset="-128"/>
              </a:rPr>
              <a:t>シナリオ３</a:t>
            </a:r>
            <a:r>
              <a:rPr kumimoji="1" lang="ja-JP" altLang="en-US" sz="2000"/>
              <a:t>：学生と専門家の</a:t>
            </a:r>
            <a:r>
              <a:rPr kumimoji="1" lang="en-US" altLang="ja-JP" sz="2000" dirty="0"/>
              <a:t>2</a:t>
            </a:r>
            <a:r>
              <a:rPr kumimoji="1" lang="ja-JP" altLang="en-US" sz="2000"/>
              <a:t>人のユーザーが関与するシステムを構築。学生は</a:t>
            </a:r>
            <a:r>
              <a:rPr kumimoji="1" lang="en-US" altLang="ja-JP" sz="2000" dirty="0"/>
              <a:t>LLM</a:t>
            </a:r>
            <a:r>
              <a:rPr kumimoji="1" lang="ja-JP" altLang="en-US" sz="2000"/>
              <a:t>と会話する中で問題の解決を目指すが、もし問題を解決できない場合、専門家に助けを求める。</a:t>
            </a:r>
          </a:p>
        </p:txBody>
      </p:sp>
      <p:sp>
        <p:nvSpPr>
          <p:cNvPr id="4" name="スライド番号プレースホルダー 3">
            <a:extLst>
              <a:ext uri="{FF2B5EF4-FFF2-40B4-BE49-F238E27FC236}">
                <a16:creationId xmlns:a16="http://schemas.microsoft.com/office/drawing/2014/main" id="{C623000F-4E87-62E5-17D6-F78270975DE1}"/>
              </a:ext>
            </a:extLst>
          </p:cNvPr>
          <p:cNvSpPr>
            <a:spLocks noGrp="1"/>
          </p:cNvSpPr>
          <p:nvPr>
            <p:ph type="sldNum" sz="quarter" idx="12"/>
          </p:nvPr>
        </p:nvSpPr>
        <p:spPr/>
        <p:txBody>
          <a:bodyPr/>
          <a:lstStyle/>
          <a:p>
            <a:fld id="{83831D9A-33C3-294C-A83B-0D46C22888D2}" type="slidenum">
              <a:rPr kumimoji="1" lang="ja-JP" altLang="en-US" smtClean="0"/>
              <a:t>9</a:t>
            </a:fld>
            <a:endParaRPr kumimoji="1" lang="ja-JP" altLang="en-US"/>
          </a:p>
        </p:txBody>
      </p:sp>
      <p:pic>
        <p:nvPicPr>
          <p:cNvPr id="6" name="図 5" descr="ダイアグラム&#10;&#10;自動的に生成された説明">
            <a:extLst>
              <a:ext uri="{FF2B5EF4-FFF2-40B4-BE49-F238E27FC236}">
                <a16:creationId xmlns:a16="http://schemas.microsoft.com/office/drawing/2014/main" id="{DD5D688E-B1A6-5CBD-63C6-8B304A7B776A}"/>
              </a:ext>
            </a:extLst>
          </p:cNvPr>
          <p:cNvPicPr>
            <a:picLocks noChangeAspect="1"/>
          </p:cNvPicPr>
          <p:nvPr/>
        </p:nvPicPr>
        <p:blipFill>
          <a:blip r:embed="rId2"/>
          <a:stretch>
            <a:fillRect/>
          </a:stretch>
        </p:blipFill>
        <p:spPr>
          <a:xfrm>
            <a:off x="5321945" y="2777094"/>
            <a:ext cx="6041503" cy="3848728"/>
          </a:xfrm>
          <a:prstGeom prst="rect">
            <a:avLst/>
          </a:prstGeom>
        </p:spPr>
      </p:pic>
      <p:pic>
        <p:nvPicPr>
          <p:cNvPr id="8" name="図 7" descr="グラフ, 棒グラフ&#10;&#10;自動的に生成された説明">
            <a:extLst>
              <a:ext uri="{FF2B5EF4-FFF2-40B4-BE49-F238E27FC236}">
                <a16:creationId xmlns:a16="http://schemas.microsoft.com/office/drawing/2014/main" id="{E190EB1F-B223-55C6-5F29-A1D6C6A64A3A}"/>
              </a:ext>
            </a:extLst>
          </p:cNvPr>
          <p:cNvPicPr>
            <a:picLocks noChangeAspect="1"/>
          </p:cNvPicPr>
          <p:nvPr/>
        </p:nvPicPr>
        <p:blipFill>
          <a:blip r:embed="rId3"/>
          <a:srcRect r="49576" b="48472"/>
          <a:stretch/>
        </p:blipFill>
        <p:spPr>
          <a:xfrm>
            <a:off x="930966" y="3050308"/>
            <a:ext cx="3919171" cy="3314756"/>
          </a:xfrm>
          <a:prstGeom prst="rect">
            <a:avLst/>
          </a:prstGeom>
        </p:spPr>
      </p:pic>
      <p:sp>
        <p:nvSpPr>
          <p:cNvPr id="11" name="テキスト ボックス 10">
            <a:extLst>
              <a:ext uri="{FF2B5EF4-FFF2-40B4-BE49-F238E27FC236}">
                <a16:creationId xmlns:a16="http://schemas.microsoft.com/office/drawing/2014/main" id="{96E7B398-2D72-8C28-1A75-F4DFD2AD3F22}"/>
              </a:ext>
            </a:extLst>
          </p:cNvPr>
          <p:cNvSpPr txBox="1"/>
          <p:nvPr/>
        </p:nvSpPr>
        <p:spPr>
          <a:xfrm>
            <a:off x="555847" y="6437573"/>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図：シナリオ</a:t>
            </a:r>
            <a:r>
              <a:rPr kumimoji="1" lang="en-US" altLang="ja-JP" dirty="0">
                <a:latin typeface="Hiragino Sans W4" panose="020B0400000000000000" pitchFamily="34" charset="-128"/>
                <a:ea typeface="Hiragino Sans W4" panose="020B0400000000000000" pitchFamily="34" charset="-128"/>
              </a:rPr>
              <a:t>1</a:t>
            </a:r>
            <a:r>
              <a:rPr kumimoji="1" lang="ja-JP" altLang="en-US">
                <a:latin typeface="Hiragino Sans W4" panose="020B0400000000000000" pitchFamily="34" charset="-128"/>
                <a:ea typeface="Hiragino Sans W4" panose="020B0400000000000000" pitchFamily="34" charset="-128"/>
              </a:rPr>
              <a:t>のモデルごとの解答精度の比較</a:t>
            </a:r>
          </a:p>
        </p:txBody>
      </p:sp>
      <p:sp>
        <p:nvSpPr>
          <p:cNvPr id="12" name="正方形/長方形 11">
            <a:extLst>
              <a:ext uri="{FF2B5EF4-FFF2-40B4-BE49-F238E27FC236}">
                <a16:creationId xmlns:a16="http://schemas.microsoft.com/office/drawing/2014/main" id="{3E05EBE6-4F37-D21F-020B-D6E689BBA793}"/>
              </a:ext>
            </a:extLst>
          </p:cNvPr>
          <p:cNvSpPr/>
          <p:nvPr/>
        </p:nvSpPr>
        <p:spPr>
          <a:xfrm>
            <a:off x="1402774" y="3236054"/>
            <a:ext cx="668914" cy="249323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5270CD5B-1D0F-A459-3688-C2EEAD3A1D4D}"/>
              </a:ext>
            </a:extLst>
          </p:cNvPr>
          <p:cNvSpPr/>
          <p:nvPr/>
        </p:nvSpPr>
        <p:spPr>
          <a:xfrm>
            <a:off x="5575289" y="3477145"/>
            <a:ext cx="3082936" cy="15338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コンテンツ プレースホルダー 2">
            <a:extLst>
              <a:ext uri="{FF2B5EF4-FFF2-40B4-BE49-F238E27FC236}">
                <a16:creationId xmlns:a16="http://schemas.microsoft.com/office/drawing/2014/main" id="{E4A64DED-3648-2FFC-7740-42E2CF899762}"/>
              </a:ext>
            </a:extLst>
          </p:cNvPr>
          <p:cNvSpPr txBox="1">
            <a:spLocks/>
          </p:cNvSpPr>
          <p:nvPr/>
        </p:nvSpPr>
        <p:spPr>
          <a:xfrm>
            <a:off x="5545791" y="3130566"/>
            <a:ext cx="25937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シナリオ</a:t>
            </a:r>
            <a:r>
              <a:rPr lang="en-US" altLang="ja-JP" sz="1600" b="1" dirty="0">
                <a:solidFill>
                  <a:srgbClr val="FF0000"/>
                </a:solidFill>
                <a:latin typeface="Hiragino Sans W6" panose="020B0400000000000000" pitchFamily="34" charset="-128"/>
                <a:ea typeface="Hiragino Sans W6" panose="020B0400000000000000" pitchFamily="34" charset="-128"/>
              </a:rPr>
              <a:t>1,2</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5" name="正方形/長方形 14">
            <a:extLst>
              <a:ext uri="{FF2B5EF4-FFF2-40B4-BE49-F238E27FC236}">
                <a16:creationId xmlns:a16="http://schemas.microsoft.com/office/drawing/2014/main" id="{5C0A4D8D-E603-CECB-B3CC-AE08F6E23B0D}"/>
              </a:ext>
            </a:extLst>
          </p:cNvPr>
          <p:cNvSpPr/>
          <p:nvPr/>
        </p:nvSpPr>
        <p:spPr>
          <a:xfrm>
            <a:off x="5545790" y="2949483"/>
            <a:ext cx="5598459" cy="315460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コンテンツ プレースホルダー 2">
            <a:extLst>
              <a:ext uri="{FF2B5EF4-FFF2-40B4-BE49-F238E27FC236}">
                <a16:creationId xmlns:a16="http://schemas.microsoft.com/office/drawing/2014/main" id="{3E084D68-3956-91B5-47EB-1518CFB801A2}"/>
              </a:ext>
            </a:extLst>
          </p:cNvPr>
          <p:cNvSpPr txBox="1">
            <a:spLocks/>
          </p:cNvSpPr>
          <p:nvPr/>
        </p:nvSpPr>
        <p:spPr>
          <a:xfrm>
            <a:off x="5545790" y="2656893"/>
            <a:ext cx="25937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シナリオ</a:t>
            </a:r>
            <a:r>
              <a:rPr lang="en-US" altLang="ja-JP" sz="1600" b="1" dirty="0">
                <a:solidFill>
                  <a:srgbClr val="FF0000"/>
                </a:solidFill>
                <a:latin typeface="Hiragino Sans W6" panose="020B0400000000000000" pitchFamily="34" charset="-128"/>
                <a:ea typeface="Hiragino Sans W6" panose="020B0400000000000000" pitchFamily="34" charset="-128"/>
              </a:rPr>
              <a:t>3</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7" name="テキスト ボックス 16">
            <a:extLst>
              <a:ext uri="{FF2B5EF4-FFF2-40B4-BE49-F238E27FC236}">
                <a16:creationId xmlns:a16="http://schemas.microsoft.com/office/drawing/2014/main" id="{EB57835D-5824-66BD-3A94-FC2D89CE9A19}"/>
              </a:ext>
            </a:extLst>
          </p:cNvPr>
          <p:cNvSpPr txBox="1"/>
          <p:nvPr/>
        </p:nvSpPr>
        <p:spPr>
          <a:xfrm>
            <a:off x="5825714" y="6449488"/>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図：各エージェントの役割</a:t>
            </a:r>
          </a:p>
        </p:txBody>
      </p:sp>
    </p:spTree>
    <p:extLst>
      <p:ext uri="{BB962C8B-B14F-4D97-AF65-F5344CB8AC3E}">
        <p14:creationId xmlns:p14="http://schemas.microsoft.com/office/powerpoint/2010/main" val="1832480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2138-D078-E358-8265-48339DFA55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15254B-5F33-A01C-967D-239A05864709}"/>
              </a:ext>
            </a:extLst>
          </p:cNvPr>
          <p:cNvSpPr>
            <a:spLocks noGrp="1"/>
          </p:cNvSpPr>
          <p:nvPr>
            <p:ph type="title"/>
          </p:nvPr>
        </p:nvSpPr>
        <p:spPr/>
        <p:txBody>
          <a:bodyPr/>
          <a:lstStyle/>
          <a:p>
            <a:r>
              <a:rPr kumimoji="1" lang="ja-JP" altLang="en-US"/>
              <a:t>適用例</a:t>
            </a:r>
            <a:r>
              <a:rPr kumimoji="1" lang="en-US" altLang="ja-JP" dirty="0"/>
              <a:t> </a:t>
            </a:r>
            <a:r>
              <a:rPr kumimoji="1" lang="en-US" altLang="ja-JP" sz="2400" dirty="0"/>
              <a:t>–RAG</a:t>
            </a:r>
            <a:r>
              <a:rPr kumimoji="1" lang="ja-JP" altLang="en-US" sz="2400"/>
              <a:t>を利用したコード生成と質問解答</a:t>
            </a:r>
            <a:r>
              <a:rPr kumimoji="1" lang="en-US" altLang="ja-JP" sz="2400" dirty="0"/>
              <a:t>-</a:t>
            </a:r>
            <a:endParaRPr kumimoji="1" lang="ja-JP" altLang="en-US"/>
          </a:p>
        </p:txBody>
      </p:sp>
      <p:sp>
        <p:nvSpPr>
          <p:cNvPr id="3" name="コンテンツ プレースホルダー 2">
            <a:extLst>
              <a:ext uri="{FF2B5EF4-FFF2-40B4-BE49-F238E27FC236}">
                <a16:creationId xmlns:a16="http://schemas.microsoft.com/office/drawing/2014/main" id="{F3B9E2D3-2C80-16F1-0147-7FD4DF6470CF}"/>
              </a:ext>
            </a:extLst>
          </p:cNvPr>
          <p:cNvSpPr>
            <a:spLocks noGrp="1"/>
          </p:cNvSpPr>
          <p:nvPr>
            <p:ph idx="1"/>
          </p:nvPr>
        </p:nvSpPr>
        <p:spPr>
          <a:xfrm>
            <a:off x="838200" y="979046"/>
            <a:ext cx="10515600" cy="2940838"/>
          </a:xfrm>
        </p:spPr>
        <p:txBody>
          <a:bodyPr>
            <a:normAutofit/>
          </a:bodyPr>
          <a:lstStyle/>
          <a:p>
            <a:pPr marL="0" indent="0">
              <a:buNone/>
            </a:pPr>
            <a:r>
              <a:rPr lang="en-US" altLang="ja-JP" sz="2000" dirty="0"/>
              <a:t>RAG</a:t>
            </a:r>
            <a:r>
              <a:rPr lang="ja-JP" altLang="en-US" sz="2000"/>
              <a:t>を利用したコード生成と質問解答の流れは以下のようである。</a:t>
            </a:r>
            <a:endParaRPr kumimoji="1" lang="en-US" altLang="ja-JP" sz="2000" dirty="0"/>
          </a:p>
          <a:p>
            <a:pPr marL="0" indent="0">
              <a:buNone/>
            </a:pPr>
            <a:r>
              <a:rPr kumimoji="1" lang="en-US" altLang="ja-JP" sz="2000" dirty="0"/>
              <a:t>0.   Proxy</a:t>
            </a:r>
            <a:r>
              <a:rPr lang="ja-JP" altLang="en-US" sz="2000"/>
              <a:t>にドキュメントをチャンクに分割し、データベースに保存する</a:t>
            </a:r>
            <a:endParaRPr lang="en-US" altLang="ja-JP" sz="2000" dirty="0"/>
          </a:p>
          <a:p>
            <a:pPr marL="457200" indent="-457200">
              <a:buFont typeface="+mj-lt"/>
              <a:buAutoNum type="arabicPeriod"/>
            </a:pPr>
            <a:r>
              <a:rPr kumimoji="1" lang="ja-JP" altLang="en-US" sz="2000"/>
              <a:t>質問内容と埋め込みの類似性があるチャンクを取得し、</a:t>
            </a:r>
            <a:r>
              <a:rPr kumimoji="1" lang="en-US" altLang="ja-JP" sz="2000" dirty="0"/>
              <a:t>Assistant</a:t>
            </a:r>
            <a:r>
              <a:rPr kumimoji="1" lang="ja-JP" altLang="en-US" sz="2000"/>
              <a:t>へ送信する</a:t>
            </a:r>
            <a:endParaRPr kumimoji="1" lang="en-US" altLang="ja-JP" sz="2000" dirty="0"/>
          </a:p>
          <a:p>
            <a:pPr marL="457200" indent="-457200">
              <a:buFont typeface="+mj-lt"/>
              <a:buAutoNum type="arabicPeriod"/>
            </a:pPr>
            <a:r>
              <a:rPr lang="ja-JP" altLang="en-US" sz="2000"/>
              <a:t>質問とチャンクの情報に基づき、コードや解答を生成する。情報が不足する場合はその旨も</a:t>
            </a:r>
            <a:r>
              <a:rPr lang="en-US" altLang="ja-JP" sz="2000" dirty="0"/>
              <a:t>Proxy</a:t>
            </a:r>
            <a:r>
              <a:rPr lang="ja-JP" altLang="en-US" sz="2000"/>
              <a:t>へ送信する。</a:t>
            </a:r>
            <a:endParaRPr lang="en-US" altLang="ja-JP" sz="2000" dirty="0"/>
          </a:p>
          <a:p>
            <a:pPr marL="457200" indent="-457200">
              <a:buFont typeface="+mj-lt"/>
              <a:buAutoNum type="arabicPeriod"/>
            </a:pPr>
            <a:r>
              <a:rPr lang="ja-JP" altLang="en-US" sz="2000"/>
              <a:t>コードが含まれている場合はコードを実行した上で、解答を受信する。情報が不足している旨を受け取っていない時はそこで終了し、受け取っている場合は</a:t>
            </a:r>
            <a:r>
              <a:rPr lang="en-US" altLang="ja-JP" sz="2000" dirty="0"/>
              <a:t>1~3</a:t>
            </a:r>
            <a:r>
              <a:rPr lang="ja-JP" altLang="en-US" sz="2000"/>
              <a:t>のことを同様に繰り返す。</a:t>
            </a:r>
            <a:endParaRPr kumimoji="1" lang="ja-JP" altLang="en-US" sz="2000"/>
          </a:p>
        </p:txBody>
      </p:sp>
      <p:sp>
        <p:nvSpPr>
          <p:cNvPr id="4" name="スライド番号プレースホルダー 3">
            <a:extLst>
              <a:ext uri="{FF2B5EF4-FFF2-40B4-BE49-F238E27FC236}">
                <a16:creationId xmlns:a16="http://schemas.microsoft.com/office/drawing/2014/main" id="{C96FF9FB-6826-F4AA-792E-82727E9A06F8}"/>
              </a:ext>
            </a:extLst>
          </p:cNvPr>
          <p:cNvSpPr>
            <a:spLocks noGrp="1"/>
          </p:cNvSpPr>
          <p:nvPr>
            <p:ph type="sldNum" sz="quarter" idx="12"/>
          </p:nvPr>
        </p:nvSpPr>
        <p:spPr/>
        <p:txBody>
          <a:bodyPr/>
          <a:lstStyle/>
          <a:p>
            <a:fld id="{83831D9A-33C3-294C-A83B-0D46C22888D2}" type="slidenum">
              <a:rPr kumimoji="1" lang="ja-JP" altLang="en-US" smtClean="0"/>
              <a:t>10</a:t>
            </a:fld>
            <a:endParaRPr kumimoji="1" lang="ja-JP" altLang="en-US"/>
          </a:p>
        </p:txBody>
      </p:sp>
      <p:pic>
        <p:nvPicPr>
          <p:cNvPr id="5" name="図 4" descr="グラフ, 棒グラフ&#10;&#10;自動的に生成された説明">
            <a:extLst>
              <a:ext uri="{FF2B5EF4-FFF2-40B4-BE49-F238E27FC236}">
                <a16:creationId xmlns:a16="http://schemas.microsoft.com/office/drawing/2014/main" id="{218108F8-2616-5D97-814A-782E2CF6B9CF}"/>
              </a:ext>
            </a:extLst>
          </p:cNvPr>
          <p:cNvPicPr>
            <a:picLocks noChangeAspect="1"/>
          </p:cNvPicPr>
          <p:nvPr/>
        </p:nvPicPr>
        <p:blipFill>
          <a:blip r:embed="rId2"/>
          <a:srcRect l="49873" b="55491"/>
          <a:stretch/>
        </p:blipFill>
        <p:spPr>
          <a:xfrm>
            <a:off x="1134563" y="3984584"/>
            <a:ext cx="3205163" cy="2355466"/>
          </a:xfrm>
          <a:prstGeom prst="rect">
            <a:avLst/>
          </a:prstGeom>
        </p:spPr>
      </p:pic>
      <p:pic>
        <p:nvPicPr>
          <p:cNvPr id="7" name="図 6" descr="グラフィカル ユーザー インターフェイス, アプリケーション&#10;&#10;自動的に生成された説明">
            <a:extLst>
              <a:ext uri="{FF2B5EF4-FFF2-40B4-BE49-F238E27FC236}">
                <a16:creationId xmlns:a16="http://schemas.microsoft.com/office/drawing/2014/main" id="{28578756-958F-C328-6D45-7863E5B69189}"/>
              </a:ext>
            </a:extLst>
          </p:cNvPr>
          <p:cNvPicPr>
            <a:picLocks noChangeAspect="1"/>
          </p:cNvPicPr>
          <p:nvPr/>
        </p:nvPicPr>
        <p:blipFill>
          <a:blip r:embed="rId3"/>
          <a:stretch>
            <a:fillRect/>
          </a:stretch>
        </p:blipFill>
        <p:spPr>
          <a:xfrm>
            <a:off x="4998224" y="4063133"/>
            <a:ext cx="6608132" cy="2172247"/>
          </a:xfrm>
          <a:prstGeom prst="rect">
            <a:avLst/>
          </a:prstGeom>
        </p:spPr>
      </p:pic>
      <p:sp>
        <p:nvSpPr>
          <p:cNvPr id="8" name="正方形/長方形 7">
            <a:extLst>
              <a:ext uri="{FF2B5EF4-FFF2-40B4-BE49-F238E27FC236}">
                <a16:creationId xmlns:a16="http://schemas.microsoft.com/office/drawing/2014/main" id="{ED3473C0-B8CB-E42B-91B5-76438AAEAE08}"/>
              </a:ext>
            </a:extLst>
          </p:cNvPr>
          <p:cNvSpPr/>
          <p:nvPr/>
        </p:nvSpPr>
        <p:spPr>
          <a:xfrm>
            <a:off x="3124655" y="4435365"/>
            <a:ext cx="270186" cy="15621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コンテンツ プレースホルダー 2">
            <a:extLst>
              <a:ext uri="{FF2B5EF4-FFF2-40B4-BE49-F238E27FC236}">
                <a16:creationId xmlns:a16="http://schemas.microsoft.com/office/drawing/2014/main" id="{4D04E9B0-A010-84C0-8A3E-F58B2A2FA371}"/>
              </a:ext>
            </a:extLst>
          </p:cNvPr>
          <p:cNvSpPr txBox="1">
            <a:spLocks/>
          </p:cNvSpPr>
          <p:nvPr/>
        </p:nvSpPr>
        <p:spPr>
          <a:xfrm>
            <a:off x="2063262" y="3880571"/>
            <a:ext cx="11844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AutoGen</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0" name="コンテンツ プレースホルダー 2">
            <a:extLst>
              <a:ext uri="{FF2B5EF4-FFF2-40B4-BE49-F238E27FC236}">
                <a16:creationId xmlns:a16="http://schemas.microsoft.com/office/drawing/2014/main" id="{62AB1584-D709-D828-C2C7-7C1019BACA3C}"/>
              </a:ext>
            </a:extLst>
          </p:cNvPr>
          <p:cNvSpPr txBox="1">
            <a:spLocks/>
          </p:cNvSpPr>
          <p:nvPr/>
        </p:nvSpPr>
        <p:spPr>
          <a:xfrm>
            <a:off x="3810854" y="4184611"/>
            <a:ext cx="1574079"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rgbClr val="FF0000"/>
                </a:solidFill>
                <a:latin typeface="Hiragino Sans W6" panose="020B0400000000000000" pitchFamily="34" charset="-128"/>
                <a:ea typeface="Hiragino Sans W6" panose="020B0400000000000000" pitchFamily="34" charset="-128"/>
              </a:rPr>
              <a:t>通常の</a:t>
            </a:r>
            <a:r>
              <a:rPr lang="en-US" altLang="ja-JP" sz="1600" b="1" dirty="0">
                <a:solidFill>
                  <a:srgbClr val="FF0000"/>
                </a:solidFill>
                <a:latin typeface="Hiragino Sans W6" panose="020B0400000000000000" pitchFamily="34" charset="-128"/>
                <a:ea typeface="Hiragino Sans W6" panose="020B0400000000000000" pitchFamily="34" charset="-128"/>
              </a:rPr>
              <a:t>RAG</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1" name="正方形/長方形 10">
            <a:extLst>
              <a:ext uri="{FF2B5EF4-FFF2-40B4-BE49-F238E27FC236}">
                <a16:creationId xmlns:a16="http://schemas.microsoft.com/office/drawing/2014/main" id="{539C66C9-9B91-3B32-3F9A-A96A8242A70D}"/>
              </a:ext>
            </a:extLst>
          </p:cNvPr>
          <p:cNvSpPr/>
          <p:nvPr/>
        </p:nvSpPr>
        <p:spPr>
          <a:xfrm>
            <a:off x="3399438" y="4549736"/>
            <a:ext cx="270186" cy="14478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E391706F-F990-AFB4-AE2F-5CC6DBB0E785}"/>
              </a:ext>
            </a:extLst>
          </p:cNvPr>
          <p:cNvCxnSpPr>
            <a:cxnSpLocks/>
          </p:cNvCxnSpPr>
          <p:nvPr/>
        </p:nvCxnSpPr>
        <p:spPr>
          <a:xfrm>
            <a:off x="2732690" y="4184611"/>
            <a:ext cx="515007" cy="5405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C329AFF6-C7B0-3162-1F7C-63D70248A419}"/>
              </a:ext>
            </a:extLst>
          </p:cNvPr>
          <p:cNvCxnSpPr>
            <a:cxnSpLocks/>
          </p:cNvCxnSpPr>
          <p:nvPr/>
        </p:nvCxnSpPr>
        <p:spPr>
          <a:xfrm flipV="1">
            <a:off x="3553350" y="4492438"/>
            <a:ext cx="531171" cy="1983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C8702C66-7181-187B-13BD-9E76DE12D23A}"/>
              </a:ext>
            </a:extLst>
          </p:cNvPr>
          <p:cNvSpPr txBox="1"/>
          <p:nvPr/>
        </p:nvSpPr>
        <p:spPr>
          <a:xfrm>
            <a:off x="5785308" y="6236188"/>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図：各エージェントの役割</a:t>
            </a:r>
          </a:p>
        </p:txBody>
      </p:sp>
      <p:sp>
        <p:nvSpPr>
          <p:cNvPr id="19" name="テキスト ボックス 18">
            <a:extLst>
              <a:ext uri="{FF2B5EF4-FFF2-40B4-BE49-F238E27FC236}">
                <a16:creationId xmlns:a16="http://schemas.microsoft.com/office/drawing/2014/main" id="{78080023-DF7B-7E9B-7F41-939265209843}"/>
              </a:ext>
            </a:extLst>
          </p:cNvPr>
          <p:cNvSpPr txBox="1"/>
          <p:nvPr/>
        </p:nvSpPr>
        <p:spPr>
          <a:xfrm>
            <a:off x="138497" y="6301244"/>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図：モデルごとの解答精度の比較</a:t>
            </a:r>
          </a:p>
        </p:txBody>
      </p:sp>
    </p:spTree>
    <p:extLst>
      <p:ext uri="{BB962C8B-B14F-4D97-AF65-F5344CB8AC3E}">
        <p14:creationId xmlns:p14="http://schemas.microsoft.com/office/powerpoint/2010/main" val="3620865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351C3-D79C-EE13-7EF4-699360A4D7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D7CC3-6A4B-B067-F21F-B724C671B276}"/>
              </a:ext>
            </a:extLst>
          </p:cNvPr>
          <p:cNvSpPr>
            <a:spLocks noGrp="1"/>
          </p:cNvSpPr>
          <p:nvPr>
            <p:ph type="title"/>
          </p:nvPr>
        </p:nvSpPr>
        <p:spPr/>
        <p:txBody>
          <a:bodyPr/>
          <a:lstStyle/>
          <a:p>
            <a:r>
              <a:rPr kumimoji="1" lang="ja-JP" altLang="en-US"/>
              <a:t>適用例</a:t>
            </a:r>
            <a:r>
              <a:rPr kumimoji="1" lang="en-US" altLang="ja-JP" dirty="0"/>
              <a:t> </a:t>
            </a:r>
            <a:r>
              <a:rPr kumimoji="1" lang="en-US" altLang="ja-JP" sz="2400" dirty="0"/>
              <a:t>–</a:t>
            </a:r>
            <a:r>
              <a:rPr kumimoji="1" lang="ja-JP" altLang="en-US" sz="2400"/>
              <a:t>テキストでの意思決定</a:t>
            </a:r>
            <a:r>
              <a:rPr kumimoji="1" lang="en-US" altLang="ja-JP" sz="2400" dirty="0"/>
              <a:t>-</a:t>
            </a:r>
            <a:endParaRPr kumimoji="1" lang="ja-JP" altLang="en-US"/>
          </a:p>
        </p:txBody>
      </p:sp>
      <p:sp>
        <p:nvSpPr>
          <p:cNvPr id="3" name="コンテンツ プレースホルダー 2">
            <a:extLst>
              <a:ext uri="{FF2B5EF4-FFF2-40B4-BE49-F238E27FC236}">
                <a16:creationId xmlns:a16="http://schemas.microsoft.com/office/drawing/2014/main" id="{095F9F21-AD11-6238-0860-596C7B49731C}"/>
              </a:ext>
            </a:extLst>
          </p:cNvPr>
          <p:cNvSpPr>
            <a:spLocks noGrp="1"/>
          </p:cNvSpPr>
          <p:nvPr>
            <p:ph idx="1"/>
          </p:nvPr>
        </p:nvSpPr>
        <p:spPr>
          <a:xfrm>
            <a:off x="838200" y="973573"/>
            <a:ext cx="10515600" cy="2544059"/>
          </a:xfrm>
        </p:spPr>
        <p:txBody>
          <a:bodyPr>
            <a:normAutofit/>
          </a:bodyPr>
          <a:lstStyle/>
          <a:p>
            <a:r>
              <a:rPr lang="en-US" altLang="ja-JP" sz="2000" dirty="0" err="1"/>
              <a:t>ALFWorld</a:t>
            </a:r>
            <a:r>
              <a:rPr lang="ja-JP" altLang="en-US" sz="2000"/>
              <a:t>という家庭環境を模した仮想世界で物体を移動させたり、アクションを実行するなどのタスクが設定された環境の中で、エージェントがタスクを解決する</a:t>
            </a:r>
            <a:endParaRPr lang="en-US" altLang="ja-JP" sz="2000" dirty="0"/>
          </a:p>
          <a:p>
            <a:r>
              <a:rPr kumimoji="1" lang="ja-JP" altLang="en-US" sz="2000"/>
              <a:t>基本は、</a:t>
            </a:r>
            <a:r>
              <a:rPr kumimoji="1" lang="en-US" altLang="ja-JP" sz="2000" dirty="0"/>
              <a:t>Assistant </a:t>
            </a:r>
            <a:r>
              <a:rPr kumimoji="1" lang="ja-JP" altLang="en-US" sz="2000"/>
              <a:t>と</a:t>
            </a:r>
            <a:r>
              <a:rPr kumimoji="1" lang="en-US" altLang="ja-JP" sz="2000" dirty="0"/>
              <a:t> Executor </a:t>
            </a:r>
            <a:r>
              <a:rPr kumimoji="1" lang="ja-JP" altLang="en-US" sz="2000"/>
              <a:t>のエージェントによって構成される</a:t>
            </a:r>
            <a:endParaRPr kumimoji="1" lang="en-US" altLang="ja-JP" sz="2000" dirty="0"/>
          </a:p>
          <a:p>
            <a:pPr lvl="1"/>
            <a:r>
              <a:rPr kumimoji="1" lang="en-US" altLang="ja-JP" sz="1600" dirty="0"/>
              <a:t>Assistant </a:t>
            </a:r>
            <a:r>
              <a:rPr kumimoji="1" lang="ja-JP" altLang="en-US" sz="1600"/>
              <a:t>はタスクを実行するための計画を提案する</a:t>
            </a:r>
            <a:endParaRPr kumimoji="1" lang="en-US" altLang="ja-JP" sz="1600" dirty="0"/>
          </a:p>
          <a:p>
            <a:pPr lvl="1"/>
            <a:r>
              <a:rPr kumimoji="1" lang="en-US" altLang="ja-JP" sz="1600" dirty="0"/>
              <a:t>Executor</a:t>
            </a:r>
            <a:r>
              <a:rPr lang="en-US" altLang="ja-JP" sz="1600" dirty="0"/>
              <a:t> </a:t>
            </a:r>
            <a:r>
              <a:rPr lang="ja-JP" altLang="en-US" sz="1600"/>
              <a:t>は計画を元にアクションを実行する</a:t>
            </a:r>
            <a:endParaRPr lang="en-US" altLang="ja-JP" sz="1600" dirty="0"/>
          </a:p>
          <a:p>
            <a:r>
              <a:rPr lang="en-US" altLang="ja-JP" sz="2000" dirty="0"/>
              <a:t>Grounding </a:t>
            </a:r>
            <a:r>
              <a:rPr lang="ja-JP" altLang="en-US" sz="2000"/>
              <a:t>エージェントは物理世界に関係する常識を他のエージェントに与える</a:t>
            </a:r>
            <a:endParaRPr lang="en-US" altLang="ja-JP" sz="2000" dirty="0"/>
          </a:p>
          <a:p>
            <a:r>
              <a:rPr lang="en-US" altLang="ja-JP" sz="2000" dirty="0"/>
              <a:t>3</a:t>
            </a:r>
            <a:r>
              <a:rPr lang="ja-JP" altLang="en-US" sz="2000"/>
              <a:t>つのエージェンを使用した時、最も解答の精度が高まる</a:t>
            </a:r>
            <a:endParaRPr lang="en-US" altLang="ja-JP" sz="2000" dirty="0"/>
          </a:p>
        </p:txBody>
      </p:sp>
      <p:sp>
        <p:nvSpPr>
          <p:cNvPr id="4" name="スライド番号プレースホルダー 3">
            <a:extLst>
              <a:ext uri="{FF2B5EF4-FFF2-40B4-BE49-F238E27FC236}">
                <a16:creationId xmlns:a16="http://schemas.microsoft.com/office/drawing/2014/main" id="{D9213EC3-2DA4-C6DA-CA3A-17BABA9E935F}"/>
              </a:ext>
            </a:extLst>
          </p:cNvPr>
          <p:cNvSpPr>
            <a:spLocks noGrp="1"/>
          </p:cNvSpPr>
          <p:nvPr>
            <p:ph type="sldNum" sz="quarter" idx="12"/>
          </p:nvPr>
        </p:nvSpPr>
        <p:spPr/>
        <p:txBody>
          <a:bodyPr/>
          <a:lstStyle/>
          <a:p>
            <a:fld id="{83831D9A-33C3-294C-A83B-0D46C22888D2}" type="slidenum">
              <a:rPr kumimoji="1" lang="ja-JP" altLang="en-US" smtClean="0"/>
              <a:t>11</a:t>
            </a:fld>
            <a:endParaRPr kumimoji="1" lang="ja-JP" altLang="en-US"/>
          </a:p>
        </p:txBody>
      </p:sp>
      <p:pic>
        <p:nvPicPr>
          <p:cNvPr id="5" name="図 4" descr="グラフ, 棒グラフ&#10;&#10;自動的に生成された説明">
            <a:extLst>
              <a:ext uri="{FF2B5EF4-FFF2-40B4-BE49-F238E27FC236}">
                <a16:creationId xmlns:a16="http://schemas.microsoft.com/office/drawing/2014/main" id="{F44750BA-1FAF-E753-FB4C-3DF64D6E5295}"/>
              </a:ext>
            </a:extLst>
          </p:cNvPr>
          <p:cNvPicPr>
            <a:picLocks noChangeAspect="1"/>
          </p:cNvPicPr>
          <p:nvPr/>
        </p:nvPicPr>
        <p:blipFill>
          <a:blip r:embed="rId3"/>
          <a:srcRect l="1576" t="50921" r="51365" b="6672"/>
          <a:stretch/>
        </p:blipFill>
        <p:spPr>
          <a:xfrm>
            <a:off x="930966" y="3587805"/>
            <a:ext cx="3657600" cy="2727960"/>
          </a:xfrm>
          <a:prstGeom prst="rect">
            <a:avLst/>
          </a:prstGeom>
        </p:spPr>
      </p:pic>
      <p:pic>
        <p:nvPicPr>
          <p:cNvPr id="7" name="図 6" descr="グラフィカル ユーザー インターフェイス, ダイアグラム, アプリケーション&#10;&#10;自動的に生成された説明">
            <a:extLst>
              <a:ext uri="{FF2B5EF4-FFF2-40B4-BE49-F238E27FC236}">
                <a16:creationId xmlns:a16="http://schemas.microsoft.com/office/drawing/2014/main" id="{770C6D8E-A5B0-F995-12EC-7068BB9B81C6}"/>
              </a:ext>
            </a:extLst>
          </p:cNvPr>
          <p:cNvPicPr>
            <a:picLocks noChangeAspect="1"/>
          </p:cNvPicPr>
          <p:nvPr/>
        </p:nvPicPr>
        <p:blipFill>
          <a:blip r:embed="rId4"/>
          <a:stretch>
            <a:fillRect/>
          </a:stretch>
        </p:blipFill>
        <p:spPr>
          <a:xfrm>
            <a:off x="4838037" y="3587805"/>
            <a:ext cx="6598920" cy="2597243"/>
          </a:xfrm>
          <a:prstGeom prst="rect">
            <a:avLst/>
          </a:prstGeom>
        </p:spPr>
      </p:pic>
      <p:sp>
        <p:nvSpPr>
          <p:cNvPr id="6" name="テキスト ボックス 5">
            <a:extLst>
              <a:ext uri="{FF2B5EF4-FFF2-40B4-BE49-F238E27FC236}">
                <a16:creationId xmlns:a16="http://schemas.microsoft.com/office/drawing/2014/main" id="{190D2752-4092-16F8-8FD7-5A5C6D8A0E79}"/>
              </a:ext>
            </a:extLst>
          </p:cNvPr>
          <p:cNvSpPr txBox="1"/>
          <p:nvPr/>
        </p:nvSpPr>
        <p:spPr>
          <a:xfrm>
            <a:off x="5620515" y="6185048"/>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図：各エージェントの役割</a:t>
            </a:r>
          </a:p>
        </p:txBody>
      </p:sp>
      <p:sp>
        <p:nvSpPr>
          <p:cNvPr id="8" name="テキスト ボックス 7">
            <a:extLst>
              <a:ext uri="{FF2B5EF4-FFF2-40B4-BE49-F238E27FC236}">
                <a16:creationId xmlns:a16="http://schemas.microsoft.com/office/drawing/2014/main" id="{312476F2-0A6E-B5DB-1E51-C2FFD50BE405}"/>
              </a:ext>
            </a:extLst>
          </p:cNvPr>
          <p:cNvSpPr txBox="1"/>
          <p:nvPr/>
        </p:nvSpPr>
        <p:spPr>
          <a:xfrm>
            <a:off x="931604" y="6244980"/>
            <a:ext cx="3781697"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図：モデルごとの解答精度の比較</a:t>
            </a:r>
          </a:p>
        </p:txBody>
      </p:sp>
      <p:sp>
        <p:nvSpPr>
          <p:cNvPr id="9" name="正方形/長方形 8">
            <a:extLst>
              <a:ext uri="{FF2B5EF4-FFF2-40B4-BE49-F238E27FC236}">
                <a16:creationId xmlns:a16="http://schemas.microsoft.com/office/drawing/2014/main" id="{A81DAFBB-70F9-57E1-DB51-352835E41B7E}"/>
              </a:ext>
            </a:extLst>
          </p:cNvPr>
          <p:cNvSpPr/>
          <p:nvPr/>
        </p:nvSpPr>
        <p:spPr>
          <a:xfrm>
            <a:off x="1446317" y="3962400"/>
            <a:ext cx="1950026" cy="22006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コンテンツ プレースホルダー 2">
            <a:extLst>
              <a:ext uri="{FF2B5EF4-FFF2-40B4-BE49-F238E27FC236}">
                <a16:creationId xmlns:a16="http://schemas.microsoft.com/office/drawing/2014/main" id="{7C8A2EBE-3293-6E36-2B66-521193891510}"/>
              </a:ext>
            </a:extLst>
          </p:cNvPr>
          <p:cNvSpPr txBox="1">
            <a:spLocks/>
          </p:cNvSpPr>
          <p:nvPr/>
        </p:nvSpPr>
        <p:spPr>
          <a:xfrm>
            <a:off x="1829112" y="3697867"/>
            <a:ext cx="11844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AutoGen</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67186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C8E3-9A7F-D0EE-10B6-11608E861A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306C32-BEA8-8E87-F45C-A63F694247CF}"/>
              </a:ext>
            </a:extLst>
          </p:cNvPr>
          <p:cNvSpPr>
            <a:spLocks noGrp="1"/>
          </p:cNvSpPr>
          <p:nvPr>
            <p:ph type="title"/>
          </p:nvPr>
        </p:nvSpPr>
        <p:spPr/>
        <p:txBody>
          <a:bodyPr/>
          <a:lstStyle/>
          <a:p>
            <a:r>
              <a:rPr kumimoji="1" lang="ja-JP" altLang="en-US"/>
              <a:t>適用例</a:t>
            </a:r>
            <a:r>
              <a:rPr kumimoji="1" lang="en-US" altLang="ja-JP" dirty="0"/>
              <a:t> </a:t>
            </a:r>
            <a:r>
              <a:rPr kumimoji="1" lang="en-US" altLang="ja-JP" sz="2400" dirty="0"/>
              <a:t>–</a:t>
            </a:r>
            <a:r>
              <a:rPr kumimoji="1" lang="ja-JP" altLang="en-US" sz="2400"/>
              <a:t>複数のエージェントを用いたコーディング</a:t>
            </a:r>
            <a:r>
              <a:rPr kumimoji="1" lang="en-US" altLang="ja-JP" sz="2400" dirty="0"/>
              <a:t>-</a:t>
            </a:r>
            <a:endParaRPr kumimoji="1" lang="ja-JP" altLang="en-US"/>
          </a:p>
        </p:txBody>
      </p:sp>
      <p:sp>
        <p:nvSpPr>
          <p:cNvPr id="3" name="コンテンツ プレースホルダー 2">
            <a:extLst>
              <a:ext uri="{FF2B5EF4-FFF2-40B4-BE49-F238E27FC236}">
                <a16:creationId xmlns:a16="http://schemas.microsoft.com/office/drawing/2014/main" id="{01175583-4747-2E89-E89B-5428B1E61F2D}"/>
              </a:ext>
            </a:extLst>
          </p:cNvPr>
          <p:cNvSpPr>
            <a:spLocks noGrp="1"/>
          </p:cNvSpPr>
          <p:nvPr>
            <p:ph idx="1"/>
          </p:nvPr>
        </p:nvSpPr>
        <p:spPr>
          <a:xfrm>
            <a:off x="838200" y="1043747"/>
            <a:ext cx="10515600" cy="2091340"/>
          </a:xfrm>
        </p:spPr>
        <p:txBody>
          <a:bodyPr>
            <a:normAutofit lnSpcReduction="10000"/>
          </a:bodyPr>
          <a:lstStyle/>
          <a:p>
            <a:r>
              <a:rPr kumimoji="1" lang="ja-JP" altLang="en-US" sz="2000"/>
              <a:t>最適化問題（サプライチェーンの最適化）の解決を支援するためのシステム</a:t>
            </a:r>
            <a:endParaRPr kumimoji="1" lang="en-US" altLang="ja-JP" sz="2000" dirty="0"/>
          </a:p>
          <a:p>
            <a:r>
              <a:rPr kumimoji="1" lang="en-US" altLang="ja-JP" sz="2000" dirty="0"/>
              <a:t>Commander, Writer, Safeguard</a:t>
            </a:r>
            <a:r>
              <a:rPr lang="en-US" altLang="ja-JP" sz="2000" dirty="0"/>
              <a:t> </a:t>
            </a:r>
            <a:r>
              <a:rPr lang="ja-JP" altLang="en-US" sz="2000"/>
              <a:t>の</a:t>
            </a:r>
            <a:r>
              <a:rPr lang="en-US" altLang="ja-JP" sz="2000" dirty="0"/>
              <a:t>3</a:t>
            </a:r>
            <a:r>
              <a:rPr lang="ja-JP" altLang="en-US" sz="2000"/>
              <a:t>つのエージェントによって構成される</a:t>
            </a:r>
            <a:endParaRPr lang="en-US" altLang="ja-JP" sz="2000" dirty="0"/>
          </a:p>
          <a:p>
            <a:r>
              <a:rPr lang="en-US" altLang="ja-JP" sz="2000" dirty="0"/>
              <a:t>Commander </a:t>
            </a:r>
            <a:r>
              <a:rPr lang="ja-JP" altLang="en-US" sz="2000"/>
              <a:t>はユーザーから質問を受け取る</a:t>
            </a:r>
            <a:endParaRPr lang="en-US" altLang="ja-JP" sz="2000" dirty="0"/>
          </a:p>
          <a:p>
            <a:r>
              <a:rPr lang="en-US" altLang="ja-JP" sz="2000" dirty="0"/>
              <a:t>Writer</a:t>
            </a:r>
            <a:r>
              <a:rPr lang="ja-JP" altLang="en-US" sz="2000"/>
              <a:t>はコードを作成し、</a:t>
            </a:r>
            <a:r>
              <a:rPr lang="en-US" altLang="ja-JP" sz="2000" dirty="0"/>
              <a:t>Safeguard</a:t>
            </a:r>
            <a:r>
              <a:rPr lang="ja-JP" altLang="en-US" sz="2000"/>
              <a:t>はコードの安全性を確認する。安全性が確認されたら</a:t>
            </a:r>
            <a:r>
              <a:rPr lang="en-US" altLang="ja-JP" sz="2000" dirty="0"/>
              <a:t>Commander </a:t>
            </a:r>
            <a:r>
              <a:rPr lang="ja-JP" altLang="en-US" sz="2000"/>
              <a:t>はコードを実行し、出力をユーザーへ送信する</a:t>
            </a:r>
            <a:endParaRPr lang="en-US" altLang="ja-JP" sz="2000" dirty="0"/>
          </a:p>
          <a:p>
            <a:r>
              <a:rPr lang="ja-JP" altLang="en-US" sz="2000"/>
              <a:t>コードの実行にエラーが出たら、再度</a:t>
            </a:r>
            <a:r>
              <a:rPr lang="en-US" altLang="ja-JP" sz="2000" dirty="0"/>
              <a:t>Writer</a:t>
            </a:r>
            <a:r>
              <a:rPr lang="ja-JP" altLang="en-US" sz="2000"/>
              <a:t>にコード生成を依頼することを繰り返す</a:t>
            </a:r>
            <a:endParaRPr lang="en-US" altLang="ja-JP" sz="2000" dirty="0"/>
          </a:p>
          <a:p>
            <a:endParaRPr kumimoji="1" lang="ja-JP" altLang="en-US" sz="2000"/>
          </a:p>
        </p:txBody>
      </p:sp>
      <p:sp>
        <p:nvSpPr>
          <p:cNvPr id="4" name="スライド番号プレースホルダー 3">
            <a:extLst>
              <a:ext uri="{FF2B5EF4-FFF2-40B4-BE49-F238E27FC236}">
                <a16:creationId xmlns:a16="http://schemas.microsoft.com/office/drawing/2014/main" id="{02E28079-E4E8-2A32-21B6-A663114EB26F}"/>
              </a:ext>
            </a:extLst>
          </p:cNvPr>
          <p:cNvSpPr>
            <a:spLocks noGrp="1"/>
          </p:cNvSpPr>
          <p:nvPr>
            <p:ph type="sldNum" sz="quarter" idx="12"/>
          </p:nvPr>
        </p:nvSpPr>
        <p:spPr/>
        <p:txBody>
          <a:bodyPr/>
          <a:lstStyle/>
          <a:p>
            <a:fld id="{83831D9A-33C3-294C-A83B-0D46C22888D2}" type="slidenum">
              <a:rPr kumimoji="1" lang="ja-JP" altLang="en-US" smtClean="0"/>
              <a:t>12</a:t>
            </a:fld>
            <a:endParaRPr kumimoji="1" lang="ja-JP" altLang="en-US"/>
          </a:p>
        </p:txBody>
      </p:sp>
      <p:pic>
        <p:nvPicPr>
          <p:cNvPr id="5" name="図 4" descr="グラフ, 棒グラフ&#10;&#10;自動的に生成された説明">
            <a:extLst>
              <a:ext uri="{FF2B5EF4-FFF2-40B4-BE49-F238E27FC236}">
                <a16:creationId xmlns:a16="http://schemas.microsoft.com/office/drawing/2014/main" id="{684A87AC-7C21-B386-0B10-6BA44BB0BE42}"/>
              </a:ext>
            </a:extLst>
          </p:cNvPr>
          <p:cNvPicPr>
            <a:picLocks noChangeAspect="1"/>
          </p:cNvPicPr>
          <p:nvPr/>
        </p:nvPicPr>
        <p:blipFill>
          <a:blip r:embed="rId2"/>
          <a:srcRect l="50064" t="50174" r="1196" b="6456"/>
          <a:stretch/>
        </p:blipFill>
        <p:spPr>
          <a:xfrm>
            <a:off x="1246651" y="3336181"/>
            <a:ext cx="3788228" cy="2789951"/>
          </a:xfrm>
          <a:prstGeom prst="rect">
            <a:avLst/>
          </a:prstGeom>
        </p:spPr>
      </p:pic>
      <p:pic>
        <p:nvPicPr>
          <p:cNvPr id="7" name="図 6" descr="ダイアグラム&#10;&#10;自動的に生成された説明">
            <a:extLst>
              <a:ext uri="{FF2B5EF4-FFF2-40B4-BE49-F238E27FC236}">
                <a16:creationId xmlns:a16="http://schemas.microsoft.com/office/drawing/2014/main" id="{1EB5F24C-3852-3D92-3200-42AA15707FBC}"/>
              </a:ext>
            </a:extLst>
          </p:cNvPr>
          <p:cNvPicPr>
            <a:picLocks noChangeAspect="1"/>
          </p:cNvPicPr>
          <p:nvPr/>
        </p:nvPicPr>
        <p:blipFill>
          <a:blip r:embed="rId3"/>
          <a:stretch>
            <a:fillRect/>
          </a:stretch>
        </p:blipFill>
        <p:spPr>
          <a:xfrm>
            <a:off x="5960551" y="3221887"/>
            <a:ext cx="5080000" cy="2781300"/>
          </a:xfrm>
          <a:prstGeom prst="rect">
            <a:avLst/>
          </a:prstGeom>
        </p:spPr>
      </p:pic>
      <p:sp>
        <p:nvSpPr>
          <p:cNvPr id="8" name="テキスト ボックス 7">
            <a:extLst>
              <a:ext uri="{FF2B5EF4-FFF2-40B4-BE49-F238E27FC236}">
                <a16:creationId xmlns:a16="http://schemas.microsoft.com/office/drawing/2014/main" id="{4161BF31-E441-40CA-D54A-6882CC99D2FC}"/>
              </a:ext>
            </a:extLst>
          </p:cNvPr>
          <p:cNvSpPr txBox="1"/>
          <p:nvPr/>
        </p:nvSpPr>
        <p:spPr>
          <a:xfrm>
            <a:off x="5936200" y="5933424"/>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図：各エージェントの役割</a:t>
            </a:r>
          </a:p>
        </p:txBody>
      </p:sp>
      <p:sp>
        <p:nvSpPr>
          <p:cNvPr id="9" name="テキスト ボックス 8">
            <a:extLst>
              <a:ext uri="{FF2B5EF4-FFF2-40B4-BE49-F238E27FC236}">
                <a16:creationId xmlns:a16="http://schemas.microsoft.com/office/drawing/2014/main" id="{B40AA722-2B9A-E018-9B16-F0F5E63F1B33}"/>
              </a:ext>
            </a:extLst>
          </p:cNvPr>
          <p:cNvSpPr txBox="1"/>
          <p:nvPr/>
        </p:nvSpPr>
        <p:spPr>
          <a:xfrm>
            <a:off x="1247289" y="5993356"/>
            <a:ext cx="3781697"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図：モデルごとの解答精度の比較</a:t>
            </a:r>
          </a:p>
        </p:txBody>
      </p:sp>
      <p:sp>
        <p:nvSpPr>
          <p:cNvPr id="10" name="正方形/長方形 9">
            <a:extLst>
              <a:ext uri="{FF2B5EF4-FFF2-40B4-BE49-F238E27FC236}">
                <a16:creationId xmlns:a16="http://schemas.microsoft.com/office/drawing/2014/main" id="{22B1D739-4186-3703-4CA9-90AC9C1207A5}"/>
              </a:ext>
            </a:extLst>
          </p:cNvPr>
          <p:cNvSpPr/>
          <p:nvPr/>
        </p:nvSpPr>
        <p:spPr>
          <a:xfrm>
            <a:off x="1737719" y="3673812"/>
            <a:ext cx="382795" cy="20132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コンテンツ プレースホルダー 2">
            <a:extLst>
              <a:ext uri="{FF2B5EF4-FFF2-40B4-BE49-F238E27FC236}">
                <a16:creationId xmlns:a16="http://schemas.microsoft.com/office/drawing/2014/main" id="{411329EA-36F4-0699-997B-48089698DE33}"/>
              </a:ext>
            </a:extLst>
          </p:cNvPr>
          <p:cNvSpPr txBox="1">
            <a:spLocks/>
          </p:cNvSpPr>
          <p:nvPr/>
        </p:nvSpPr>
        <p:spPr>
          <a:xfrm>
            <a:off x="2241094" y="3339900"/>
            <a:ext cx="1184435"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rgbClr val="FF0000"/>
                </a:solidFill>
                <a:latin typeface="Hiragino Sans W6" panose="020B0400000000000000" pitchFamily="34" charset="-128"/>
                <a:ea typeface="Hiragino Sans W6" panose="020B0400000000000000" pitchFamily="34" charset="-128"/>
              </a:rPr>
              <a:t>AutoGen</a:t>
            </a:r>
            <a:endParaRPr lang="ja-JP" altLang="en-US" sz="1600" b="1">
              <a:solidFill>
                <a:srgbClr val="FF0000"/>
              </a:solidFill>
              <a:latin typeface="Hiragino Sans W6" panose="020B0400000000000000" pitchFamily="34" charset="-128"/>
              <a:ea typeface="Hiragino Sans W6" panose="020B0400000000000000" pitchFamily="34" charset="-128"/>
            </a:endParaRPr>
          </a:p>
        </p:txBody>
      </p:sp>
      <p:sp>
        <p:nvSpPr>
          <p:cNvPr id="12" name="正方形/長方形 11">
            <a:extLst>
              <a:ext uri="{FF2B5EF4-FFF2-40B4-BE49-F238E27FC236}">
                <a16:creationId xmlns:a16="http://schemas.microsoft.com/office/drawing/2014/main" id="{92527091-23BF-0C84-0101-91B837B24B47}"/>
              </a:ext>
            </a:extLst>
          </p:cNvPr>
          <p:cNvSpPr/>
          <p:nvPr/>
        </p:nvSpPr>
        <p:spPr>
          <a:xfrm>
            <a:off x="3386299" y="3673812"/>
            <a:ext cx="382795" cy="20132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73399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1F83-9DF1-422F-01B1-DE57AC18CA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430BA7-C940-AE4B-6242-1055189B9CB6}"/>
              </a:ext>
            </a:extLst>
          </p:cNvPr>
          <p:cNvSpPr>
            <a:spLocks noGrp="1"/>
          </p:cNvSpPr>
          <p:nvPr>
            <p:ph type="title"/>
          </p:nvPr>
        </p:nvSpPr>
        <p:spPr/>
        <p:txBody>
          <a:bodyPr/>
          <a:lstStyle/>
          <a:p>
            <a:r>
              <a:rPr lang="ja-JP" altLang="en-US"/>
              <a:t>結論</a:t>
            </a:r>
            <a:endParaRPr kumimoji="1" lang="ja-JP" altLang="en-US"/>
          </a:p>
        </p:txBody>
      </p:sp>
      <p:sp>
        <p:nvSpPr>
          <p:cNvPr id="3" name="コンテンツ プレースホルダー 2">
            <a:extLst>
              <a:ext uri="{FF2B5EF4-FFF2-40B4-BE49-F238E27FC236}">
                <a16:creationId xmlns:a16="http://schemas.microsoft.com/office/drawing/2014/main" id="{BE3086C0-D243-5A9F-4ED5-6E71049348B0}"/>
              </a:ext>
            </a:extLst>
          </p:cNvPr>
          <p:cNvSpPr>
            <a:spLocks noGrp="1"/>
          </p:cNvSpPr>
          <p:nvPr>
            <p:ph idx="1"/>
          </p:nvPr>
        </p:nvSpPr>
        <p:spPr>
          <a:xfrm>
            <a:off x="838200" y="1018692"/>
            <a:ext cx="10515600" cy="5430796"/>
          </a:xfrm>
        </p:spPr>
        <p:txBody>
          <a:bodyPr>
            <a:normAutofit/>
          </a:bodyPr>
          <a:lstStyle/>
          <a:p>
            <a:r>
              <a:rPr kumimoji="1" lang="en-US" altLang="ja-JP" sz="2200" dirty="0"/>
              <a:t>AutoGen</a:t>
            </a:r>
            <a:r>
              <a:rPr kumimoji="1" lang="ja-JP" altLang="en-US" sz="2200"/>
              <a:t>は会話エージェントと会話型のプログラミングの概念を導入し、</a:t>
            </a:r>
            <a:r>
              <a:rPr kumimoji="1" lang="en-US" altLang="ja-JP" sz="2200" dirty="0"/>
              <a:t>LLM</a:t>
            </a:r>
            <a:r>
              <a:rPr kumimoji="1" lang="ja-JP" altLang="en-US" sz="2200"/>
              <a:t>のアプリケーション開発の新たな手法になり得る</a:t>
            </a:r>
            <a:endParaRPr kumimoji="1" lang="en-US" altLang="ja-JP" sz="2200" dirty="0"/>
          </a:p>
          <a:p>
            <a:endParaRPr kumimoji="1" lang="en-US" altLang="ja-JP" sz="2200" dirty="0"/>
          </a:p>
          <a:p>
            <a:r>
              <a:rPr kumimoji="1" lang="en-US" altLang="ja-JP" sz="2200" dirty="0"/>
              <a:t>AutoGen</a:t>
            </a:r>
            <a:r>
              <a:rPr kumimoji="1" lang="ja-JP" altLang="en-US" sz="2200"/>
              <a:t>は以下の点で、アプリケーション開発のメリットをもたらす</a:t>
            </a:r>
            <a:endParaRPr kumimoji="1" lang="en-US" altLang="ja-JP" sz="2200" dirty="0"/>
          </a:p>
          <a:p>
            <a:pPr marL="914400" lvl="1" indent="-457200">
              <a:buFont typeface="+mj-lt"/>
              <a:buAutoNum type="arabicPeriod"/>
            </a:pPr>
            <a:r>
              <a:rPr kumimoji="1" lang="ja-JP" altLang="en-US" sz="1800" b="1">
                <a:latin typeface="Hiragino Sans W6" panose="020B0400000000000000" pitchFamily="34" charset="-128"/>
                <a:ea typeface="Hiragino Sans W6" panose="020B0400000000000000" pitchFamily="34" charset="-128"/>
              </a:rPr>
              <a:t>ユーザーフレンドリーな設計</a:t>
            </a:r>
            <a:r>
              <a:rPr kumimoji="1" lang="ja-JP" altLang="en-US" sz="1800"/>
              <a:t>：エージェントを構成するプロンプトやコードをユーザー自身が変更しなくとも、</a:t>
            </a:r>
            <a:r>
              <a:rPr kumimoji="1" lang="en-US" altLang="ja-JP" sz="1800" dirty="0"/>
              <a:t>AutoGen</a:t>
            </a:r>
            <a:r>
              <a:rPr kumimoji="1" lang="ja-JP" altLang="en-US" sz="1800"/>
              <a:t>を活用することができる</a:t>
            </a:r>
            <a:endParaRPr kumimoji="1" lang="en-US" altLang="ja-JP" sz="1800" dirty="0"/>
          </a:p>
          <a:p>
            <a:pPr marL="914400" lvl="1" indent="-457200">
              <a:buFont typeface="+mj-lt"/>
              <a:buAutoNum type="arabicPeriod"/>
            </a:pPr>
            <a:r>
              <a:rPr kumimoji="1" lang="ja-JP" altLang="en-US" sz="1800" b="1">
                <a:latin typeface="Hiragino Sans W6" panose="020B0400000000000000" pitchFamily="34" charset="-128"/>
                <a:ea typeface="Hiragino Sans W6" panose="020B0400000000000000" pitchFamily="34" charset="-128"/>
              </a:rPr>
              <a:t>カスタマイズ性</a:t>
            </a:r>
            <a:r>
              <a:rPr kumimoji="1" lang="ja-JP" altLang="en-US" sz="1800"/>
              <a:t>：エージェントの役割や数を調整し、特定のニーズを満たすシステムを構築することができる</a:t>
            </a:r>
            <a:endParaRPr kumimoji="1" lang="en-US" altLang="ja-JP" sz="1800" dirty="0"/>
          </a:p>
          <a:p>
            <a:pPr marL="914400" lvl="1" indent="-457200">
              <a:buFont typeface="+mj-lt"/>
              <a:buAutoNum type="arabicPeriod"/>
            </a:pPr>
            <a:r>
              <a:rPr lang="ja-JP" altLang="en-US" sz="1800" b="1">
                <a:latin typeface="Hiragino Sans W6" panose="020B0400000000000000" pitchFamily="34" charset="-128"/>
                <a:ea typeface="Hiragino Sans W6" panose="020B0400000000000000" pitchFamily="34" charset="-128"/>
              </a:rPr>
              <a:t>モジュール性</a:t>
            </a:r>
            <a:r>
              <a:rPr lang="ja-JP" altLang="en-US" sz="1800"/>
              <a:t>：タスクを個別のエージェントに分割することで、システムのモジュール性を高めることができる</a:t>
            </a:r>
            <a:endParaRPr kumimoji="1" lang="en-US" altLang="ja-JP" sz="1800" dirty="0"/>
          </a:p>
          <a:p>
            <a:pPr marL="914400" lvl="1" indent="-457200">
              <a:buFont typeface="+mj-lt"/>
              <a:buAutoNum type="arabicPeriod"/>
            </a:pPr>
            <a:r>
              <a:rPr lang="ja-JP" altLang="en-US" sz="1800" b="1">
                <a:latin typeface="Hiragino Sans W6" panose="020B0400000000000000" pitchFamily="34" charset="-128"/>
                <a:ea typeface="Hiragino Sans W6" panose="020B0400000000000000" pitchFamily="34" charset="-128"/>
              </a:rPr>
              <a:t>人間の介在の許容</a:t>
            </a:r>
            <a:r>
              <a:rPr lang="ja-JP" altLang="en-US" sz="1800"/>
              <a:t>：エージェントだけでは解決できない課題には、人間の知識を活用できるシステムが構築できる</a:t>
            </a:r>
            <a:endParaRPr lang="en-US" altLang="ja-JP" sz="1800" dirty="0"/>
          </a:p>
          <a:p>
            <a:endParaRPr kumimoji="1" lang="en-US" altLang="ja-JP" sz="2200" dirty="0"/>
          </a:p>
          <a:p>
            <a:r>
              <a:rPr kumimoji="1" lang="ja-JP" altLang="en-US" sz="2200"/>
              <a:t>チーム内でのエージェント行動の研究</a:t>
            </a:r>
            <a:r>
              <a:rPr kumimoji="1" lang="en-US" altLang="ja-JP" sz="1600" dirty="0"/>
              <a:t>[Guo et al.,2024]</a:t>
            </a:r>
            <a:r>
              <a:rPr kumimoji="1" lang="ja-JP" altLang="en-US" sz="2200"/>
              <a:t>や機械工学</a:t>
            </a:r>
            <a:r>
              <a:rPr kumimoji="1" lang="en-US" altLang="ja-JP" sz="1600" dirty="0"/>
              <a:t>[Ni &amp; Buehler,2023]</a:t>
            </a:r>
            <a:r>
              <a:rPr kumimoji="1" lang="ja-JP" altLang="en-US" sz="2200"/>
              <a:t>、タンパク質の発見</a:t>
            </a:r>
            <a:r>
              <a:rPr kumimoji="1" lang="en-US" altLang="ja-JP" sz="1600" dirty="0"/>
              <a:t>[</a:t>
            </a:r>
            <a:r>
              <a:rPr kumimoji="1" lang="en-US" altLang="ja-JP" sz="1600" dirty="0" err="1"/>
              <a:t>Ghafarollahi</a:t>
            </a:r>
            <a:r>
              <a:rPr kumimoji="1" lang="en-US" altLang="ja-JP" sz="1600" dirty="0"/>
              <a:t> &amp; Buehler, 2024]</a:t>
            </a:r>
            <a:r>
              <a:rPr kumimoji="1" lang="ja-JP" altLang="en-US" sz="2200"/>
              <a:t>など、既に多様な分野で活用されている。今後も多くの領域に拡張されることが期待される</a:t>
            </a:r>
            <a:endParaRPr kumimoji="1" lang="en-US" altLang="ja-JP" sz="2200" dirty="0"/>
          </a:p>
          <a:p>
            <a:endParaRPr kumimoji="1" lang="ja-JP" altLang="en-US" sz="2200"/>
          </a:p>
        </p:txBody>
      </p:sp>
      <p:sp>
        <p:nvSpPr>
          <p:cNvPr id="4" name="スライド番号プレースホルダー 3">
            <a:extLst>
              <a:ext uri="{FF2B5EF4-FFF2-40B4-BE49-F238E27FC236}">
                <a16:creationId xmlns:a16="http://schemas.microsoft.com/office/drawing/2014/main" id="{78C8DB29-7575-287B-1171-CE8EB50D5AD3}"/>
              </a:ext>
            </a:extLst>
          </p:cNvPr>
          <p:cNvSpPr>
            <a:spLocks noGrp="1"/>
          </p:cNvSpPr>
          <p:nvPr>
            <p:ph type="sldNum" sz="quarter" idx="12"/>
          </p:nvPr>
        </p:nvSpPr>
        <p:spPr/>
        <p:txBody>
          <a:bodyPr/>
          <a:lstStyle/>
          <a:p>
            <a:fld id="{83831D9A-33C3-294C-A83B-0D46C22888D2}" type="slidenum">
              <a:rPr kumimoji="1" lang="ja-JP" altLang="en-US" smtClean="0"/>
              <a:t>13</a:t>
            </a:fld>
            <a:endParaRPr kumimoji="1" lang="ja-JP" altLang="en-US"/>
          </a:p>
        </p:txBody>
      </p:sp>
    </p:spTree>
    <p:extLst>
      <p:ext uri="{BB962C8B-B14F-4D97-AF65-F5344CB8AC3E}">
        <p14:creationId xmlns:p14="http://schemas.microsoft.com/office/powerpoint/2010/main" val="22390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47CEC-3CB4-3D68-80B3-8EF0BC0F19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38C77D-BC04-68D6-F26C-74E6B7EE7436}"/>
              </a:ext>
            </a:extLst>
          </p:cNvPr>
          <p:cNvSpPr>
            <a:spLocks noGrp="1"/>
          </p:cNvSpPr>
          <p:nvPr>
            <p:ph type="title"/>
          </p:nvPr>
        </p:nvSpPr>
        <p:spPr/>
        <p:txBody>
          <a:bodyPr/>
          <a:lstStyle/>
          <a:p>
            <a:r>
              <a:rPr lang="ja-JP" altLang="en-US"/>
              <a:t>実験</a:t>
            </a:r>
            <a:r>
              <a:rPr lang="en-US" altLang="ja-JP" dirty="0"/>
              <a:t> </a:t>
            </a:r>
            <a:r>
              <a:rPr lang="en-US" altLang="ja-JP" sz="2400" dirty="0"/>
              <a:t>–</a:t>
            </a:r>
            <a:r>
              <a:rPr lang="ja-JP" altLang="en-US" sz="2400"/>
              <a:t>株価推移出力</a:t>
            </a:r>
            <a:r>
              <a:rPr lang="en-US" altLang="ja-JP" sz="2400" dirty="0"/>
              <a:t>-</a:t>
            </a:r>
            <a:endParaRPr kumimoji="1" lang="ja-JP" altLang="en-US"/>
          </a:p>
        </p:txBody>
      </p:sp>
      <p:sp>
        <p:nvSpPr>
          <p:cNvPr id="3" name="コンテンツ プレースホルダー 2">
            <a:extLst>
              <a:ext uri="{FF2B5EF4-FFF2-40B4-BE49-F238E27FC236}">
                <a16:creationId xmlns:a16="http://schemas.microsoft.com/office/drawing/2014/main" id="{B0DE906D-4B5E-1497-96C2-16788000E0D7}"/>
              </a:ext>
            </a:extLst>
          </p:cNvPr>
          <p:cNvSpPr>
            <a:spLocks noGrp="1"/>
          </p:cNvSpPr>
          <p:nvPr>
            <p:ph idx="1"/>
          </p:nvPr>
        </p:nvSpPr>
        <p:spPr/>
        <p:txBody>
          <a:bodyPr/>
          <a:lstStyle/>
          <a:p>
            <a:r>
              <a:rPr kumimoji="1" lang="en-US" altLang="ja-JP" dirty="0"/>
              <a:t>Nvidia</a:t>
            </a:r>
            <a:r>
              <a:rPr kumimoji="1" lang="ja-JP" altLang="en-US"/>
              <a:t>と</a:t>
            </a:r>
            <a:r>
              <a:rPr lang="en-US" altLang="ja-JP" dirty="0"/>
              <a:t>Tesla</a:t>
            </a:r>
            <a:r>
              <a:rPr lang="ja-JP" altLang="en-US"/>
              <a:t>の株価を出力させる</a:t>
            </a:r>
            <a:endParaRPr lang="en-US" altLang="ja-JP" dirty="0"/>
          </a:p>
          <a:p>
            <a:r>
              <a:rPr kumimoji="1" lang="en-US" altLang="ja-JP" dirty="0"/>
              <a:t>A</a:t>
            </a:r>
            <a:r>
              <a:rPr lang="en-US" altLang="ja-JP" dirty="0"/>
              <a:t>ssistant </a:t>
            </a:r>
            <a:r>
              <a:rPr lang="ja-JP" altLang="en-US"/>
              <a:t>と</a:t>
            </a:r>
            <a:r>
              <a:rPr lang="en-US" altLang="ja-JP" dirty="0"/>
              <a:t> User Proxy </a:t>
            </a:r>
            <a:r>
              <a:rPr lang="ja-JP" altLang="en-US"/>
              <a:t>の二つのエージェントを用いる</a:t>
            </a:r>
            <a:endParaRPr kumimoji="1" lang="ja-JP" altLang="en-US"/>
          </a:p>
        </p:txBody>
      </p:sp>
      <p:sp>
        <p:nvSpPr>
          <p:cNvPr id="4" name="スライド番号プレースホルダー 3">
            <a:extLst>
              <a:ext uri="{FF2B5EF4-FFF2-40B4-BE49-F238E27FC236}">
                <a16:creationId xmlns:a16="http://schemas.microsoft.com/office/drawing/2014/main" id="{A3D9E134-B259-DDF3-47F1-D2D573CBB041}"/>
              </a:ext>
            </a:extLst>
          </p:cNvPr>
          <p:cNvSpPr>
            <a:spLocks noGrp="1"/>
          </p:cNvSpPr>
          <p:nvPr>
            <p:ph type="sldNum" sz="quarter" idx="12"/>
          </p:nvPr>
        </p:nvSpPr>
        <p:spPr/>
        <p:txBody>
          <a:bodyPr/>
          <a:lstStyle/>
          <a:p>
            <a:fld id="{83831D9A-33C3-294C-A83B-0D46C22888D2}" type="slidenum">
              <a:rPr kumimoji="1" lang="ja-JP" altLang="en-US" smtClean="0"/>
              <a:t>14</a:t>
            </a:fld>
            <a:endParaRPr kumimoji="1" lang="ja-JP" altLang="en-US"/>
          </a:p>
        </p:txBody>
      </p:sp>
      <p:pic>
        <p:nvPicPr>
          <p:cNvPr id="6" name="図 5" descr="テキスト&#10;&#10;自動的に生成された説明">
            <a:extLst>
              <a:ext uri="{FF2B5EF4-FFF2-40B4-BE49-F238E27FC236}">
                <a16:creationId xmlns:a16="http://schemas.microsoft.com/office/drawing/2014/main" id="{78CDE120-317D-E56F-93C0-0DE4D36B0AA2}"/>
              </a:ext>
            </a:extLst>
          </p:cNvPr>
          <p:cNvPicPr>
            <a:picLocks noChangeAspect="1"/>
          </p:cNvPicPr>
          <p:nvPr/>
        </p:nvPicPr>
        <p:blipFill>
          <a:blip r:embed="rId2"/>
          <a:stretch>
            <a:fillRect/>
          </a:stretch>
        </p:blipFill>
        <p:spPr>
          <a:xfrm>
            <a:off x="478790" y="2140970"/>
            <a:ext cx="11234420" cy="3899109"/>
          </a:xfrm>
          <a:prstGeom prst="rect">
            <a:avLst/>
          </a:prstGeom>
        </p:spPr>
      </p:pic>
      <p:cxnSp>
        <p:nvCxnSpPr>
          <p:cNvPr id="10" name="直線矢印コネクタ 9">
            <a:extLst>
              <a:ext uri="{FF2B5EF4-FFF2-40B4-BE49-F238E27FC236}">
                <a16:creationId xmlns:a16="http://schemas.microsoft.com/office/drawing/2014/main" id="{95CD36F1-0CE4-9FB6-BE09-6622B673FA44}"/>
              </a:ext>
            </a:extLst>
          </p:cNvPr>
          <p:cNvCxnSpPr/>
          <p:nvPr/>
        </p:nvCxnSpPr>
        <p:spPr>
          <a:xfrm>
            <a:off x="6096000" y="3468110"/>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1" name="コンテンツ プレースホルダー 2">
            <a:extLst>
              <a:ext uri="{FF2B5EF4-FFF2-40B4-BE49-F238E27FC236}">
                <a16:creationId xmlns:a16="http://schemas.microsoft.com/office/drawing/2014/main" id="{F61EDB47-3C58-4F17-04EF-E3E0B56E9CA9}"/>
              </a:ext>
            </a:extLst>
          </p:cNvPr>
          <p:cNvSpPr txBox="1">
            <a:spLocks/>
          </p:cNvSpPr>
          <p:nvPr/>
        </p:nvSpPr>
        <p:spPr>
          <a:xfrm>
            <a:off x="6917265" y="3285547"/>
            <a:ext cx="2701297"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Agent</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cxnSp>
        <p:nvCxnSpPr>
          <p:cNvPr id="12" name="直線矢印コネクタ 11">
            <a:extLst>
              <a:ext uri="{FF2B5EF4-FFF2-40B4-BE49-F238E27FC236}">
                <a16:creationId xmlns:a16="http://schemas.microsoft.com/office/drawing/2014/main" id="{D958B60B-AE31-645B-C658-5020E69EB7E3}"/>
              </a:ext>
            </a:extLst>
          </p:cNvPr>
          <p:cNvCxnSpPr/>
          <p:nvPr/>
        </p:nvCxnSpPr>
        <p:spPr>
          <a:xfrm>
            <a:off x="3204259" y="3933026"/>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コンテンツ プレースホルダー 2">
            <a:extLst>
              <a:ext uri="{FF2B5EF4-FFF2-40B4-BE49-F238E27FC236}">
                <a16:creationId xmlns:a16="http://schemas.microsoft.com/office/drawing/2014/main" id="{D1DB332F-AE29-B05D-6814-CE8458895C16}"/>
              </a:ext>
            </a:extLst>
          </p:cNvPr>
          <p:cNvSpPr txBox="1">
            <a:spLocks/>
          </p:cNvSpPr>
          <p:nvPr/>
        </p:nvSpPr>
        <p:spPr>
          <a:xfrm>
            <a:off x="4081468" y="3750463"/>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User Proxy Agent</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sp>
        <p:nvSpPr>
          <p:cNvPr id="14" name="コンテンツ プレースホルダー 2">
            <a:extLst>
              <a:ext uri="{FF2B5EF4-FFF2-40B4-BE49-F238E27FC236}">
                <a16:creationId xmlns:a16="http://schemas.microsoft.com/office/drawing/2014/main" id="{1A8FB705-90DD-CA13-8801-793582306404}"/>
              </a:ext>
            </a:extLst>
          </p:cNvPr>
          <p:cNvSpPr txBox="1">
            <a:spLocks/>
          </p:cNvSpPr>
          <p:nvPr/>
        </p:nvSpPr>
        <p:spPr>
          <a:xfrm>
            <a:off x="3567101" y="4321438"/>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a:solidFill>
                  <a:schemeClr val="bg1"/>
                </a:solidFill>
                <a:latin typeface="Hiragino Sans W6" panose="020B0400000000000000" pitchFamily="34" charset="-128"/>
                <a:ea typeface="Hiragino Sans W6" panose="020B0400000000000000" pitchFamily="34" charset="-128"/>
              </a:rPr>
              <a:t>コードの実行環境に関する設定</a:t>
            </a:r>
          </a:p>
        </p:txBody>
      </p:sp>
      <p:cxnSp>
        <p:nvCxnSpPr>
          <p:cNvPr id="20" name="直線コネクタ 19">
            <a:extLst>
              <a:ext uri="{FF2B5EF4-FFF2-40B4-BE49-F238E27FC236}">
                <a16:creationId xmlns:a16="http://schemas.microsoft.com/office/drawing/2014/main" id="{F69DA180-8E3C-2906-633E-DA27C7DDC924}"/>
              </a:ext>
            </a:extLst>
          </p:cNvPr>
          <p:cNvCxnSpPr/>
          <p:nvPr/>
        </p:nvCxnSpPr>
        <p:spPr>
          <a:xfrm>
            <a:off x="930966" y="4288099"/>
            <a:ext cx="9647387"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6C107DC2-B151-554E-D419-694A0C1FF894}"/>
              </a:ext>
            </a:extLst>
          </p:cNvPr>
          <p:cNvSpPr txBox="1"/>
          <p:nvPr/>
        </p:nvSpPr>
        <p:spPr>
          <a:xfrm>
            <a:off x="3344104" y="6080156"/>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lang="ja-JP" altLang="en-US">
                <a:latin typeface="Hiragino Sans W4" panose="020B0400000000000000" pitchFamily="34" charset="-128"/>
                <a:ea typeface="Hiragino Sans W4" panose="020B0400000000000000" pitchFamily="34" charset="-128"/>
              </a:rPr>
              <a:t>コードの内容</a:t>
            </a:r>
            <a:endParaRPr kumimoji="1" lang="ja-JP" altLang="en-US">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23522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DA55-1FC9-9FF9-2E65-80889E9D6F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3DCCC9-5E2E-1E3E-F341-DE3388CFF6D3}"/>
              </a:ext>
            </a:extLst>
          </p:cNvPr>
          <p:cNvSpPr>
            <a:spLocks noGrp="1"/>
          </p:cNvSpPr>
          <p:nvPr>
            <p:ph type="title"/>
          </p:nvPr>
        </p:nvSpPr>
        <p:spPr/>
        <p:txBody>
          <a:bodyPr/>
          <a:lstStyle/>
          <a:p>
            <a:r>
              <a:rPr lang="ja-JP" altLang="en-US"/>
              <a:t>実験</a:t>
            </a:r>
            <a:endParaRPr kumimoji="1" lang="ja-JP" altLang="en-US"/>
          </a:p>
        </p:txBody>
      </p:sp>
      <p:sp>
        <p:nvSpPr>
          <p:cNvPr id="3" name="コンテンツ プレースホルダー 2">
            <a:extLst>
              <a:ext uri="{FF2B5EF4-FFF2-40B4-BE49-F238E27FC236}">
                <a16:creationId xmlns:a16="http://schemas.microsoft.com/office/drawing/2014/main" id="{FF6B6858-D518-8462-C2C3-A7CD6E2BA456}"/>
              </a:ext>
            </a:extLst>
          </p:cNvPr>
          <p:cNvSpPr>
            <a:spLocks noGrp="1"/>
          </p:cNvSpPr>
          <p:nvPr>
            <p:ph idx="1"/>
          </p:nvPr>
        </p:nvSpPr>
        <p:spPr>
          <a:xfrm>
            <a:off x="838200" y="990817"/>
            <a:ext cx="10515600" cy="1417002"/>
          </a:xfrm>
        </p:spPr>
        <p:txBody>
          <a:bodyPr>
            <a:normAutofit fontScale="92500" lnSpcReduction="10000"/>
          </a:bodyPr>
          <a:lstStyle/>
          <a:p>
            <a:r>
              <a:rPr kumimoji="1" lang="en-US" altLang="ja-JP" sz="2000" dirty="0"/>
              <a:t>Nvidia</a:t>
            </a:r>
            <a:r>
              <a:rPr kumimoji="1" lang="ja-JP" altLang="en-US" sz="2000"/>
              <a:t>と</a:t>
            </a:r>
            <a:r>
              <a:rPr lang="en-US" altLang="ja-JP" sz="2000" dirty="0"/>
              <a:t>Tesla</a:t>
            </a:r>
            <a:r>
              <a:rPr lang="ja-JP" altLang="en-US" sz="2000"/>
              <a:t>の株価を出力させる</a:t>
            </a:r>
            <a:endParaRPr lang="en-US" altLang="ja-JP" sz="2000" dirty="0"/>
          </a:p>
          <a:p>
            <a:r>
              <a:rPr lang="ja-JP" altLang="en-US" sz="2000"/>
              <a:t>ユーザーとの対話の中で、グラフの出力や形式を変更することができる</a:t>
            </a:r>
            <a:endParaRPr lang="en-US" altLang="ja-JP" sz="2000" dirty="0"/>
          </a:p>
          <a:p>
            <a:r>
              <a:rPr lang="en-US" altLang="ja-JP" sz="2000" dirty="0"/>
              <a:t>Coding </a:t>
            </a:r>
            <a:r>
              <a:rPr lang="ja-JP" altLang="en-US" sz="2000"/>
              <a:t>フォルダ直下に、株価推移の画像ファイルと</a:t>
            </a:r>
            <a:r>
              <a:rPr lang="en-US" altLang="ja-JP" sz="2000" dirty="0"/>
              <a:t>python</a:t>
            </a:r>
            <a:r>
              <a:rPr lang="ja-JP" altLang="en-US" sz="2000"/>
              <a:t>コードが出力される</a:t>
            </a:r>
            <a:endParaRPr lang="en-US" altLang="ja-JP" sz="2000" dirty="0"/>
          </a:p>
          <a:p>
            <a:r>
              <a:rPr lang="ja-JP" altLang="en-US" sz="2000"/>
              <a:t>実際の株価推移とも一致し、正しく機能していることが確認される</a:t>
            </a:r>
            <a:endParaRPr lang="en-US" altLang="ja-JP" sz="2000" dirty="0"/>
          </a:p>
        </p:txBody>
      </p:sp>
      <p:sp>
        <p:nvSpPr>
          <p:cNvPr id="4" name="スライド番号プレースホルダー 3">
            <a:extLst>
              <a:ext uri="{FF2B5EF4-FFF2-40B4-BE49-F238E27FC236}">
                <a16:creationId xmlns:a16="http://schemas.microsoft.com/office/drawing/2014/main" id="{47CD08F5-5322-51C8-F661-0301FDA4AC96}"/>
              </a:ext>
            </a:extLst>
          </p:cNvPr>
          <p:cNvSpPr>
            <a:spLocks noGrp="1"/>
          </p:cNvSpPr>
          <p:nvPr>
            <p:ph type="sldNum" sz="quarter" idx="12"/>
          </p:nvPr>
        </p:nvSpPr>
        <p:spPr/>
        <p:txBody>
          <a:bodyPr/>
          <a:lstStyle/>
          <a:p>
            <a:fld id="{83831D9A-33C3-294C-A83B-0D46C22888D2}" type="slidenum">
              <a:rPr kumimoji="1" lang="ja-JP" altLang="en-US" smtClean="0"/>
              <a:t>15</a:t>
            </a:fld>
            <a:endParaRPr kumimoji="1" lang="ja-JP" altLang="en-US"/>
          </a:p>
        </p:txBody>
      </p:sp>
      <p:pic>
        <p:nvPicPr>
          <p:cNvPr id="9" name="図 8" descr="グラフ, 折れ線グラフ&#10;&#10;自動的に生成された説明">
            <a:extLst>
              <a:ext uri="{FF2B5EF4-FFF2-40B4-BE49-F238E27FC236}">
                <a16:creationId xmlns:a16="http://schemas.microsoft.com/office/drawing/2014/main" id="{DB802A06-D685-C0E1-1C76-5A49F5662CD8}"/>
              </a:ext>
            </a:extLst>
          </p:cNvPr>
          <p:cNvPicPr>
            <a:picLocks noChangeAspect="1"/>
          </p:cNvPicPr>
          <p:nvPr/>
        </p:nvPicPr>
        <p:blipFill>
          <a:blip r:embed="rId3"/>
          <a:stretch>
            <a:fillRect/>
          </a:stretch>
        </p:blipFill>
        <p:spPr>
          <a:xfrm>
            <a:off x="72797" y="2546113"/>
            <a:ext cx="6591614" cy="3295807"/>
          </a:xfrm>
          <a:prstGeom prst="rect">
            <a:avLst/>
          </a:prstGeom>
        </p:spPr>
      </p:pic>
      <p:pic>
        <p:nvPicPr>
          <p:cNvPr id="16" name="図 15" descr="グラフ, 折れ線グラフ&#10;&#10;自動的に生成された説明">
            <a:extLst>
              <a:ext uri="{FF2B5EF4-FFF2-40B4-BE49-F238E27FC236}">
                <a16:creationId xmlns:a16="http://schemas.microsoft.com/office/drawing/2014/main" id="{6D102FD1-6DF1-6E35-7AAF-6FDD7E04AAD4}"/>
              </a:ext>
            </a:extLst>
          </p:cNvPr>
          <p:cNvPicPr>
            <a:picLocks noChangeAspect="1"/>
          </p:cNvPicPr>
          <p:nvPr/>
        </p:nvPicPr>
        <p:blipFill>
          <a:blip r:embed="rId4"/>
          <a:stretch>
            <a:fillRect/>
          </a:stretch>
        </p:blipFill>
        <p:spPr>
          <a:xfrm>
            <a:off x="6664411" y="2511906"/>
            <a:ext cx="4457235" cy="1905485"/>
          </a:xfrm>
          <a:prstGeom prst="rect">
            <a:avLst/>
          </a:prstGeom>
        </p:spPr>
      </p:pic>
      <p:pic>
        <p:nvPicPr>
          <p:cNvPr id="18" name="図 17" descr="折れ線グラフ&#10;&#10;自動的に生成された説明">
            <a:extLst>
              <a:ext uri="{FF2B5EF4-FFF2-40B4-BE49-F238E27FC236}">
                <a16:creationId xmlns:a16="http://schemas.microsoft.com/office/drawing/2014/main" id="{7D858C89-CD86-8FAC-C4E5-5FD2E06FB054}"/>
              </a:ext>
            </a:extLst>
          </p:cNvPr>
          <p:cNvPicPr>
            <a:picLocks noChangeAspect="1"/>
          </p:cNvPicPr>
          <p:nvPr/>
        </p:nvPicPr>
        <p:blipFill>
          <a:blip r:embed="rId5"/>
          <a:stretch>
            <a:fillRect/>
          </a:stretch>
        </p:blipFill>
        <p:spPr>
          <a:xfrm>
            <a:off x="6664411" y="4693889"/>
            <a:ext cx="4457234" cy="1905484"/>
          </a:xfrm>
          <a:prstGeom prst="rect">
            <a:avLst/>
          </a:prstGeom>
        </p:spPr>
      </p:pic>
      <p:sp>
        <p:nvSpPr>
          <p:cNvPr id="19" name="正方形/長方形 18">
            <a:extLst>
              <a:ext uri="{FF2B5EF4-FFF2-40B4-BE49-F238E27FC236}">
                <a16:creationId xmlns:a16="http://schemas.microsoft.com/office/drawing/2014/main" id="{A5948121-026A-CF67-AA7D-C791C06B708E}"/>
              </a:ext>
            </a:extLst>
          </p:cNvPr>
          <p:cNvSpPr/>
          <p:nvPr/>
        </p:nvSpPr>
        <p:spPr>
          <a:xfrm>
            <a:off x="9475929" y="2628214"/>
            <a:ext cx="1006217" cy="1540208"/>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8391A43D-2AF0-9CB2-B9C1-0030C76E9079}"/>
              </a:ext>
            </a:extLst>
          </p:cNvPr>
          <p:cNvSpPr/>
          <p:nvPr/>
        </p:nvSpPr>
        <p:spPr>
          <a:xfrm>
            <a:off x="9475929" y="4761031"/>
            <a:ext cx="1006217" cy="1540208"/>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B6544690-FDCC-7B16-81C9-9B2F424F7E12}"/>
              </a:ext>
            </a:extLst>
          </p:cNvPr>
          <p:cNvSpPr txBox="1"/>
          <p:nvPr/>
        </p:nvSpPr>
        <p:spPr>
          <a:xfrm>
            <a:off x="930966" y="5946008"/>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kumimoji="1" lang="en-US" altLang="ja-JP" dirty="0">
                <a:latin typeface="Hiragino Sans W4" panose="020B0400000000000000" pitchFamily="34" charset="-128"/>
                <a:ea typeface="Hiragino Sans W4" panose="020B0400000000000000" pitchFamily="34" charset="-128"/>
              </a:rPr>
              <a:t>Assistant </a:t>
            </a:r>
            <a:r>
              <a:rPr kumimoji="1" lang="ja-JP" altLang="en-US">
                <a:latin typeface="Hiragino Sans W4" panose="020B0400000000000000" pitchFamily="34" charset="-128"/>
                <a:ea typeface="Hiragino Sans W4" panose="020B0400000000000000" pitchFamily="34" charset="-128"/>
              </a:rPr>
              <a:t>エージェントが出力したグラフ</a:t>
            </a:r>
          </a:p>
        </p:txBody>
      </p:sp>
      <p:sp>
        <p:nvSpPr>
          <p:cNvPr id="24" name="テキスト ボックス 23">
            <a:extLst>
              <a:ext uri="{FF2B5EF4-FFF2-40B4-BE49-F238E27FC236}">
                <a16:creationId xmlns:a16="http://schemas.microsoft.com/office/drawing/2014/main" id="{3984D817-B5DD-A2AA-DD1D-74D577B73667}"/>
              </a:ext>
            </a:extLst>
          </p:cNvPr>
          <p:cNvSpPr txBox="1"/>
          <p:nvPr/>
        </p:nvSpPr>
        <p:spPr>
          <a:xfrm>
            <a:off x="6664411" y="4324557"/>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lang="en-US" altLang="ja-JP" dirty="0">
                <a:latin typeface="Hiragino Sans W4" panose="020B0400000000000000" pitchFamily="34" charset="-128"/>
                <a:ea typeface="Hiragino Sans W4" panose="020B0400000000000000" pitchFamily="34" charset="-128"/>
              </a:rPr>
              <a:t>Tesla </a:t>
            </a:r>
            <a:r>
              <a:rPr lang="ja-JP" altLang="en-US">
                <a:latin typeface="Hiragino Sans W4" panose="020B0400000000000000" pitchFamily="34" charset="-128"/>
                <a:ea typeface="Hiragino Sans W4" panose="020B0400000000000000" pitchFamily="34" charset="-128"/>
              </a:rPr>
              <a:t>株の推移</a:t>
            </a:r>
            <a:endParaRPr kumimoji="1" lang="ja-JP" altLang="en-US">
              <a:latin typeface="Hiragino Sans W4" panose="020B0400000000000000" pitchFamily="34" charset="-128"/>
              <a:ea typeface="Hiragino Sans W4" panose="020B0400000000000000" pitchFamily="34" charset="-128"/>
            </a:endParaRPr>
          </a:p>
        </p:txBody>
      </p:sp>
      <p:sp>
        <p:nvSpPr>
          <p:cNvPr id="25" name="テキスト ボックス 24">
            <a:extLst>
              <a:ext uri="{FF2B5EF4-FFF2-40B4-BE49-F238E27FC236}">
                <a16:creationId xmlns:a16="http://schemas.microsoft.com/office/drawing/2014/main" id="{41933EF3-2259-2CE1-C5C9-DEDC0A942768}"/>
              </a:ext>
            </a:extLst>
          </p:cNvPr>
          <p:cNvSpPr txBox="1"/>
          <p:nvPr/>
        </p:nvSpPr>
        <p:spPr>
          <a:xfrm>
            <a:off x="6836284" y="6507127"/>
            <a:ext cx="503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kumimoji="1" lang="en-US" altLang="ja-JP" dirty="0">
                <a:latin typeface="Hiragino Sans W4" panose="020B0400000000000000" pitchFamily="34" charset="-128"/>
                <a:ea typeface="Hiragino Sans W4" panose="020B0400000000000000" pitchFamily="34" charset="-128"/>
              </a:rPr>
              <a:t>NVIDIA</a:t>
            </a:r>
            <a:r>
              <a:rPr lang="en-US" altLang="ja-JP" dirty="0">
                <a:latin typeface="Hiragino Sans W4" panose="020B0400000000000000" pitchFamily="34" charset="-128"/>
                <a:ea typeface="Hiragino Sans W4" panose="020B0400000000000000" pitchFamily="34" charset="-128"/>
              </a:rPr>
              <a:t> </a:t>
            </a:r>
            <a:r>
              <a:rPr lang="ja-JP" altLang="en-US">
                <a:latin typeface="Hiragino Sans W4" panose="020B0400000000000000" pitchFamily="34" charset="-128"/>
                <a:ea typeface="Hiragino Sans W4" panose="020B0400000000000000" pitchFamily="34" charset="-128"/>
              </a:rPr>
              <a:t>株の推移</a:t>
            </a:r>
            <a:endParaRPr kumimoji="1" lang="ja-JP" altLang="en-US">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000544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203D-0379-554B-9178-682D8AAF30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CA256A-94C6-5F4B-C9EA-A4368C353414}"/>
              </a:ext>
            </a:extLst>
          </p:cNvPr>
          <p:cNvSpPr>
            <a:spLocks noGrp="1"/>
          </p:cNvSpPr>
          <p:nvPr>
            <p:ph type="title"/>
          </p:nvPr>
        </p:nvSpPr>
        <p:spPr/>
        <p:txBody>
          <a:bodyPr/>
          <a:lstStyle/>
          <a:p>
            <a:r>
              <a:rPr lang="ja-JP" altLang="en-US"/>
              <a:t>実験</a:t>
            </a:r>
            <a:r>
              <a:rPr lang="en-US" altLang="ja-JP" dirty="0"/>
              <a:t> </a:t>
            </a:r>
            <a:r>
              <a:rPr lang="en-US" altLang="ja-JP" sz="2400" dirty="0"/>
              <a:t>–</a:t>
            </a:r>
            <a:r>
              <a:rPr lang="ja-JP" altLang="en-US" sz="2400"/>
              <a:t>簡単な計算</a:t>
            </a:r>
            <a:r>
              <a:rPr lang="en-US" altLang="ja-JP" sz="2400" dirty="0"/>
              <a:t>-</a:t>
            </a:r>
            <a:endParaRPr kumimoji="1" lang="ja-JP" altLang="en-US"/>
          </a:p>
        </p:txBody>
      </p:sp>
      <p:sp>
        <p:nvSpPr>
          <p:cNvPr id="4" name="スライド番号プレースホルダー 3">
            <a:extLst>
              <a:ext uri="{FF2B5EF4-FFF2-40B4-BE49-F238E27FC236}">
                <a16:creationId xmlns:a16="http://schemas.microsoft.com/office/drawing/2014/main" id="{2D6810FA-7C0D-E00F-067D-58787629632E}"/>
              </a:ext>
            </a:extLst>
          </p:cNvPr>
          <p:cNvSpPr>
            <a:spLocks noGrp="1"/>
          </p:cNvSpPr>
          <p:nvPr>
            <p:ph type="sldNum" sz="quarter" idx="12"/>
          </p:nvPr>
        </p:nvSpPr>
        <p:spPr/>
        <p:txBody>
          <a:bodyPr/>
          <a:lstStyle/>
          <a:p>
            <a:fld id="{83831D9A-33C3-294C-A83B-0D46C22888D2}" type="slidenum">
              <a:rPr kumimoji="1" lang="ja-JP" altLang="en-US" smtClean="0"/>
              <a:t>16</a:t>
            </a:fld>
            <a:endParaRPr kumimoji="1" lang="ja-JP" altLang="en-US"/>
          </a:p>
        </p:txBody>
      </p:sp>
      <p:pic>
        <p:nvPicPr>
          <p:cNvPr id="6" name="図 5" descr="テキスト&#10;&#10;自動的に生成された説明">
            <a:extLst>
              <a:ext uri="{FF2B5EF4-FFF2-40B4-BE49-F238E27FC236}">
                <a16:creationId xmlns:a16="http://schemas.microsoft.com/office/drawing/2014/main" id="{3F5F8ECF-F246-0DCB-3CA5-6F8580ADE3E7}"/>
              </a:ext>
            </a:extLst>
          </p:cNvPr>
          <p:cNvPicPr>
            <a:picLocks noChangeAspect="1"/>
          </p:cNvPicPr>
          <p:nvPr/>
        </p:nvPicPr>
        <p:blipFill>
          <a:blip r:embed="rId3"/>
          <a:stretch>
            <a:fillRect/>
          </a:stretch>
        </p:blipFill>
        <p:spPr>
          <a:xfrm>
            <a:off x="3036920" y="817225"/>
            <a:ext cx="9059546" cy="5997388"/>
          </a:xfrm>
          <a:prstGeom prst="rect">
            <a:avLst/>
          </a:prstGeom>
        </p:spPr>
      </p:pic>
      <p:cxnSp>
        <p:nvCxnSpPr>
          <p:cNvPr id="10" name="直線矢印コネクタ 9">
            <a:extLst>
              <a:ext uri="{FF2B5EF4-FFF2-40B4-BE49-F238E27FC236}">
                <a16:creationId xmlns:a16="http://schemas.microsoft.com/office/drawing/2014/main" id="{2A6B70CE-9E4C-BD13-F388-4D3E9FA1FC1E}"/>
              </a:ext>
            </a:extLst>
          </p:cNvPr>
          <p:cNvCxnSpPr/>
          <p:nvPr/>
        </p:nvCxnSpPr>
        <p:spPr>
          <a:xfrm>
            <a:off x="6357821" y="2970569"/>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1" name="コンテンツ プレースホルダー 2">
            <a:extLst>
              <a:ext uri="{FF2B5EF4-FFF2-40B4-BE49-F238E27FC236}">
                <a16:creationId xmlns:a16="http://schemas.microsoft.com/office/drawing/2014/main" id="{2A3BA11C-C4B0-6BF5-A6FF-2DB524C4B06F}"/>
              </a:ext>
            </a:extLst>
          </p:cNvPr>
          <p:cNvSpPr txBox="1">
            <a:spLocks/>
          </p:cNvSpPr>
          <p:nvPr/>
        </p:nvSpPr>
        <p:spPr>
          <a:xfrm>
            <a:off x="7179086" y="2788006"/>
            <a:ext cx="2701297"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Agent</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cxnSp>
        <p:nvCxnSpPr>
          <p:cNvPr id="12" name="直線矢印コネクタ 11">
            <a:extLst>
              <a:ext uri="{FF2B5EF4-FFF2-40B4-BE49-F238E27FC236}">
                <a16:creationId xmlns:a16="http://schemas.microsoft.com/office/drawing/2014/main" id="{66C08F83-6585-5676-0CB2-C720BB757F76}"/>
              </a:ext>
            </a:extLst>
          </p:cNvPr>
          <p:cNvCxnSpPr/>
          <p:nvPr/>
        </p:nvCxnSpPr>
        <p:spPr>
          <a:xfrm>
            <a:off x="6301877" y="4801309"/>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コンテンツ プレースホルダー 2">
            <a:extLst>
              <a:ext uri="{FF2B5EF4-FFF2-40B4-BE49-F238E27FC236}">
                <a16:creationId xmlns:a16="http://schemas.microsoft.com/office/drawing/2014/main" id="{F71D39A5-EBD9-C4B6-BB61-286CAD1CEBBA}"/>
              </a:ext>
            </a:extLst>
          </p:cNvPr>
          <p:cNvSpPr txBox="1">
            <a:spLocks/>
          </p:cNvSpPr>
          <p:nvPr/>
        </p:nvSpPr>
        <p:spPr>
          <a:xfrm>
            <a:off x="7179086" y="4618746"/>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User Proxy Agent</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cxnSp>
        <p:nvCxnSpPr>
          <p:cNvPr id="14" name="直線矢印コネクタ 13">
            <a:extLst>
              <a:ext uri="{FF2B5EF4-FFF2-40B4-BE49-F238E27FC236}">
                <a16:creationId xmlns:a16="http://schemas.microsoft.com/office/drawing/2014/main" id="{5BD1B28E-CA83-7247-18C3-F957C18D864E}"/>
              </a:ext>
            </a:extLst>
          </p:cNvPr>
          <p:cNvCxnSpPr/>
          <p:nvPr/>
        </p:nvCxnSpPr>
        <p:spPr>
          <a:xfrm>
            <a:off x="6305792" y="1386037"/>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5" name="コンテンツ プレースホルダー 2">
            <a:extLst>
              <a:ext uri="{FF2B5EF4-FFF2-40B4-BE49-F238E27FC236}">
                <a16:creationId xmlns:a16="http://schemas.microsoft.com/office/drawing/2014/main" id="{6EFD33DC-5839-6CCE-8EA4-9F2FBC9B8CBE}"/>
              </a:ext>
            </a:extLst>
          </p:cNvPr>
          <p:cNvSpPr txBox="1">
            <a:spLocks/>
          </p:cNvSpPr>
          <p:nvPr/>
        </p:nvSpPr>
        <p:spPr>
          <a:xfrm>
            <a:off x="7183001" y="1203474"/>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Tool </a:t>
            </a:r>
            <a:r>
              <a:rPr lang="ja-JP" altLang="en-US" sz="1600" b="1">
                <a:solidFill>
                  <a:schemeClr val="bg1"/>
                </a:solidFill>
                <a:latin typeface="Hiragino Sans W6" panose="020B0400000000000000" pitchFamily="34" charset="-128"/>
                <a:ea typeface="Hiragino Sans W6" panose="020B0400000000000000" pitchFamily="34" charset="-128"/>
              </a:rPr>
              <a:t>（四則演算を行う）の設定</a:t>
            </a:r>
          </a:p>
        </p:txBody>
      </p:sp>
      <p:sp>
        <p:nvSpPr>
          <p:cNvPr id="17" name="コンテンツ プレースホルダー 2">
            <a:extLst>
              <a:ext uri="{FF2B5EF4-FFF2-40B4-BE49-F238E27FC236}">
                <a16:creationId xmlns:a16="http://schemas.microsoft.com/office/drawing/2014/main" id="{F5F11E2A-559D-F78B-A513-4A76C1FD2201}"/>
              </a:ext>
            </a:extLst>
          </p:cNvPr>
          <p:cNvSpPr txBox="1">
            <a:spLocks/>
          </p:cNvSpPr>
          <p:nvPr/>
        </p:nvSpPr>
        <p:spPr>
          <a:xfrm>
            <a:off x="6166529" y="6215473"/>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User Proxy </a:t>
            </a:r>
            <a:r>
              <a:rPr lang="ja-JP" altLang="en-US" sz="1600" b="1">
                <a:solidFill>
                  <a:schemeClr val="bg1"/>
                </a:solidFill>
                <a:latin typeface="Hiragino Sans W6" panose="020B0400000000000000" pitchFamily="34" charset="-128"/>
                <a:ea typeface="Hiragino Sans W6" panose="020B0400000000000000" pitchFamily="34" charset="-128"/>
              </a:rPr>
              <a:t>に計算機を設定する</a:t>
            </a:r>
          </a:p>
        </p:txBody>
      </p:sp>
      <p:cxnSp>
        <p:nvCxnSpPr>
          <p:cNvPr id="20" name="直線コネクタ 19">
            <a:extLst>
              <a:ext uri="{FF2B5EF4-FFF2-40B4-BE49-F238E27FC236}">
                <a16:creationId xmlns:a16="http://schemas.microsoft.com/office/drawing/2014/main" id="{FEA99117-4249-F0BA-B541-DA4798158B8A}"/>
              </a:ext>
            </a:extLst>
          </p:cNvPr>
          <p:cNvCxnSpPr>
            <a:cxnSpLocks/>
          </p:cNvCxnSpPr>
          <p:nvPr/>
        </p:nvCxnSpPr>
        <p:spPr>
          <a:xfrm>
            <a:off x="3075375" y="6459536"/>
            <a:ext cx="36948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067D7598-FD24-3246-95D5-D3DA7D027BF8}"/>
              </a:ext>
            </a:extLst>
          </p:cNvPr>
          <p:cNvCxnSpPr>
            <a:cxnSpLocks/>
          </p:cNvCxnSpPr>
          <p:nvPr/>
        </p:nvCxnSpPr>
        <p:spPr>
          <a:xfrm>
            <a:off x="3183519" y="6020265"/>
            <a:ext cx="52769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コンテンツ プレースホルダー 2">
            <a:extLst>
              <a:ext uri="{FF2B5EF4-FFF2-40B4-BE49-F238E27FC236}">
                <a16:creationId xmlns:a16="http://schemas.microsoft.com/office/drawing/2014/main" id="{ABABAB19-C8E1-17F1-27C0-2FA724379A0D}"/>
              </a:ext>
            </a:extLst>
          </p:cNvPr>
          <p:cNvSpPr txBox="1">
            <a:spLocks/>
          </p:cNvSpPr>
          <p:nvPr/>
        </p:nvSpPr>
        <p:spPr>
          <a:xfrm>
            <a:off x="7586398" y="5733340"/>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t>
            </a:r>
            <a:r>
              <a:rPr lang="ja-JP" altLang="en-US" sz="1600" b="1">
                <a:solidFill>
                  <a:schemeClr val="bg1"/>
                </a:solidFill>
                <a:latin typeface="Hiragino Sans W6" panose="020B0400000000000000" pitchFamily="34" charset="-128"/>
                <a:ea typeface="Hiragino Sans W6" panose="020B0400000000000000" pitchFamily="34" charset="-128"/>
              </a:rPr>
              <a:t>に計算機を認識させる</a:t>
            </a:r>
          </a:p>
        </p:txBody>
      </p:sp>
      <p:sp>
        <p:nvSpPr>
          <p:cNvPr id="29" name="コンテンツ プレースホルダー 2">
            <a:extLst>
              <a:ext uri="{FF2B5EF4-FFF2-40B4-BE49-F238E27FC236}">
                <a16:creationId xmlns:a16="http://schemas.microsoft.com/office/drawing/2014/main" id="{A3CC7E1E-448C-C166-40E8-13FFE1FAC977}"/>
              </a:ext>
            </a:extLst>
          </p:cNvPr>
          <p:cNvSpPr>
            <a:spLocks noGrp="1"/>
          </p:cNvSpPr>
          <p:nvPr>
            <p:ph idx="1"/>
          </p:nvPr>
        </p:nvSpPr>
        <p:spPr>
          <a:xfrm>
            <a:off x="333105" y="1184902"/>
            <a:ext cx="2684587" cy="1785668"/>
          </a:xfrm>
        </p:spPr>
        <p:txBody>
          <a:bodyPr>
            <a:normAutofit/>
          </a:bodyPr>
          <a:lstStyle/>
          <a:p>
            <a:r>
              <a:rPr lang="ja-JP" altLang="en-US" sz="2000"/>
              <a:t>簡単な計算を再現</a:t>
            </a:r>
            <a:endParaRPr lang="en-US" altLang="ja-JP" sz="2000" dirty="0"/>
          </a:p>
          <a:p>
            <a:r>
              <a:rPr lang="en-US" altLang="ja-JP" sz="2000" dirty="0"/>
              <a:t>Assistant, User Proxy, Tool </a:t>
            </a:r>
            <a:r>
              <a:rPr lang="ja-JP" altLang="en-US" sz="2000"/>
              <a:t>の</a:t>
            </a:r>
            <a:r>
              <a:rPr lang="en-US" altLang="ja-JP" sz="2000" dirty="0"/>
              <a:t>3</a:t>
            </a:r>
            <a:r>
              <a:rPr lang="ja-JP" altLang="en-US" sz="2000"/>
              <a:t>つを活用する</a:t>
            </a:r>
            <a:endParaRPr lang="en-US" altLang="ja-JP" sz="2000" dirty="0"/>
          </a:p>
        </p:txBody>
      </p:sp>
    </p:spTree>
    <p:extLst>
      <p:ext uri="{BB962C8B-B14F-4D97-AF65-F5344CB8AC3E}">
        <p14:creationId xmlns:p14="http://schemas.microsoft.com/office/powerpoint/2010/main" val="773051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447D0-A288-6486-5120-A77138FA8D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55A355-055E-3F96-712C-DEC2FFF855A0}"/>
              </a:ext>
            </a:extLst>
          </p:cNvPr>
          <p:cNvSpPr>
            <a:spLocks noGrp="1"/>
          </p:cNvSpPr>
          <p:nvPr>
            <p:ph type="title"/>
          </p:nvPr>
        </p:nvSpPr>
        <p:spPr/>
        <p:txBody>
          <a:bodyPr/>
          <a:lstStyle/>
          <a:p>
            <a:r>
              <a:rPr lang="ja-JP" altLang="en-US"/>
              <a:t>実験</a:t>
            </a:r>
            <a:r>
              <a:rPr lang="en-US" altLang="ja-JP" dirty="0"/>
              <a:t> </a:t>
            </a:r>
            <a:r>
              <a:rPr lang="en-US" altLang="ja-JP" sz="2400" dirty="0"/>
              <a:t>–</a:t>
            </a:r>
            <a:r>
              <a:rPr lang="ja-JP" altLang="en-US" sz="2400"/>
              <a:t>簡単な計算</a:t>
            </a:r>
            <a:r>
              <a:rPr lang="en-US" altLang="ja-JP" sz="2400" dirty="0"/>
              <a:t>-</a:t>
            </a:r>
            <a:endParaRPr kumimoji="1" lang="ja-JP" altLang="en-US"/>
          </a:p>
        </p:txBody>
      </p:sp>
      <p:sp>
        <p:nvSpPr>
          <p:cNvPr id="4" name="スライド番号プレースホルダー 3">
            <a:extLst>
              <a:ext uri="{FF2B5EF4-FFF2-40B4-BE49-F238E27FC236}">
                <a16:creationId xmlns:a16="http://schemas.microsoft.com/office/drawing/2014/main" id="{C3A89836-3704-7541-04FE-5BC34F0A9B59}"/>
              </a:ext>
            </a:extLst>
          </p:cNvPr>
          <p:cNvSpPr>
            <a:spLocks noGrp="1"/>
          </p:cNvSpPr>
          <p:nvPr>
            <p:ph type="sldNum" sz="quarter" idx="12"/>
          </p:nvPr>
        </p:nvSpPr>
        <p:spPr/>
        <p:txBody>
          <a:bodyPr/>
          <a:lstStyle/>
          <a:p>
            <a:fld id="{83831D9A-33C3-294C-A83B-0D46C22888D2}" type="slidenum">
              <a:rPr kumimoji="1" lang="ja-JP" altLang="en-US" smtClean="0"/>
              <a:t>17</a:t>
            </a:fld>
            <a:endParaRPr kumimoji="1" lang="ja-JP" altLang="en-US"/>
          </a:p>
        </p:txBody>
      </p:sp>
      <p:cxnSp>
        <p:nvCxnSpPr>
          <p:cNvPr id="20" name="直線コネクタ 19">
            <a:extLst>
              <a:ext uri="{FF2B5EF4-FFF2-40B4-BE49-F238E27FC236}">
                <a16:creationId xmlns:a16="http://schemas.microsoft.com/office/drawing/2014/main" id="{6E67999D-046D-1C84-5C2C-9AAF1C3D5B61}"/>
              </a:ext>
            </a:extLst>
          </p:cNvPr>
          <p:cNvCxnSpPr>
            <a:cxnSpLocks/>
          </p:cNvCxnSpPr>
          <p:nvPr/>
        </p:nvCxnSpPr>
        <p:spPr>
          <a:xfrm>
            <a:off x="3075375" y="6459536"/>
            <a:ext cx="36948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EE28EE9-EE6C-9E2D-EBA4-35D7E96771C4}"/>
              </a:ext>
            </a:extLst>
          </p:cNvPr>
          <p:cNvCxnSpPr>
            <a:cxnSpLocks/>
          </p:cNvCxnSpPr>
          <p:nvPr/>
        </p:nvCxnSpPr>
        <p:spPr>
          <a:xfrm>
            <a:off x="3183519" y="6020265"/>
            <a:ext cx="52769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コンテンツ プレースホルダー 2">
            <a:extLst>
              <a:ext uri="{FF2B5EF4-FFF2-40B4-BE49-F238E27FC236}">
                <a16:creationId xmlns:a16="http://schemas.microsoft.com/office/drawing/2014/main" id="{8C66A8BE-6FEB-8A2F-8D8A-CF43C0E302CE}"/>
              </a:ext>
            </a:extLst>
          </p:cNvPr>
          <p:cNvSpPr txBox="1">
            <a:spLocks/>
          </p:cNvSpPr>
          <p:nvPr/>
        </p:nvSpPr>
        <p:spPr>
          <a:xfrm>
            <a:off x="7586398" y="5733340"/>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t>
            </a:r>
            <a:r>
              <a:rPr lang="ja-JP" altLang="en-US" sz="1600" b="1">
                <a:solidFill>
                  <a:schemeClr val="bg1"/>
                </a:solidFill>
                <a:latin typeface="Hiragino Sans W6" panose="020B0400000000000000" pitchFamily="34" charset="-128"/>
                <a:ea typeface="Hiragino Sans W6" panose="020B0400000000000000" pitchFamily="34" charset="-128"/>
              </a:rPr>
              <a:t>に計算機を認識させる</a:t>
            </a:r>
          </a:p>
        </p:txBody>
      </p:sp>
      <p:sp>
        <p:nvSpPr>
          <p:cNvPr id="29" name="コンテンツ プレースホルダー 2">
            <a:extLst>
              <a:ext uri="{FF2B5EF4-FFF2-40B4-BE49-F238E27FC236}">
                <a16:creationId xmlns:a16="http://schemas.microsoft.com/office/drawing/2014/main" id="{E81B6E72-8E0A-B25B-B1E5-B0BBD55A528E}"/>
              </a:ext>
            </a:extLst>
          </p:cNvPr>
          <p:cNvSpPr>
            <a:spLocks noGrp="1"/>
          </p:cNvSpPr>
          <p:nvPr>
            <p:ph idx="1"/>
          </p:nvPr>
        </p:nvSpPr>
        <p:spPr>
          <a:xfrm>
            <a:off x="930966" y="1001244"/>
            <a:ext cx="10515600" cy="1785668"/>
          </a:xfrm>
        </p:spPr>
        <p:txBody>
          <a:bodyPr>
            <a:normAutofit/>
          </a:bodyPr>
          <a:lstStyle/>
          <a:p>
            <a:r>
              <a:rPr lang="en-US" altLang="ja-JP" sz="2000" dirty="0"/>
              <a:t>(44232 + 13312 / (232 - 32)) * 5 </a:t>
            </a:r>
            <a:r>
              <a:rPr lang="ja-JP" altLang="en-US" sz="2000"/>
              <a:t>は？ステップバイステップで考えてください、との文言から会話が開始される</a:t>
            </a:r>
            <a:endParaRPr lang="en-US" altLang="ja-JP" sz="2000" dirty="0"/>
          </a:p>
          <a:p>
            <a:r>
              <a:rPr lang="en-US" altLang="ja-JP" sz="2000" dirty="0"/>
              <a:t>10</a:t>
            </a:r>
            <a:r>
              <a:rPr lang="ja-JP" altLang="en-US" sz="2000"/>
              <a:t>回の試行中、</a:t>
            </a:r>
            <a:r>
              <a:rPr lang="en-US" altLang="ja-JP" sz="2000" dirty="0"/>
              <a:t>9</a:t>
            </a:r>
            <a:r>
              <a:rPr lang="ja-JP" altLang="en-US" sz="2000"/>
              <a:t>回は正しい答えを出力した</a:t>
            </a:r>
            <a:endParaRPr lang="en-US" altLang="ja-JP" sz="2000" dirty="0"/>
          </a:p>
        </p:txBody>
      </p:sp>
      <p:pic>
        <p:nvPicPr>
          <p:cNvPr id="5" name="図 4" descr="テキスト&#10;&#10;自動的に生成された説明">
            <a:extLst>
              <a:ext uri="{FF2B5EF4-FFF2-40B4-BE49-F238E27FC236}">
                <a16:creationId xmlns:a16="http://schemas.microsoft.com/office/drawing/2014/main" id="{449BF432-3760-623C-F175-F4C0DB518DD6}"/>
              </a:ext>
            </a:extLst>
          </p:cNvPr>
          <p:cNvPicPr>
            <a:picLocks noChangeAspect="1"/>
          </p:cNvPicPr>
          <p:nvPr/>
        </p:nvPicPr>
        <p:blipFill>
          <a:blip r:embed="rId3"/>
          <a:srcRect b="38928"/>
          <a:stretch/>
        </p:blipFill>
        <p:spPr>
          <a:xfrm>
            <a:off x="811303" y="2334826"/>
            <a:ext cx="5876925" cy="3763640"/>
          </a:xfrm>
          <a:prstGeom prst="rect">
            <a:avLst/>
          </a:prstGeom>
        </p:spPr>
      </p:pic>
      <p:sp>
        <p:nvSpPr>
          <p:cNvPr id="7" name="テキスト ボックス 6">
            <a:extLst>
              <a:ext uri="{FF2B5EF4-FFF2-40B4-BE49-F238E27FC236}">
                <a16:creationId xmlns:a16="http://schemas.microsoft.com/office/drawing/2014/main" id="{22775F2E-143E-FF17-278E-52F074DE5C09}"/>
              </a:ext>
            </a:extLst>
          </p:cNvPr>
          <p:cNvSpPr txBox="1"/>
          <p:nvPr/>
        </p:nvSpPr>
        <p:spPr>
          <a:xfrm>
            <a:off x="811303" y="6200725"/>
            <a:ext cx="10838667"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図：計算結果の一部</a:t>
            </a:r>
          </a:p>
        </p:txBody>
      </p:sp>
      <p:pic>
        <p:nvPicPr>
          <p:cNvPr id="9" name="図 8" descr="テキスト&#10;&#10;自動的に生成された説明">
            <a:extLst>
              <a:ext uri="{FF2B5EF4-FFF2-40B4-BE49-F238E27FC236}">
                <a16:creationId xmlns:a16="http://schemas.microsoft.com/office/drawing/2014/main" id="{793B7F9C-A822-3B5D-78E0-063E23FF13B4}"/>
              </a:ext>
            </a:extLst>
          </p:cNvPr>
          <p:cNvPicPr>
            <a:picLocks noChangeAspect="1"/>
          </p:cNvPicPr>
          <p:nvPr/>
        </p:nvPicPr>
        <p:blipFill>
          <a:blip r:embed="rId4"/>
          <a:stretch>
            <a:fillRect/>
          </a:stretch>
        </p:blipFill>
        <p:spPr>
          <a:xfrm>
            <a:off x="6811006" y="2334826"/>
            <a:ext cx="4838964" cy="3763639"/>
          </a:xfrm>
          <a:prstGeom prst="rect">
            <a:avLst/>
          </a:prstGeom>
        </p:spPr>
      </p:pic>
    </p:spTree>
    <p:extLst>
      <p:ext uri="{BB962C8B-B14F-4D97-AF65-F5344CB8AC3E}">
        <p14:creationId xmlns:p14="http://schemas.microsoft.com/office/powerpoint/2010/main" val="2142807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F4E1-966F-5C80-FDE4-0FC9E25BC1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63A1A2-3BC0-857C-B3B0-48D06C223765}"/>
              </a:ext>
            </a:extLst>
          </p:cNvPr>
          <p:cNvSpPr>
            <a:spLocks noGrp="1"/>
          </p:cNvSpPr>
          <p:nvPr>
            <p:ph type="title"/>
          </p:nvPr>
        </p:nvSpPr>
        <p:spPr/>
        <p:txBody>
          <a:bodyPr/>
          <a:lstStyle/>
          <a:p>
            <a:r>
              <a:rPr lang="ja-JP" altLang="en-US"/>
              <a:t>実験</a:t>
            </a:r>
            <a:r>
              <a:rPr lang="en-US" altLang="ja-JP" dirty="0"/>
              <a:t> </a:t>
            </a:r>
            <a:r>
              <a:rPr lang="en-US" altLang="ja-JP" sz="2400" dirty="0"/>
              <a:t>–</a:t>
            </a:r>
            <a:r>
              <a:rPr lang="ja-JP" altLang="en-US" sz="2400"/>
              <a:t>グループでの会話</a:t>
            </a:r>
            <a:r>
              <a:rPr lang="en-US" altLang="ja-JP" sz="2400" dirty="0"/>
              <a:t>-</a:t>
            </a:r>
            <a:endParaRPr kumimoji="1" lang="ja-JP" altLang="en-US"/>
          </a:p>
        </p:txBody>
      </p:sp>
      <p:sp>
        <p:nvSpPr>
          <p:cNvPr id="4" name="スライド番号プレースホルダー 3">
            <a:extLst>
              <a:ext uri="{FF2B5EF4-FFF2-40B4-BE49-F238E27FC236}">
                <a16:creationId xmlns:a16="http://schemas.microsoft.com/office/drawing/2014/main" id="{64B71E18-229C-9664-7C40-334F9C2B25D9}"/>
              </a:ext>
            </a:extLst>
          </p:cNvPr>
          <p:cNvSpPr>
            <a:spLocks noGrp="1"/>
          </p:cNvSpPr>
          <p:nvPr>
            <p:ph type="sldNum" sz="quarter" idx="12"/>
          </p:nvPr>
        </p:nvSpPr>
        <p:spPr/>
        <p:txBody>
          <a:bodyPr/>
          <a:lstStyle/>
          <a:p>
            <a:fld id="{83831D9A-33C3-294C-A83B-0D46C22888D2}" type="slidenum">
              <a:rPr kumimoji="1" lang="ja-JP" altLang="en-US" smtClean="0"/>
              <a:t>18</a:t>
            </a:fld>
            <a:endParaRPr kumimoji="1" lang="ja-JP" altLang="en-US"/>
          </a:p>
        </p:txBody>
      </p:sp>
      <p:cxnSp>
        <p:nvCxnSpPr>
          <p:cNvPr id="20" name="直線コネクタ 19">
            <a:extLst>
              <a:ext uri="{FF2B5EF4-FFF2-40B4-BE49-F238E27FC236}">
                <a16:creationId xmlns:a16="http://schemas.microsoft.com/office/drawing/2014/main" id="{6F38F2E5-96C7-658C-D6CD-5D5ABFF446C4}"/>
              </a:ext>
            </a:extLst>
          </p:cNvPr>
          <p:cNvCxnSpPr>
            <a:cxnSpLocks/>
          </p:cNvCxnSpPr>
          <p:nvPr/>
        </p:nvCxnSpPr>
        <p:spPr>
          <a:xfrm>
            <a:off x="3075375" y="6459536"/>
            <a:ext cx="36948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44AE66A7-9389-4393-E151-CFAEBD6D1F1B}"/>
              </a:ext>
            </a:extLst>
          </p:cNvPr>
          <p:cNvCxnSpPr>
            <a:cxnSpLocks/>
          </p:cNvCxnSpPr>
          <p:nvPr/>
        </p:nvCxnSpPr>
        <p:spPr>
          <a:xfrm>
            <a:off x="3183519" y="6020265"/>
            <a:ext cx="52769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コンテンツ プレースホルダー 2">
            <a:extLst>
              <a:ext uri="{FF2B5EF4-FFF2-40B4-BE49-F238E27FC236}">
                <a16:creationId xmlns:a16="http://schemas.microsoft.com/office/drawing/2014/main" id="{E659B460-70D8-823A-010C-A6E6CADFB526}"/>
              </a:ext>
            </a:extLst>
          </p:cNvPr>
          <p:cNvSpPr txBox="1">
            <a:spLocks/>
          </p:cNvSpPr>
          <p:nvPr/>
        </p:nvSpPr>
        <p:spPr>
          <a:xfrm>
            <a:off x="7586398" y="5733340"/>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t>
            </a:r>
            <a:r>
              <a:rPr lang="ja-JP" altLang="en-US" sz="1600" b="1">
                <a:solidFill>
                  <a:schemeClr val="bg1"/>
                </a:solidFill>
                <a:latin typeface="Hiragino Sans W6" panose="020B0400000000000000" pitchFamily="34" charset="-128"/>
                <a:ea typeface="Hiragino Sans W6" panose="020B0400000000000000" pitchFamily="34" charset="-128"/>
              </a:rPr>
              <a:t>に計算機を認識させる</a:t>
            </a:r>
          </a:p>
        </p:txBody>
      </p:sp>
      <p:sp>
        <p:nvSpPr>
          <p:cNvPr id="29" name="コンテンツ プレースホルダー 2">
            <a:extLst>
              <a:ext uri="{FF2B5EF4-FFF2-40B4-BE49-F238E27FC236}">
                <a16:creationId xmlns:a16="http://schemas.microsoft.com/office/drawing/2014/main" id="{1D087B7B-1509-3F60-A7C1-A3B70BE1BDBB}"/>
              </a:ext>
            </a:extLst>
          </p:cNvPr>
          <p:cNvSpPr>
            <a:spLocks noGrp="1"/>
          </p:cNvSpPr>
          <p:nvPr>
            <p:ph idx="1"/>
          </p:nvPr>
        </p:nvSpPr>
        <p:spPr>
          <a:xfrm>
            <a:off x="930966" y="881366"/>
            <a:ext cx="10515600" cy="1785668"/>
          </a:xfrm>
        </p:spPr>
        <p:txBody>
          <a:bodyPr>
            <a:normAutofit/>
          </a:bodyPr>
          <a:lstStyle/>
          <a:p>
            <a:r>
              <a:rPr lang="ja-JP" altLang="en-US" sz="2000"/>
              <a:t>複数のエージェントと</a:t>
            </a:r>
            <a:r>
              <a:rPr lang="en-US" altLang="ja-JP" sz="2000" dirty="0"/>
              <a:t>Group Chat Manager</a:t>
            </a:r>
            <a:r>
              <a:rPr lang="ja-JP" altLang="en-US" sz="2000"/>
              <a:t>を用意し、グループでの会話を実現する</a:t>
            </a:r>
            <a:endParaRPr lang="en-US" altLang="ja-JP" sz="2000" dirty="0"/>
          </a:p>
          <a:p>
            <a:r>
              <a:rPr lang="ja-JP" altLang="en-US" sz="2000"/>
              <a:t>今回は、「</a:t>
            </a:r>
            <a:r>
              <a:rPr lang="en-US" altLang="ja-JP" sz="2000" dirty="0"/>
              <a:t>1</a:t>
            </a:r>
            <a:r>
              <a:rPr lang="ja-JP" altLang="en-US" sz="2000"/>
              <a:t>を足す」「</a:t>
            </a:r>
            <a:r>
              <a:rPr lang="en-US" altLang="ja-JP" sz="2000" dirty="0"/>
              <a:t>2</a:t>
            </a:r>
            <a:r>
              <a:rPr lang="ja-JP" altLang="en-US" sz="2000"/>
              <a:t>をかける」「</a:t>
            </a:r>
            <a:r>
              <a:rPr lang="en-US" altLang="ja-JP" sz="2000" dirty="0"/>
              <a:t>1</a:t>
            </a:r>
            <a:r>
              <a:rPr lang="ja-JP" altLang="en-US" sz="2000"/>
              <a:t>を引く」「</a:t>
            </a:r>
            <a:r>
              <a:rPr lang="en-US" altLang="ja-JP" sz="2000" dirty="0"/>
              <a:t>2</a:t>
            </a:r>
            <a:r>
              <a:rPr lang="ja-JP" altLang="en-US" sz="2000"/>
              <a:t>で割る」の</a:t>
            </a:r>
            <a:r>
              <a:rPr lang="en-US" altLang="ja-JP" sz="2000" dirty="0"/>
              <a:t>4</a:t>
            </a:r>
            <a:r>
              <a:rPr lang="ja-JP" altLang="en-US" sz="2000"/>
              <a:t>つのエージェントと</a:t>
            </a:r>
            <a:r>
              <a:rPr lang="en-US" altLang="ja-JP" sz="2000" dirty="0"/>
              <a:t>Group Chat Manager </a:t>
            </a:r>
            <a:r>
              <a:rPr lang="ja-JP" altLang="en-US" sz="2000"/>
              <a:t>の設定を行う。</a:t>
            </a:r>
            <a:endParaRPr lang="en-US" altLang="ja-JP" sz="2000" dirty="0"/>
          </a:p>
          <a:p>
            <a:r>
              <a:rPr lang="ja-JP" altLang="en-US" sz="2000"/>
              <a:t>最初に</a:t>
            </a:r>
            <a:r>
              <a:rPr lang="en-US" altLang="ja-JP" sz="2000" dirty="0"/>
              <a:t>3</a:t>
            </a:r>
            <a:r>
              <a:rPr lang="ja-JP" altLang="en-US" sz="2000"/>
              <a:t>を与え、合計が</a:t>
            </a:r>
            <a:r>
              <a:rPr lang="en-US" altLang="ja-JP" sz="2000" dirty="0"/>
              <a:t>13</a:t>
            </a:r>
            <a:r>
              <a:rPr lang="ja-JP" altLang="en-US" sz="2000"/>
              <a:t>になるまで、エージェント同士を会話させる</a:t>
            </a:r>
            <a:endParaRPr lang="en-US" altLang="ja-JP" sz="2000" dirty="0"/>
          </a:p>
        </p:txBody>
      </p:sp>
      <p:pic>
        <p:nvPicPr>
          <p:cNvPr id="6" name="図 5" descr="ダイアグラム&#10;&#10;自動的に生成された説明">
            <a:extLst>
              <a:ext uri="{FF2B5EF4-FFF2-40B4-BE49-F238E27FC236}">
                <a16:creationId xmlns:a16="http://schemas.microsoft.com/office/drawing/2014/main" id="{2341C555-7806-1E99-84A0-DE73787B284F}"/>
              </a:ext>
            </a:extLst>
          </p:cNvPr>
          <p:cNvPicPr>
            <a:picLocks noChangeAspect="1"/>
          </p:cNvPicPr>
          <p:nvPr/>
        </p:nvPicPr>
        <p:blipFill>
          <a:blip r:embed="rId3"/>
          <a:stretch>
            <a:fillRect/>
          </a:stretch>
        </p:blipFill>
        <p:spPr>
          <a:xfrm>
            <a:off x="1657107" y="2601773"/>
            <a:ext cx="4111680" cy="3804751"/>
          </a:xfrm>
          <a:prstGeom prst="rect">
            <a:avLst/>
          </a:prstGeom>
        </p:spPr>
      </p:pic>
      <p:sp>
        <p:nvSpPr>
          <p:cNvPr id="8" name="テキスト ボックス 7">
            <a:extLst>
              <a:ext uri="{FF2B5EF4-FFF2-40B4-BE49-F238E27FC236}">
                <a16:creationId xmlns:a16="http://schemas.microsoft.com/office/drawing/2014/main" id="{B3E2AD67-BEFA-DAE7-D3C8-CA1087525128}"/>
              </a:ext>
            </a:extLst>
          </p:cNvPr>
          <p:cNvSpPr txBox="1"/>
          <p:nvPr/>
        </p:nvSpPr>
        <p:spPr>
          <a:xfrm>
            <a:off x="930966" y="6424195"/>
            <a:ext cx="5563963"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a:t>
            </a:r>
            <a:r>
              <a:rPr lang="ja-JP" altLang="en-US">
                <a:latin typeface="Hiragino Sans W4" panose="020B0400000000000000" pitchFamily="34" charset="-128"/>
                <a:ea typeface="Hiragino Sans W4" panose="020B0400000000000000" pitchFamily="34" charset="-128"/>
              </a:rPr>
              <a:t>グループチャットに必要とされるエージェント</a:t>
            </a:r>
            <a:endParaRPr kumimoji="1" lang="ja-JP" altLang="en-US">
              <a:latin typeface="Hiragino Sans W4" panose="020B0400000000000000" pitchFamily="34" charset="-128"/>
              <a:ea typeface="Hiragino Sans W4" panose="020B0400000000000000" pitchFamily="34" charset="-128"/>
            </a:endParaRPr>
          </a:p>
        </p:txBody>
      </p:sp>
      <p:pic>
        <p:nvPicPr>
          <p:cNvPr id="11" name="図 10" descr="テキスト&#10;&#10;自動的に生成された説明">
            <a:extLst>
              <a:ext uri="{FF2B5EF4-FFF2-40B4-BE49-F238E27FC236}">
                <a16:creationId xmlns:a16="http://schemas.microsoft.com/office/drawing/2014/main" id="{00F9BF66-35B1-A054-4EFF-DB82A9856DE1}"/>
              </a:ext>
            </a:extLst>
          </p:cNvPr>
          <p:cNvPicPr>
            <a:picLocks noChangeAspect="1"/>
          </p:cNvPicPr>
          <p:nvPr/>
        </p:nvPicPr>
        <p:blipFill>
          <a:blip r:embed="rId4"/>
          <a:stretch>
            <a:fillRect/>
          </a:stretch>
        </p:blipFill>
        <p:spPr>
          <a:xfrm>
            <a:off x="6676897" y="2468976"/>
            <a:ext cx="4802199" cy="3990560"/>
          </a:xfrm>
          <a:prstGeom prst="rect">
            <a:avLst/>
          </a:prstGeom>
        </p:spPr>
      </p:pic>
      <p:sp>
        <p:nvSpPr>
          <p:cNvPr id="12" name="テキスト ボックス 11">
            <a:extLst>
              <a:ext uri="{FF2B5EF4-FFF2-40B4-BE49-F238E27FC236}">
                <a16:creationId xmlns:a16="http://schemas.microsoft.com/office/drawing/2014/main" id="{3606553D-975E-D254-63C2-B5CA1A2C6038}"/>
              </a:ext>
            </a:extLst>
          </p:cNvPr>
          <p:cNvSpPr txBox="1"/>
          <p:nvPr/>
        </p:nvSpPr>
        <p:spPr>
          <a:xfrm>
            <a:off x="6676897" y="6455843"/>
            <a:ext cx="4802199"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図：コードの一部</a:t>
            </a:r>
          </a:p>
        </p:txBody>
      </p:sp>
      <p:cxnSp>
        <p:nvCxnSpPr>
          <p:cNvPr id="13" name="直線矢印コネクタ 12">
            <a:extLst>
              <a:ext uri="{FF2B5EF4-FFF2-40B4-BE49-F238E27FC236}">
                <a16:creationId xmlns:a16="http://schemas.microsoft.com/office/drawing/2014/main" id="{756255DD-0A76-E90C-3032-B37A0ACFA9E3}"/>
              </a:ext>
            </a:extLst>
          </p:cNvPr>
          <p:cNvCxnSpPr/>
          <p:nvPr/>
        </p:nvCxnSpPr>
        <p:spPr>
          <a:xfrm>
            <a:off x="7875183" y="3488608"/>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4" name="コンテンツ プレースホルダー 2">
            <a:extLst>
              <a:ext uri="{FF2B5EF4-FFF2-40B4-BE49-F238E27FC236}">
                <a16:creationId xmlns:a16="http://schemas.microsoft.com/office/drawing/2014/main" id="{7E098439-683B-DF5C-1DD4-C45575433908}"/>
              </a:ext>
            </a:extLst>
          </p:cNvPr>
          <p:cNvSpPr txBox="1">
            <a:spLocks/>
          </p:cNvSpPr>
          <p:nvPr/>
        </p:nvSpPr>
        <p:spPr>
          <a:xfrm>
            <a:off x="8752392" y="3306045"/>
            <a:ext cx="2762326"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solidFill>
                  <a:schemeClr val="bg1"/>
                </a:solidFill>
                <a:latin typeface="Hiragino Sans W6" panose="020B0400000000000000" pitchFamily="34" charset="-128"/>
                <a:ea typeface="Hiragino Sans W6" panose="020B0400000000000000" pitchFamily="34" charset="-128"/>
              </a:rPr>
              <a:t>「</a:t>
            </a:r>
            <a:r>
              <a:rPr lang="en-US" altLang="ja-JP" sz="1600" b="1" dirty="0">
                <a:solidFill>
                  <a:schemeClr val="bg1"/>
                </a:solidFill>
                <a:latin typeface="Hiragino Sans W6" panose="020B0400000000000000" pitchFamily="34" charset="-128"/>
                <a:ea typeface="Hiragino Sans W6" panose="020B0400000000000000" pitchFamily="34" charset="-128"/>
              </a:rPr>
              <a:t>2</a:t>
            </a:r>
            <a:r>
              <a:rPr lang="ja-JP" altLang="en-US" sz="1600" b="1">
                <a:solidFill>
                  <a:schemeClr val="bg1"/>
                </a:solidFill>
                <a:latin typeface="Hiragino Sans W6" panose="020B0400000000000000" pitchFamily="34" charset="-128"/>
                <a:ea typeface="Hiragino Sans W6" panose="020B0400000000000000" pitchFamily="34" charset="-128"/>
              </a:rPr>
              <a:t>で割る」</a:t>
            </a:r>
            <a:r>
              <a:rPr lang="en-US" altLang="ja-JP" sz="1600" b="1" dirty="0">
                <a:solidFill>
                  <a:schemeClr val="bg1"/>
                </a:solidFill>
                <a:latin typeface="Hiragino Sans W6" panose="020B0400000000000000" pitchFamily="34" charset="-128"/>
                <a:ea typeface="Hiragino Sans W6" panose="020B0400000000000000" pitchFamily="34" charset="-128"/>
              </a:rPr>
              <a:t> Agent</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cxnSp>
        <p:nvCxnSpPr>
          <p:cNvPr id="15" name="直線矢印コネクタ 14">
            <a:extLst>
              <a:ext uri="{FF2B5EF4-FFF2-40B4-BE49-F238E27FC236}">
                <a16:creationId xmlns:a16="http://schemas.microsoft.com/office/drawing/2014/main" id="{52052100-DD48-5A0F-6E05-8879544EF335}"/>
              </a:ext>
            </a:extLst>
          </p:cNvPr>
          <p:cNvCxnSpPr/>
          <p:nvPr/>
        </p:nvCxnSpPr>
        <p:spPr>
          <a:xfrm>
            <a:off x="7583305" y="5418804"/>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6" name="コンテンツ プレースホルダー 2">
            <a:extLst>
              <a:ext uri="{FF2B5EF4-FFF2-40B4-BE49-F238E27FC236}">
                <a16:creationId xmlns:a16="http://schemas.microsoft.com/office/drawing/2014/main" id="{69447A65-A7E0-D4B9-32F4-338D92BA987D}"/>
              </a:ext>
            </a:extLst>
          </p:cNvPr>
          <p:cNvSpPr txBox="1">
            <a:spLocks/>
          </p:cNvSpPr>
          <p:nvPr/>
        </p:nvSpPr>
        <p:spPr>
          <a:xfrm>
            <a:off x="8460514" y="5236241"/>
            <a:ext cx="3327832"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Manager</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cxnSp>
        <p:nvCxnSpPr>
          <p:cNvPr id="17" name="直線矢印コネクタ 16">
            <a:extLst>
              <a:ext uri="{FF2B5EF4-FFF2-40B4-BE49-F238E27FC236}">
                <a16:creationId xmlns:a16="http://schemas.microsoft.com/office/drawing/2014/main" id="{09716236-9790-30BB-F49A-E4397E51A208}"/>
              </a:ext>
            </a:extLst>
          </p:cNvPr>
          <p:cNvCxnSpPr/>
          <p:nvPr/>
        </p:nvCxnSpPr>
        <p:spPr>
          <a:xfrm>
            <a:off x="7994186" y="4629138"/>
            <a:ext cx="68676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8" name="コンテンツ プレースホルダー 2">
            <a:extLst>
              <a:ext uri="{FF2B5EF4-FFF2-40B4-BE49-F238E27FC236}">
                <a16:creationId xmlns:a16="http://schemas.microsoft.com/office/drawing/2014/main" id="{E1956669-6049-2ABB-1EF2-3473D3264695}"/>
              </a:ext>
            </a:extLst>
          </p:cNvPr>
          <p:cNvSpPr txBox="1">
            <a:spLocks/>
          </p:cNvSpPr>
          <p:nvPr/>
        </p:nvSpPr>
        <p:spPr>
          <a:xfrm>
            <a:off x="8871395" y="4446575"/>
            <a:ext cx="2762326"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a:t>
            </a:r>
            <a:r>
              <a:rPr lang="ja-JP" altLang="en-US" sz="1600" b="1">
                <a:solidFill>
                  <a:schemeClr val="bg1"/>
                </a:solidFill>
                <a:latin typeface="Hiragino Sans W6" panose="020B0400000000000000" pitchFamily="34" charset="-128"/>
                <a:ea typeface="Hiragino Sans W6" panose="020B0400000000000000" pitchFamily="34" charset="-128"/>
              </a:rPr>
              <a:t>形式の設定</a:t>
            </a:r>
          </a:p>
        </p:txBody>
      </p:sp>
    </p:spTree>
    <p:extLst>
      <p:ext uri="{BB962C8B-B14F-4D97-AF65-F5344CB8AC3E}">
        <p14:creationId xmlns:p14="http://schemas.microsoft.com/office/powerpoint/2010/main" val="631948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39E2-E2DB-A713-F86B-DDFE4980D1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C64E97-6A99-2DF5-3A89-7D16BD5E4158}"/>
              </a:ext>
            </a:extLst>
          </p:cNvPr>
          <p:cNvSpPr>
            <a:spLocks noGrp="1"/>
          </p:cNvSpPr>
          <p:nvPr>
            <p:ph type="title"/>
          </p:nvPr>
        </p:nvSpPr>
        <p:spPr/>
        <p:txBody>
          <a:bodyPr/>
          <a:lstStyle/>
          <a:p>
            <a:r>
              <a:rPr lang="ja-JP" altLang="en-US"/>
              <a:t>実験</a:t>
            </a:r>
            <a:r>
              <a:rPr lang="en-US" altLang="ja-JP" dirty="0"/>
              <a:t> </a:t>
            </a:r>
            <a:r>
              <a:rPr lang="en-US" altLang="ja-JP" sz="2400" dirty="0"/>
              <a:t>–</a:t>
            </a:r>
            <a:r>
              <a:rPr lang="ja-JP" altLang="en-US" sz="2400"/>
              <a:t>グループでの会話</a:t>
            </a:r>
            <a:r>
              <a:rPr lang="en-US" altLang="ja-JP" sz="2400" dirty="0"/>
              <a:t>-</a:t>
            </a:r>
            <a:endParaRPr kumimoji="1" lang="ja-JP" altLang="en-US"/>
          </a:p>
        </p:txBody>
      </p:sp>
      <p:sp>
        <p:nvSpPr>
          <p:cNvPr id="4" name="スライド番号プレースホルダー 3">
            <a:extLst>
              <a:ext uri="{FF2B5EF4-FFF2-40B4-BE49-F238E27FC236}">
                <a16:creationId xmlns:a16="http://schemas.microsoft.com/office/drawing/2014/main" id="{CD17FCBD-6CC9-D115-9005-2852A1094FFD}"/>
              </a:ext>
            </a:extLst>
          </p:cNvPr>
          <p:cNvSpPr>
            <a:spLocks noGrp="1"/>
          </p:cNvSpPr>
          <p:nvPr>
            <p:ph type="sldNum" sz="quarter" idx="12"/>
          </p:nvPr>
        </p:nvSpPr>
        <p:spPr/>
        <p:txBody>
          <a:bodyPr/>
          <a:lstStyle/>
          <a:p>
            <a:fld id="{83831D9A-33C3-294C-A83B-0D46C22888D2}" type="slidenum">
              <a:rPr kumimoji="1" lang="ja-JP" altLang="en-US" smtClean="0"/>
              <a:t>19</a:t>
            </a:fld>
            <a:endParaRPr kumimoji="1" lang="ja-JP" altLang="en-US"/>
          </a:p>
        </p:txBody>
      </p:sp>
      <p:cxnSp>
        <p:nvCxnSpPr>
          <p:cNvPr id="20" name="直線コネクタ 19">
            <a:extLst>
              <a:ext uri="{FF2B5EF4-FFF2-40B4-BE49-F238E27FC236}">
                <a16:creationId xmlns:a16="http://schemas.microsoft.com/office/drawing/2014/main" id="{DED3ECE3-589C-0DB4-800A-89B22C55E53D}"/>
              </a:ext>
            </a:extLst>
          </p:cNvPr>
          <p:cNvCxnSpPr>
            <a:cxnSpLocks/>
          </p:cNvCxnSpPr>
          <p:nvPr/>
        </p:nvCxnSpPr>
        <p:spPr>
          <a:xfrm>
            <a:off x="3075375" y="6459536"/>
            <a:ext cx="36948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84C9FDB7-8C5F-B59F-E68D-3E85002612EF}"/>
              </a:ext>
            </a:extLst>
          </p:cNvPr>
          <p:cNvCxnSpPr>
            <a:cxnSpLocks/>
          </p:cNvCxnSpPr>
          <p:nvPr/>
        </p:nvCxnSpPr>
        <p:spPr>
          <a:xfrm>
            <a:off x="3183519" y="6020265"/>
            <a:ext cx="52769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コンテンツ プレースホルダー 2">
            <a:extLst>
              <a:ext uri="{FF2B5EF4-FFF2-40B4-BE49-F238E27FC236}">
                <a16:creationId xmlns:a16="http://schemas.microsoft.com/office/drawing/2014/main" id="{B7063E2E-91E0-0AD9-8A8B-3CC0654B4D86}"/>
              </a:ext>
            </a:extLst>
          </p:cNvPr>
          <p:cNvSpPr txBox="1">
            <a:spLocks/>
          </p:cNvSpPr>
          <p:nvPr/>
        </p:nvSpPr>
        <p:spPr>
          <a:xfrm>
            <a:off x="7586398" y="5733340"/>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t>
            </a:r>
            <a:r>
              <a:rPr lang="ja-JP" altLang="en-US" sz="1600" b="1">
                <a:solidFill>
                  <a:schemeClr val="bg1"/>
                </a:solidFill>
                <a:latin typeface="Hiragino Sans W6" panose="020B0400000000000000" pitchFamily="34" charset="-128"/>
                <a:ea typeface="Hiragino Sans W6" panose="020B0400000000000000" pitchFamily="34" charset="-128"/>
              </a:rPr>
              <a:t>に計算機を認識させる</a:t>
            </a:r>
          </a:p>
        </p:txBody>
      </p:sp>
      <p:sp>
        <p:nvSpPr>
          <p:cNvPr id="29" name="コンテンツ プレースホルダー 2">
            <a:extLst>
              <a:ext uri="{FF2B5EF4-FFF2-40B4-BE49-F238E27FC236}">
                <a16:creationId xmlns:a16="http://schemas.microsoft.com/office/drawing/2014/main" id="{094E3697-C6FA-6EF2-7759-8714FCA8557E}"/>
              </a:ext>
            </a:extLst>
          </p:cNvPr>
          <p:cNvSpPr>
            <a:spLocks noGrp="1"/>
          </p:cNvSpPr>
          <p:nvPr>
            <p:ph idx="1"/>
          </p:nvPr>
        </p:nvSpPr>
        <p:spPr>
          <a:xfrm>
            <a:off x="930966" y="990820"/>
            <a:ext cx="10515600" cy="2705142"/>
          </a:xfrm>
        </p:spPr>
        <p:txBody>
          <a:bodyPr>
            <a:normAutofit/>
          </a:bodyPr>
          <a:lstStyle/>
          <a:p>
            <a:r>
              <a:rPr lang="ja-JP" altLang="en-US" sz="2000"/>
              <a:t>ユーザーが事前に、目的を達成するための戦略を決めることもできる（今回は</a:t>
            </a:r>
            <a:r>
              <a:rPr lang="en-US" altLang="ja-JP" sz="2000" dirty="0"/>
              <a:t>Auto</a:t>
            </a:r>
            <a:r>
              <a:rPr lang="ja-JP" altLang="en-US" sz="2000"/>
              <a:t>）</a:t>
            </a:r>
            <a:endParaRPr lang="en-US" altLang="ja-JP" sz="2000" dirty="0"/>
          </a:p>
          <a:p>
            <a:r>
              <a:rPr lang="en-US" altLang="ja-JP" sz="2000" dirty="0"/>
              <a:t>3</a:t>
            </a:r>
            <a:r>
              <a:rPr lang="ja-JP" altLang="en-US" sz="2000"/>
              <a:t>が提示されて</a:t>
            </a:r>
            <a:r>
              <a:rPr lang="en-US" altLang="ja-JP" sz="2000" dirty="0"/>
              <a:t>13</a:t>
            </a:r>
            <a:r>
              <a:rPr lang="ja-JP" altLang="en-US" sz="2000"/>
              <a:t>が計算されるまでの流れ</a:t>
            </a:r>
            <a:endParaRPr lang="en-US" altLang="ja-JP" sz="2000" dirty="0"/>
          </a:p>
          <a:p>
            <a:pPr lvl="1"/>
            <a:r>
              <a:rPr lang="en-US" altLang="ja-JP" sz="1800" dirty="0"/>
              <a:t>3 + 1 = 4</a:t>
            </a:r>
          </a:p>
          <a:p>
            <a:pPr lvl="1"/>
            <a:r>
              <a:rPr lang="en-US" altLang="ja-JP" sz="1800" dirty="0"/>
              <a:t>4 * 2 = 8</a:t>
            </a:r>
          </a:p>
          <a:p>
            <a:pPr lvl="1"/>
            <a:r>
              <a:rPr lang="en-US" altLang="ja-JP" sz="1800" dirty="0"/>
              <a:t>8 * 2 = 16</a:t>
            </a:r>
          </a:p>
          <a:p>
            <a:pPr lvl="1"/>
            <a:r>
              <a:rPr lang="en-US" altLang="ja-JP" sz="1800" dirty="0"/>
              <a:t>16 – 1 = 15</a:t>
            </a:r>
          </a:p>
          <a:p>
            <a:pPr lvl="1"/>
            <a:r>
              <a:rPr lang="en-US" altLang="ja-JP" sz="1800" dirty="0"/>
              <a:t>15 – 1 = 14</a:t>
            </a:r>
          </a:p>
          <a:p>
            <a:pPr lvl="1"/>
            <a:r>
              <a:rPr lang="en-US" altLang="ja-JP" sz="1800" dirty="0"/>
              <a:t>14 – 1 = 13</a:t>
            </a:r>
          </a:p>
        </p:txBody>
      </p:sp>
      <p:sp>
        <p:nvSpPr>
          <p:cNvPr id="16" name="コンテンツ プレースホルダー 2">
            <a:extLst>
              <a:ext uri="{FF2B5EF4-FFF2-40B4-BE49-F238E27FC236}">
                <a16:creationId xmlns:a16="http://schemas.microsoft.com/office/drawing/2014/main" id="{0604DB3C-75D4-484F-BE33-8E97A77E411B}"/>
              </a:ext>
            </a:extLst>
          </p:cNvPr>
          <p:cNvSpPr txBox="1">
            <a:spLocks/>
          </p:cNvSpPr>
          <p:nvPr/>
        </p:nvSpPr>
        <p:spPr>
          <a:xfrm>
            <a:off x="8460514" y="5236241"/>
            <a:ext cx="3327832"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Manager</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sp>
        <p:nvSpPr>
          <p:cNvPr id="18" name="コンテンツ プレースホルダー 2">
            <a:extLst>
              <a:ext uri="{FF2B5EF4-FFF2-40B4-BE49-F238E27FC236}">
                <a16:creationId xmlns:a16="http://schemas.microsoft.com/office/drawing/2014/main" id="{03390832-25C3-B9B4-7F0D-513CA5FA107A}"/>
              </a:ext>
            </a:extLst>
          </p:cNvPr>
          <p:cNvSpPr txBox="1">
            <a:spLocks/>
          </p:cNvSpPr>
          <p:nvPr/>
        </p:nvSpPr>
        <p:spPr>
          <a:xfrm>
            <a:off x="8871395" y="4446575"/>
            <a:ext cx="2762326"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a:t>
            </a:r>
            <a:r>
              <a:rPr lang="ja-JP" altLang="en-US" sz="1600" b="1">
                <a:solidFill>
                  <a:schemeClr val="bg1"/>
                </a:solidFill>
                <a:latin typeface="Hiragino Sans W6" panose="020B0400000000000000" pitchFamily="34" charset="-128"/>
                <a:ea typeface="Hiragino Sans W6" panose="020B0400000000000000" pitchFamily="34" charset="-128"/>
              </a:rPr>
              <a:t>形式の設定</a:t>
            </a:r>
          </a:p>
        </p:txBody>
      </p:sp>
      <p:pic>
        <p:nvPicPr>
          <p:cNvPr id="5" name="図 4" descr="テキスト&#10;&#10;自動的に生成された説明">
            <a:extLst>
              <a:ext uri="{FF2B5EF4-FFF2-40B4-BE49-F238E27FC236}">
                <a16:creationId xmlns:a16="http://schemas.microsoft.com/office/drawing/2014/main" id="{BCBBE329-BE6A-5F75-9B9E-F1BEC865E9A3}"/>
              </a:ext>
            </a:extLst>
          </p:cNvPr>
          <p:cNvPicPr>
            <a:picLocks noChangeAspect="1"/>
          </p:cNvPicPr>
          <p:nvPr/>
        </p:nvPicPr>
        <p:blipFill>
          <a:blip r:embed="rId3"/>
          <a:stretch>
            <a:fillRect/>
          </a:stretch>
        </p:blipFill>
        <p:spPr>
          <a:xfrm>
            <a:off x="6417533" y="1536642"/>
            <a:ext cx="5111830" cy="4561823"/>
          </a:xfrm>
          <a:prstGeom prst="rect">
            <a:avLst/>
          </a:prstGeom>
        </p:spPr>
      </p:pic>
      <p:sp>
        <p:nvSpPr>
          <p:cNvPr id="7" name="コンテンツ プレースホルダー 2">
            <a:extLst>
              <a:ext uri="{FF2B5EF4-FFF2-40B4-BE49-F238E27FC236}">
                <a16:creationId xmlns:a16="http://schemas.microsoft.com/office/drawing/2014/main" id="{529ADD4E-C060-3D3A-2E6C-5F36BE18FDCB}"/>
              </a:ext>
            </a:extLst>
          </p:cNvPr>
          <p:cNvSpPr txBox="1">
            <a:spLocks/>
          </p:cNvSpPr>
          <p:nvPr/>
        </p:nvSpPr>
        <p:spPr>
          <a:xfrm>
            <a:off x="930966" y="3928788"/>
            <a:ext cx="4790212" cy="10355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a:t>エージェント同士が</a:t>
            </a:r>
            <a:r>
              <a:rPr lang="en-US" altLang="ja-JP" sz="2000" dirty="0"/>
              <a:t>Group Manager</a:t>
            </a:r>
            <a:r>
              <a:rPr lang="ja-JP" altLang="en-US" sz="2000"/>
              <a:t>を通じて自律的に会話を行い、</a:t>
            </a:r>
            <a:r>
              <a:rPr lang="en-US" altLang="ja-JP" sz="2000" dirty="0"/>
              <a:t>13</a:t>
            </a:r>
            <a:r>
              <a:rPr lang="ja-JP" altLang="en-US" sz="2000"/>
              <a:t>が計算される</a:t>
            </a:r>
            <a:endParaRPr lang="en-US" altLang="ja-JP" sz="2000" dirty="0"/>
          </a:p>
          <a:p>
            <a:endParaRPr lang="en-US" altLang="ja-JP" sz="2000" dirty="0"/>
          </a:p>
        </p:txBody>
      </p:sp>
      <p:sp>
        <p:nvSpPr>
          <p:cNvPr id="9" name="テキスト ボックス 8">
            <a:extLst>
              <a:ext uri="{FF2B5EF4-FFF2-40B4-BE49-F238E27FC236}">
                <a16:creationId xmlns:a16="http://schemas.microsoft.com/office/drawing/2014/main" id="{CD3F4734-9D03-BDC0-9BED-5DEF1890C9F6}"/>
              </a:ext>
            </a:extLst>
          </p:cNvPr>
          <p:cNvSpPr txBox="1"/>
          <p:nvPr/>
        </p:nvSpPr>
        <p:spPr>
          <a:xfrm>
            <a:off x="6417534" y="6200724"/>
            <a:ext cx="5111830" cy="369332"/>
          </a:xfrm>
          <a:prstGeom prst="rect">
            <a:avLst/>
          </a:prstGeom>
          <a:noFill/>
        </p:spPr>
        <p:txBody>
          <a:bodyPr wrap="square" rtlCol="0">
            <a:spAutoFit/>
          </a:bodyPr>
          <a:lstStyle/>
          <a:p>
            <a:pPr algn="ctr"/>
            <a:r>
              <a:rPr kumimoji="1" lang="ja-JP" altLang="en-US">
                <a:latin typeface="Hiragino Sans W4" panose="020B0400000000000000" pitchFamily="34" charset="-128"/>
                <a:ea typeface="Hiragino Sans W4" panose="020B0400000000000000" pitchFamily="34" charset="-128"/>
              </a:rPr>
              <a:t>図：出力の例</a:t>
            </a:r>
          </a:p>
        </p:txBody>
      </p:sp>
    </p:spTree>
    <p:extLst>
      <p:ext uri="{BB962C8B-B14F-4D97-AF65-F5344CB8AC3E}">
        <p14:creationId xmlns:p14="http://schemas.microsoft.com/office/powerpoint/2010/main" val="1873966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6F49F-10BF-9C25-08B5-C7ABE9362E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34E597-6E39-4EA9-4F75-D8E1167370FB}"/>
              </a:ext>
            </a:extLst>
          </p:cNvPr>
          <p:cNvSpPr>
            <a:spLocks noGrp="1"/>
          </p:cNvSpPr>
          <p:nvPr>
            <p:ph type="title"/>
          </p:nvPr>
        </p:nvSpPr>
        <p:spPr/>
        <p:txBody>
          <a:bodyPr/>
          <a:lstStyle/>
          <a:p>
            <a:r>
              <a:rPr kumimoji="1" lang="ja-JP" altLang="en-US"/>
              <a:t>所感</a:t>
            </a:r>
          </a:p>
        </p:txBody>
      </p:sp>
      <p:sp>
        <p:nvSpPr>
          <p:cNvPr id="4" name="スライド番号プレースホルダー 3">
            <a:extLst>
              <a:ext uri="{FF2B5EF4-FFF2-40B4-BE49-F238E27FC236}">
                <a16:creationId xmlns:a16="http://schemas.microsoft.com/office/drawing/2014/main" id="{1D249EFE-6076-9951-3A38-EC6D17C9FCC7}"/>
              </a:ext>
            </a:extLst>
          </p:cNvPr>
          <p:cNvSpPr>
            <a:spLocks noGrp="1"/>
          </p:cNvSpPr>
          <p:nvPr>
            <p:ph type="sldNum" sz="quarter" idx="12"/>
          </p:nvPr>
        </p:nvSpPr>
        <p:spPr/>
        <p:txBody>
          <a:bodyPr/>
          <a:lstStyle/>
          <a:p>
            <a:fld id="{83831D9A-33C3-294C-A83B-0D46C22888D2}" type="slidenum">
              <a:rPr kumimoji="1" lang="ja-JP" altLang="en-US" smtClean="0"/>
              <a:t>20</a:t>
            </a:fld>
            <a:endParaRPr kumimoji="1" lang="ja-JP" altLang="en-US"/>
          </a:p>
        </p:txBody>
      </p:sp>
      <p:cxnSp>
        <p:nvCxnSpPr>
          <p:cNvPr id="20" name="直線コネクタ 19">
            <a:extLst>
              <a:ext uri="{FF2B5EF4-FFF2-40B4-BE49-F238E27FC236}">
                <a16:creationId xmlns:a16="http://schemas.microsoft.com/office/drawing/2014/main" id="{C98C6272-3D67-C350-24EA-3650795655CE}"/>
              </a:ext>
            </a:extLst>
          </p:cNvPr>
          <p:cNvCxnSpPr>
            <a:cxnSpLocks/>
          </p:cNvCxnSpPr>
          <p:nvPr/>
        </p:nvCxnSpPr>
        <p:spPr>
          <a:xfrm>
            <a:off x="3075375" y="6459536"/>
            <a:ext cx="36948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F130846E-BB87-DC64-11CA-0F9997DC9651}"/>
              </a:ext>
            </a:extLst>
          </p:cNvPr>
          <p:cNvCxnSpPr>
            <a:cxnSpLocks/>
          </p:cNvCxnSpPr>
          <p:nvPr/>
        </p:nvCxnSpPr>
        <p:spPr>
          <a:xfrm>
            <a:off x="3183519" y="6020265"/>
            <a:ext cx="52769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コンテンツ プレースホルダー 2">
            <a:extLst>
              <a:ext uri="{FF2B5EF4-FFF2-40B4-BE49-F238E27FC236}">
                <a16:creationId xmlns:a16="http://schemas.microsoft.com/office/drawing/2014/main" id="{B2187BD9-6202-66E4-9D96-AE5EAB909CB5}"/>
              </a:ext>
            </a:extLst>
          </p:cNvPr>
          <p:cNvSpPr txBox="1">
            <a:spLocks/>
          </p:cNvSpPr>
          <p:nvPr/>
        </p:nvSpPr>
        <p:spPr>
          <a:xfrm>
            <a:off x="7586398" y="5733340"/>
            <a:ext cx="4587970"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Assistant </a:t>
            </a:r>
            <a:r>
              <a:rPr lang="ja-JP" altLang="en-US" sz="1600" b="1">
                <a:solidFill>
                  <a:schemeClr val="bg1"/>
                </a:solidFill>
                <a:latin typeface="Hiragino Sans W6" panose="020B0400000000000000" pitchFamily="34" charset="-128"/>
                <a:ea typeface="Hiragino Sans W6" panose="020B0400000000000000" pitchFamily="34" charset="-128"/>
              </a:rPr>
              <a:t>に計算機を認識させる</a:t>
            </a:r>
          </a:p>
        </p:txBody>
      </p:sp>
      <p:sp>
        <p:nvSpPr>
          <p:cNvPr id="29" name="コンテンツ プレースホルダー 2">
            <a:extLst>
              <a:ext uri="{FF2B5EF4-FFF2-40B4-BE49-F238E27FC236}">
                <a16:creationId xmlns:a16="http://schemas.microsoft.com/office/drawing/2014/main" id="{9B938703-2F6B-A69E-A094-DE72D189265F}"/>
              </a:ext>
            </a:extLst>
          </p:cNvPr>
          <p:cNvSpPr>
            <a:spLocks noGrp="1"/>
          </p:cNvSpPr>
          <p:nvPr>
            <p:ph idx="1"/>
          </p:nvPr>
        </p:nvSpPr>
        <p:spPr>
          <a:xfrm>
            <a:off x="930966" y="1308316"/>
            <a:ext cx="10515600" cy="3544103"/>
          </a:xfrm>
        </p:spPr>
        <p:txBody>
          <a:bodyPr>
            <a:normAutofit/>
          </a:bodyPr>
          <a:lstStyle/>
          <a:p>
            <a:r>
              <a:rPr lang="ja-JP" altLang="en-US" sz="2000"/>
              <a:t>エージェントに搭載する機能が事前に用意されているため、ユーザーは簡単にエージェントの設定を行うことができる</a:t>
            </a:r>
            <a:endParaRPr lang="en-US" altLang="ja-JP" sz="2000" dirty="0"/>
          </a:p>
          <a:p>
            <a:r>
              <a:rPr lang="ja-JP" altLang="en-US" sz="2000"/>
              <a:t>エージェントの設定も自然言語かコードで指定できるため、拡張性もある</a:t>
            </a:r>
            <a:endParaRPr lang="en-US" altLang="ja-JP" sz="2000" dirty="0"/>
          </a:p>
          <a:p>
            <a:r>
              <a:rPr lang="ja-JP" altLang="en-US" sz="2000"/>
              <a:t>会話の形式も基本的な会話形式に関しては既に用意されているため、様々な状況を再現できる</a:t>
            </a:r>
            <a:endParaRPr lang="en-US" altLang="ja-JP" sz="2000" dirty="0"/>
          </a:p>
          <a:p>
            <a:r>
              <a:rPr lang="ja-JP" altLang="en-US" sz="2000"/>
              <a:t>ノーコード開発に近い</a:t>
            </a:r>
            <a:endParaRPr lang="en-US" altLang="ja-JP" sz="2000" dirty="0"/>
          </a:p>
          <a:p>
            <a:r>
              <a:rPr lang="ja-JP" altLang="en-US" sz="2000"/>
              <a:t>一方で、細かな設定を変更するためにはソースコードから改変する必要がありそう</a:t>
            </a:r>
            <a:endParaRPr lang="en-US" altLang="ja-JP" sz="2000" dirty="0"/>
          </a:p>
        </p:txBody>
      </p:sp>
      <p:sp>
        <p:nvSpPr>
          <p:cNvPr id="16" name="コンテンツ プレースホルダー 2">
            <a:extLst>
              <a:ext uri="{FF2B5EF4-FFF2-40B4-BE49-F238E27FC236}">
                <a16:creationId xmlns:a16="http://schemas.microsoft.com/office/drawing/2014/main" id="{70A87D5F-E459-6EA2-4817-283A04ED95FA}"/>
              </a:ext>
            </a:extLst>
          </p:cNvPr>
          <p:cNvSpPr txBox="1">
            <a:spLocks/>
          </p:cNvSpPr>
          <p:nvPr/>
        </p:nvSpPr>
        <p:spPr>
          <a:xfrm>
            <a:off x="8460514" y="5236241"/>
            <a:ext cx="3327832"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Manager</a:t>
            </a:r>
            <a:r>
              <a:rPr lang="ja-JP" altLang="en-US" sz="1600" b="1">
                <a:solidFill>
                  <a:schemeClr val="bg1"/>
                </a:solidFill>
                <a:latin typeface="Hiragino Sans W6" panose="020B0400000000000000" pitchFamily="34" charset="-128"/>
                <a:ea typeface="Hiragino Sans W6" panose="020B0400000000000000" pitchFamily="34" charset="-128"/>
              </a:rPr>
              <a:t>の設定</a:t>
            </a:r>
          </a:p>
        </p:txBody>
      </p:sp>
      <p:sp>
        <p:nvSpPr>
          <p:cNvPr id="18" name="コンテンツ プレースホルダー 2">
            <a:extLst>
              <a:ext uri="{FF2B5EF4-FFF2-40B4-BE49-F238E27FC236}">
                <a16:creationId xmlns:a16="http://schemas.microsoft.com/office/drawing/2014/main" id="{76A35050-6709-2148-1CD1-6743F10ECDCD}"/>
              </a:ext>
            </a:extLst>
          </p:cNvPr>
          <p:cNvSpPr txBox="1">
            <a:spLocks/>
          </p:cNvSpPr>
          <p:nvPr/>
        </p:nvSpPr>
        <p:spPr>
          <a:xfrm>
            <a:off x="8871395" y="4446575"/>
            <a:ext cx="2762326" cy="365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0" i="0" kern="1200">
                <a:solidFill>
                  <a:schemeClr val="tx1"/>
                </a:solidFill>
                <a:latin typeface="Hiragino Sans W3" panose="020B0400000000000000" pitchFamily="34" charset="-128"/>
                <a:ea typeface="Hiragino Sans W3"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3" panose="020B0400000000000000" pitchFamily="34" charset="-128"/>
                <a:ea typeface="Hiragino Sans W3"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3" panose="020B0400000000000000" pitchFamily="34" charset="-128"/>
                <a:ea typeface="Hiragino Sans W3"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b="0" i="0" kern="1200">
                <a:solidFill>
                  <a:schemeClr val="tx1"/>
                </a:solidFill>
                <a:latin typeface="Hiragino Sans W3" panose="020B0400000000000000" pitchFamily="34" charset="-128"/>
                <a:ea typeface="Hiragino Sans W3"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solidFill>
                  <a:schemeClr val="bg1"/>
                </a:solidFill>
                <a:latin typeface="Hiragino Sans W6" panose="020B0400000000000000" pitchFamily="34" charset="-128"/>
                <a:ea typeface="Hiragino Sans W6" panose="020B0400000000000000" pitchFamily="34" charset="-128"/>
              </a:rPr>
              <a:t>Group Chat </a:t>
            </a:r>
            <a:r>
              <a:rPr lang="ja-JP" altLang="en-US" sz="1600" b="1">
                <a:solidFill>
                  <a:schemeClr val="bg1"/>
                </a:solidFill>
                <a:latin typeface="Hiragino Sans W6" panose="020B0400000000000000" pitchFamily="34" charset="-128"/>
                <a:ea typeface="Hiragino Sans W6" panose="020B0400000000000000" pitchFamily="34" charset="-128"/>
              </a:rPr>
              <a:t>形式の設定</a:t>
            </a:r>
          </a:p>
        </p:txBody>
      </p:sp>
    </p:spTree>
    <p:extLst>
      <p:ext uri="{BB962C8B-B14F-4D97-AF65-F5344CB8AC3E}">
        <p14:creationId xmlns:p14="http://schemas.microsoft.com/office/powerpoint/2010/main" val="72015051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1152</TotalTime>
  <Words>2264</Words>
  <Application>Microsoft Macintosh PowerPoint</Application>
  <PresentationFormat>ワイド画面</PresentationFormat>
  <Paragraphs>222</Paragraphs>
  <Slides>20</Slides>
  <Notes>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20</vt:i4>
      </vt:variant>
    </vt:vector>
  </HeadingPairs>
  <TitlesOfParts>
    <vt:vector size="30" baseType="lpstr">
      <vt:lpstr>Hiragino Sans W3</vt:lpstr>
      <vt:lpstr>Hiragino Sans W4</vt:lpstr>
      <vt:lpstr>Hiragino Sans W5</vt:lpstr>
      <vt:lpstr>Hiragino Sans W6</vt:lpstr>
      <vt:lpstr>Hiragino Sans W7</vt:lpstr>
      <vt:lpstr>LINE Seed JP_OTF Regular</vt:lpstr>
      <vt:lpstr>游ゴシック</vt:lpstr>
      <vt:lpstr>Arial</vt:lpstr>
      <vt:lpstr>Impact</vt:lpstr>
      <vt:lpstr>Office テーマ</vt:lpstr>
      <vt:lpstr>PowerPoint プレゼンテーション</vt:lpstr>
      <vt:lpstr>概要</vt:lpstr>
      <vt:lpstr>書誌情報</vt:lpstr>
      <vt:lpstr>研究の背景</vt:lpstr>
      <vt:lpstr>研究の目的</vt:lpstr>
      <vt:lpstr>手法</vt:lpstr>
      <vt:lpstr>手法</vt:lpstr>
      <vt:lpstr>手法</vt:lpstr>
      <vt:lpstr>適用例 –数学の問題の解答-</vt:lpstr>
      <vt:lpstr>適用例 –RAGを利用したコード生成と質問解答-</vt:lpstr>
      <vt:lpstr>適用例 –テキストでの意思決定-</vt:lpstr>
      <vt:lpstr>適用例 –複数のエージェントを用いたコーディング-</vt:lpstr>
      <vt:lpstr>結論</vt:lpstr>
      <vt:lpstr>実験 –株価推移出力-</vt:lpstr>
      <vt:lpstr>実験</vt:lpstr>
      <vt:lpstr>実験 –簡単な計算-</vt:lpstr>
      <vt:lpstr>実験 –簡単な計算-</vt:lpstr>
      <vt:lpstr>実験 –グループでの会話-</vt:lpstr>
      <vt:lpstr>実験 –グループでの会話-</vt:lpstr>
      <vt:lpstr>所感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村上　友規</dc:creator>
  <cp:lastModifiedBy>村上　友規</cp:lastModifiedBy>
  <cp:revision>6</cp:revision>
  <dcterms:created xsi:type="dcterms:W3CDTF">2024-10-27T04:47:11Z</dcterms:created>
  <dcterms:modified xsi:type="dcterms:W3CDTF">2024-10-28T09:14:47Z</dcterms:modified>
</cp:coreProperties>
</file>